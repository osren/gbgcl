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0.xml" ContentType="application/vnd.openxmlformats-officedocument.presentationml.slide+xml"/>
</Types>
</file>

<file path=_rels/.rels><?xml version="1.0" encoding="utf-8"?>
<Relationships xmlns="http://schemas.openxmlformats.org/package/2006/relationships">
  <Relationship Id="rId1" Type="http://schemas.openxmlformats.org/officeDocument/2006/relationships/officeDocument" Target="ppt/presentation.xml"/>
  <Relationship Id="rId4" Type="http://schemas.openxmlformats.org/package/2006/relationships/metadata/thumbnail" Target="docProps/thumbnail.jpeg"/>
  <Relationship Id="rId3" Type="http://schemas.openxmlformats.org/package/2006/relationships/metadata/core-properties" Target="docProps/core.xml"/>
  <Relationship Id="rId2"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2"/>
  </p:notesMasterIdLst>
  <p:sldIdLst>
    <p:sldId id="256" r:id="rId3"/>
    <p:sldId id="267" r:id="rId4"/>
    <p:sldId id="278" r:id="rId5"/>
    <p:sldId id="268" r:id="rId6"/>
    <p:sldId id="279" r:id="rId7"/>
    <p:sldId id="281" r:id="rId8"/>
    <p:sldId id="283" r:id="rId9"/>
    <p:sldId id="288" r:id="rId10"/>
    <p:sldId id="289" r:id="rId11"/>
    <p:sldId id="290" r:id="rId18"/>
  </p:sldIdLst>
  <p:sldSz cx="9144000" cy="6858000" type="screen4x3"/>
  <p:notesSz cx="6858000" cy="9144000"/>
  <p:custDataLst>
    <p:tags r:id="rId1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4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熊仪_aYju7RJj" initials="熊" lastIdx="0" clrIdx="0"/>
  <p:cmAuthor id="1" name="哒哒 熊猫" initials="哒哒" lastIdx="1" clrIdx="0"/>
  <p:cmAuthor id="8" name="yifei" initials="y" lastIdx="1" clrIdx="7"/>
  <p:cmAuthor id="2" name="kingsoft" initials="k" lastIdx="1" clrIdx="1"/>
  <p:cmAuthor id="9" name="ADMIN" initials="A" lastIdx="1" clrIdx="8"/>
  <p:cmAuthor id="3" name="zhouzean" initials="z" lastIdx="1" clrIdx="2"/>
  <p:cmAuthor id="4" name="李鹏飞_6bQfzI3a" initials="李" lastIdx="0" clrIdx="0"/>
  <p:cmAuthor id="5" name="李晓菲_MZFnUzi6" initials="李" lastIdx="0" clrIdx="0"/>
  <p:cmAuthor id="6" name="小珞_QjMfU7FR" initials="小" lastIdx="0" clrIdx="0"/>
  <p:cmAuthor id="2001" name="骆倩怡_Znauj26B" initials="authorId_382814100" lastIdx="0" clrIdx="0"/>
  <p:cmAuthor id="225411578" name="Fü" initials="F" lastIdx="1" clrIdx="1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9FBF8"/>
    <a:srgbClr val="0000FF"/>
    <a:srgbClr val="1F40B8"/>
    <a:srgbClr val="4864FC"/>
    <a:srgbClr val="6C5EDE"/>
    <a:srgbClr val="4545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240"/>
        <p:guide pos="2880"/>
      </p:guideLst>
    </p:cSldViewPr>
  </p:slideViewPr>
  <p:notesTextViewPr>
    <p:cViewPr>
      <p:scale>
        <a:sx n="100" d="100"/>
        <a:sy n="100" d="100"/>
      </p:scale>
      <p:origin x="0" y="0"/>
    </p:cViewPr>
  </p:notesTextViewPr>
  <p:gridSpacing cx="76200" cy="76200"/>
</p:viewPr>
</file>

<file path=ppt/_rels/presentation.xml.rels><?xml version="1.0" encoding="utf-8"?>
<Relationships xmlns="http://schemas.openxmlformats.org/package/2006/relationships">
  <Relationship Id="rId9" Type="http://schemas.openxmlformats.org/officeDocument/2006/relationships/slide" Target="slides/slide7.xml"/>
  <Relationship Id="rId8" Type="http://schemas.openxmlformats.org/officeDocument/2006/relationships/slide" Target="slides/slide6.xml"/>
  <Relationship Id="rId7" Type="http://schemas.openxmlformats.org/officeDocument/2006/relationships/slide" Target="slides/slide5.xml"/>
  <Relationship Id="rId6" Type="http://schemas.openxmlformats.org/officeDocument/2006/relationships/slide" Target="slides/slide4.xml"/>
  <Relationship Id="rId5" Type="http://schemas.openxmlformats.org/officeDocument/2006/relationships/slide" Target="slides/slide3.xml"/>
  <Relationship Id="rId4" Type="http://schemas.openxmlformats.org/officeDocument/2006/relationships/slide" Target="slides/slide2.xml"/>
  <Relationship Id="rId3" Type="http://schemas.openxmlformats.org/officeDocument/2006/relationships/slide" Target="slides/slide1.xml"/>
  <Relationship Id="rId2" Type="http://schemas.openxmlformats.org/officeDocument/2006/relationships/theme" Target="theme/theme1.xml"/>
  <Relationship Id="rId17" Type="http://schemas.openxmlformats.org/officeDocument/2006/relationships/tags" Target="tags/tag25.xml"/>
  <Relationship Id="rId16" Type="http://schemas.openxmlformats.org/officeDocument/2006/relationships/commentAuthors" Target="commentAuthors.xml"/>
  <Relationship Id="rId15" Type="http://schemas.openxmlformats.org/officeDocument/2006/relationships/tableStyles" Target="tableStyles.xml"/>
  <Relationship Id="rId14" Type="http://schemas.openxmlformats.org/officeDocument/2006/relationships/viewProps" Target="viewProps.xml"/>
  <Relationship Id="rId13" Type="http://schemas.openxmlformats.org/officeDocument/2006/relationships/presProps" Target="presProps.xml"/>
  <Relationship Id="rId12" Type="http://schemas.openxmlformats.org/officeDocument/2006/relationships/notesMaster" Target="notesMasters/notesMaster1.xml"/>
  <Relationship Id="rId11" Type="http://schemas.openxmlformats.org/officeDocument/2006/relationships/slide" Target="slides/slide9.xml"/>
  <Relationship Id="rId10" Type="http://schemas.openxmlformats.org/officeDocument/2006/relationships/slide" Target="slides/slide8.xml"/>
  <Relationship Id="rId1" Type="http://schemas.openxmlformats.org/officeDocument/2006/relationships/slideMaster" Target="slideMasters/slideMaster1.xml"/>
  <Relationship Id="rId18" Type="http://schemas.openxmlformats.org/officeDocument/2006/relationships/slide" Target="slides/slide10.xml"/>
</Relationships>

</file>

<file path=ppt/notesMasters/_rels/notesMaster1.xml.rels><?xml version="1.0" encoding="utf-8"?>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
  <Relationship Id="rId5" Type="http://schemas.openxmlformats.org/officeDocument/2006/relationships/tags" Target="../tags/tag4.xml"/>
  <Relationship Id="rId4" Type="http://schemas.openxmlformats.org/officeDocument/2006/relationships/tags" Target="../tags/tag3.xml"/>
  <Relationship Id="rId3" Type="http://schemas.openxmlformats.org/officeDocument/2006/relationships/tags" Target="../tags/tag2.xml"/>
  <Relationship Id="rId2" Type="http://schemas.openxmlformats.org/officeDocument/2006/relationships/tags" Target="../tags/tag1.xml"/>
  <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
  <Relationship Id="rId9" Type="http://schemas.openxmlformats.org/officeDocument/2006/relationships/tags" Target="../tags/tag12.xml"/>
  <Relationship Id="rId8" Type="http://schemas.openxmlformats.org/officeDocument/2006/relationships/tags" Target="../tags/tag11.xml"/>
  <Relationship Id="rId7" Type="http://schemas.openxmlformats.org/officeDocument/2006/relationships/tags" Target="../tags/tag10.xml"/>
  <Relationship Id="rId6" Type="http://schemas.openxmlformats.org/officeDocument/2006/relationships/tags" Target="../tags/tag9.xml"/>
  <Relationship Id="rId5" Type="http://schemas.openxmlformats.org/officeDocument/2006/relationships/tags" Target="../tags/tag8.xml"/>
  <Relationship Id="rId4" Type="http://schemas.openxmlformats.org/officeDocument/2006/relationships/tags" Target="../tags/tag7.xml"/>
  <Relationship Id="rId3" Type="http://schemas.openxmlformats.org/officeDocument/2006/relationships/tags" Target="../tags/tag6.xml"/>
  <Relationship Id="rId2" Type="http://schemas.openxmlformats.org/officeDocument/2006/relationships/tags" Target="../tags/tag5.xml"/>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22000" y="1151974"/>
            <a:ext cx="8100000" cy="529200"/>
          </a:xfrm>
        </p:spPr>
        <p:txBody>
          <a:bodyPr wrap="square">
            <a:normAutofit/>
          </a:bodyPr>
          <a:lstStyle>
            <a:lvl1pPr algn="ctr">
              <a:defRPr sz="3200">
                <a:solidFill>
                  <a:schemeClr val="tx1"/>
                </a:solidFill>
                <a:latin typeface="+mj-ea"/>
                <a:ea typeface="+mj-ea"/>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wrap="square">
            <a:normAutofit/>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7" name="Rectangle 41696_#color-2179&amp;9267"/>
          <p:cNvSpPr/>
          <p:nvPr userDrawn="1">
            <p:custDataLst>
              <p:tags r:id="rId2"/>
            </p:custDataLst>
          </p:nvPr>
        </p:nvSpPr>
        <p:spPr>
          <a:xfrm>
            <a:off x="0" y="0"/>
            <a:ext cx="9144000" cy="6858000"/>
          </a:xfrm>
          <a:prstGeom prst="rect">
            <a:avLst/>
          </a:prstGeom>
          <a:solidFill>
            <a:schemeClr val="accent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sp>
      <p:sp>
        <p:nvSpPr>
          <p:cNvPr id="8" name="Rectangle 41707 (Stroke)_#color-2217&amp;9583"/>
          <p:cNvSpPr/>
          <p:nvPr userDrawn="1">
            <p:custDataLst>
              <p:tags r:id="rId3"/>
            </p:custDataLst>
          </p:nvPr>
        </p:nvSpPr>
        <p:spPr>
          <a:xfrm>
            <a:off x="1885950" y="0"/>
            <a:ext cx="7258050" cy="5791200"/>
          </a:xfrm>
          <a:custGeom>
            <a:avLst/>
            <a:gdLst/>
            <a:ahLst/>
            <a:cxnLst/>
            <a:rect l="l" t="t" r="r" b="b"/>
            <a:pathLst>
              <a:path w="9677400" h="5791200">
                <a:moveTo>
                  <a:pt x="25400" y="0"/>
                </a:moveTo>
                <a:lnTo>
                  <a:pt x="0" y="0"/>
                </a:lnTo>
                <a:lnTo>
                  <a:pt x="0" y="5791200"/>
                </a:lnTo>
                <a:lnTo>
                  <a:pt x="9677400" y="5791200"/>
                </a:lnTo>
                <a:lnTo>
                  <a:pt x="9677400" y="5765800"/>
                </a:lnTo>
                <a:lnTo>
                  <a:pt x="25400" y="5765800"/>
                </a:lnTo>
                <a:lnTo>
                  <a:pt x="25400" y="0"/>
                </a:lnTo>
              </a:path>
            </a:pathLst>
          </a:custGeom>
          <a:solidFill>
            <a:schemeClr val="accent1">
              <a:lumMod val="20000"/>
              <a:lumOff val="80000"/>
              <a:alpha val="30000"/>
            </a:schemeClr>
          </a:solidFill>
        </p:spPr>
      </p:sp>
      <p:sp>
        <p:nvSpPr>
          <p:cNvPr id="9" name="Rectangle 41706 (Stroke)_#color-2217&amp;9586"/>
          <p:cNvSpPr/>
          <p:nvPr userDrawn="1">
            <p:custDataLst>
              <p:tags r:id="rId4"/>
            </p:custDataLst>
          </p:nvPr>
        </p:nvSpPr>
        <p:spPr>
          <a:xfrm>
            <a:off x="0" y="4521200"/>
            <a:ext cx="3276600" cy="2336800"/>
          </a:xfrm>
          <a:custGeom>
            <a:avLst/>
            <a:gdLst/>
            <a:ahLst/>
            <a:cxnLst/>
            <a:rect l="l" t="t" r="r" b="b"/>
            <a:pathLst>
              <a:path w="4368800" h="2336800">
                <a:moveTo>
                  <a:pt x="4368800" y="2336800"/>
                </a:moveTo>
                <a:lnTo>
                  <a:pt x="4368800" y="0"/>
                </a:lnTo>
                <a:lnTo>
                  <a:pt x="0" y="0"/>
                </a:lnTo>
                <a:lnTo>
                  <a:pt x="0" y="25400"/>
                </a:lnTo>
                <a:lnTo>
                  <a:pt x="4343400" y="25400"/>
                </a:lnTo>
                <a:lnTo>
                  <a:pt x="4343400" y="2336800"/>
                </a:lnTo>
                <a:lnTo>
                  <a:pt x="4368800" y="2336800"/>
                </a:lnTo>
              </a:path>
            </a:pathLst>
          </a:custGeom>
          <a:solidFill>
            <a:schemeClr val="accent2"/>
          </a:solidFill>
        </p:spPr>
      </p:sp>
      <p:sp>
        <p:nvSpPr>
          <p:cNvPr id="2" name="标题 1"/>
          <p:cNvSpPr>
            <a:spLocks noGrp="1"/>
          </p:cNvSpPr>
          <p:nvPr>
            <p:ph type="ctrTitle" hasCustomPrompt="1"/>
            <p:custDataLst>
              <p:tags r:id="rId5"/>
            </p:custDataLst>
          </p:nvPr>
        </p:nvSpPr>
        <p:spPr>
          <a:xfrm>
            <a:off x="3476625" y="406400"/>
            <a:ext cx="5476875" cy="2768150"/>
          </a:xfrm>
        </p:spPr>
        <p:txBody>
          <a:bodyPr wrap="square" anchor="b">
            <a:normAutofit/>
          </a:bodyPr>
          <a:lstStyle>
            <a:lvl1pPr algn="l">
              <a:lnSpc>
                <a:spcPct val="100000"/>
              </a:lnSpc>
              <a:defRPr sz="5250">
                <a:solidFill>
                  <a:schemeClr val="lt1">
                    <a:lumMod val="100000"/>
                  </a:schemeClr>
                </a:solidFill>
                <a:latin typeface="+mj-ea"/>
                <a:ea typeface="+mj-ea"/>
                <a:cs typeface="+mj-ea"/>
                <a:sym typeface="+mj-ea"/>
              </a:defRPr>
            </a:lvl1pPr>
          </a:lstStyle>
          <a:p>
            <a:r>
              <a:rPr lang="zh-CN" altLang="en-US"/>
              <a:t>编辑母版标题</a:t>
            </a:r>
            <a:endParaRPr lang="zh-CN" altLang="en-US" dirty="0"/>
          </a:p>
        </p:txBody>
      </p:sp>
      <p:sp>
        <p:nvSpPr>
          <p:cNvPr id="4" name="日期占位符 3"/>
          <p:cNvSpPr>
            <a:spLocks noGrp="1"/>
          </p:cNvSpPr>
          <p:nvPr>
            <p:ph type="dt" sz="half" idx="10"/>
            <p:custDataLst>
              <p:tags r:id="rId6"/>
            </p:custDataLst>
          </p:nvPr>
        </p:nvSpPr>
        <p:spPr/>
        <p:txBody>
          <a:bodyPr wrap="square">
            <a:normAutofit/>
          </a:bodyPr>
          <a:lstStyle>
            <a:lvl1pPr>
              <a:defRPr>
                <a:latin typeface="+mn-ea"/>
                <a:ea typeface="+mn-ea"/>
                <a:cs typeface="+mn-ea"/>
                <a:sym typeface="+mn-ea"/>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7"/>
            </p:custDataLst>
          </p:nvPr>
        </p:nvSpPr>
        <p:spPr/>
        <p:txBody>
          <a:bodyPr/>
          <a:lstStyle/>
          <a:p>
            <a:endParaRPr lang="zh-CN" altLang="en-US"/>
          </a:p>
        </p:txBody>
      </p:sp>
      <p:sp>
        <p:nvSpPr>
          <p:cNvPr id="6" name="灯片编号占位符 5"/>
          <p:cNvSpPr>
            <a:spLocks noGrp="1"/>
          </p:cNvSpPr>
          <p:nvPr>
            <p:ph type="sldNum" sz="quarter" idx="12"/>
            <p:custDataLst>
              <p:tags r:id="rId8"/>
            </p:custDataLst>
          </p:nvPr>
        </p:nvSpPr>
        <p:spPr>
          <a:xfrm>
            <a:off x="6457950" y="6356350"/>
            <a:ext cx="2057400" cy="365125"/>
          </a:xfrm>
        </p:spPr>
        <p:txBody>
          <a:bodyPr wrap="square">
            <a:normAutofit/>
          </a:bodyPr>
          <a:lstStyle>
            <a:lvl1pPr>
              <a:defRPr>
                <a:latin typeface="+mn-ea"/>
                <a:ea typeface="+mn-ea"/>
                <a:cs typeface="+mn-ea"/>
                <a:sym typeface="+mn-ea"/>
              </a:defRPr>
            </a:lvl1pPr>
          </a:lstStyle>
          <a:p>
            <a:fld id="{BE5F26B5-172A-4DC2-B0B7-181CFC56B87C}" type="slidenum">
              <a:rPr lang="zh-CN" altLang="en-US" smtClean="0"/>
            </a:fld>
            <a:endParaRPr lang="zh-CN" altLang="en-US"/>
          </a:p>
        </p:txBody>
      </p:sp>
      <p:sp>
        <p:nvSpPr>
          <p:cNvPr id="24" name="署名占位符 10"/>
          <p:cNvSpPr>
            <a:spLocks noGrp="1"/>
          </p:cNvSpPr>
          <p:nvPr>
            <p:ph type="body" sz="quarter" idx="17" hasCustomPrompt="1"/>
            <p:custDataLst>
              <p:tags r:id="rId9"/>
            </p:custDataLst>
          </p:nvPr>
        </p:nvSpPr>
        <p:spPr>
          <a:xfrm>
            <a:off x="3476625" y="3576600"/>
            <a:ext cx="5476875" cy="2062200"/>
          </a:xfrm>
        </p:spPr>
        <p:txBody>
          <a:bodyPr wrap="square" anchor="t">
            <a:normAutofit/>
          </a:bodyPr>
          <a:lstStyle>
            <a:lvl1pPr marL="0" indent="0" algn="l">
              <a:lnSpc>
                <a:spcPct val="100000"/>
              </a:lnSpc>
              <a:buNone/>
              <a:defRPr sz="1800">
                <a:solidFill>
                  <a:schemeClr val="accent1">
                    <a:lumMod val="20000"/>
                    <a:lumOff val="80000"/>
                  </a:schemeClr>
                </a:solidFill>
                <a:latin typeface="+mn-ea"/>
                <a:ea typeface="+mn-ea"/>
                <a:cs typeface="+mn-ea"/>
                <a:sym typeface="+mn-ea"/>
              </a:defRPr>
            </a:lvl1pPr>
          </a:lstStyle>
          <a:p>
            <a:pPr lvl="0"/>
            <a:r>
              <a:rPr lang="zh-CN" altLang="en-US"/>
              <a:t>署名</a:t>
            </a:r>
            <a:endParaRPr lang="zh-CN" altLang="en-US" dirty="0"/>
          </a:p>
        </p:txBody>
      </p:sp>
    </p:spTree>
  </p:cSld>
  <p:clrMapOvr>
    <a:masterClrMapping/>
  </p:clrMapOvr>
</p:sldLayout>
</file>

<file path=ppt/slideMasters/_rels/slideMaster1.xml.rels><?xml version="1.0" encoding="utf-8"?>
<Relationships xmlns="http://schemas.openxmlformats.org/package/2006/relationships">
  <Relationship Id="rId9" Type="http://schemas.openxmlformats.org/officeDocument/2006/relationships/slideLayout" Target="../slideLayouts/slideLayout9.xml"/>
  <Relationship Id="rId8" Type="http://schemas.openxmlformats.org/officeDocument/2006/relationships/slideLayout" Target="../slideLayouts/slideLayout8.xml"/>
  <Relationship Id="rId7" Type="http://schemas.openxmlformats.org/officeDocument/2006/relationships/slideLayout" Target="../slideLayouts/slideLayout7.xml"/>
  <Relationship Id="rId6" Type="http://schemas.openxmlformats.org/officeDocument/2006/relationships/slideLayout" Target="../slideLayouts/slideLayout6.xml"/>
  <Relationship Id="rId5" Type="http://schemas.openxmlformats.org/officeDocument/2006/relationships/slideLayout" Target="../slideLayouts/slideLayout5.xml"/>
  <Relationship Id="rId4" Type="http://schemas.openxmlformats.org/officeDocument/2006/relationships/slideLayout" Target="../slideLayouts/slideLayout4.xml"/>
  <Relationship Id="rId3" Type="http://schemas.openxmlformats.org/officeDocument/2006/relationships/slideLayout" Target="../slideLayouts/slideLayout3.xml"/>
  <Relationship Id="rId2" Type="http://schemas.openxmlformats.org/officeDocument/2006/relationships/slideLayout" Target="../slideLayouts/slideLayout2.xml"/>
  <Relationship Id="rId14" Type="http://schemas.openxmlformats.org/officeDocument/2006/relationships/theme" Target="../theme/theme1.xml"/>
  <Relationship Id="rId13" Type="http://schemas.openxmlformats.org/officeDocument/2006/relationships/slideLayout" Target="../slideLayouts/slideLayout13.xml"/>
  <Relationship Id="rId12" Type="http://schemas.openxmlformats.org/officeDocument/2006/relationships/slideLayout" Target="../slideLayouts/slideLayout12.xml"/>
  <Relationship Id="rId11" Type="http://schemas.openxmlformats.org/officeDocument/2006/relationships/slideLayout" Target="../slideLayouts/slideLayout11.xml"/>
  <Relationship Id="rId10" Type="http://schemas.openxmlformats.org/officeDocument/2006/relationships/slideLayout" Target="../slideLayouts/slideLayout10.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2" Type="http://schemas.openxmlformats.org/officeDocument/2006/relationships/slideLayout" Target="../slideLayouts/slideLayout1.xml"/>
  <Relationship Id="rId1" Type="http://schemas.openxmlformats.org/officeDocument/2006/relationships/image" Target="../media/image1.emf"/>
</Relationships>

</file>

<file path=ppt/slides/_rels/slide2.xml.rels><?xml version="1.0" encoding="utf-8"?>
<Relationships xmlns="http://schemas.openxmlformats.org/package/2006/relationships">
  <Relationship Id="rId2" Type="http://schemas.openxmlformats.org/officeDocument/2006/relationships/slideLayout" Target="../slideLayouts/slideLayout2.xml"/>
  <Relationship Id="rId1" Type="http://schemas.openxmlformats.org/officeDocument/2006/relationships/image" Target="../media/image1.emf"/>
</Relationships>

</file>

<file path=ppt/slides/_rels/slide3.xml.rels><?xml version="1.0" encoding="utf-8"?>
<Relationships xmlns="http://schemas.openxmlformats.org/package/2006/relationships">
  <Relationship Id="rId2" Type="http://schemas.openxmlformats.org/officeDocument/2006/relationships/slideLayout" Target="../slideLayouts/slideLayout2.xml"/>
  <Relationship Id="rId1" Type="http://schemas.openxmlformats.org/officeDocument/2006/relationships/image" Target="../media/image1.emf"/>
</Relationships>

</file>

<file path=ppt/slides/_rels/slide4.xml.rels><?xml version="1.0" encoding="utf-8"?>
<Relationships xmlns="http://schemas.openxmlformats.org/package/2006/relationships">
  <Relationship Id="rId2" Type="http://schemas.openxmlformats.org/officeDocument/2006/relationships/slideLayout" Target="../slideLayouts/slideLayout2.xml"/>
  <Relationship Id="rId1" Type="http://schemas.openxmlformats.org/officeDocument/2006/relationships/image" Target="../media/image1.emf"/>
</Relationships>

</file>

<file path=ppt/slides/_rels/slide5.xml.rels><?xml version="1.0" encoding="utf-8"?>
<Relationships xmlns="http://schemas.openxmlformats.org/package/2006/relationships">
  <Relationship Id="rId3" Type="http://schemas.openxmlformats.org/officeDocument/2006/relationships/slideLayout" Target="../slideLayouts/slideLayout2.xml"/>
  <Relationship Id="rId2" Type="http://schemas.openxmlformats.org/officeDocument/2006/relationships/image" Target="../media/image2.png"/>
  <Relationship Id="rId1" Type="http://schemas.openxmlformats.org/officeDocument/2006/relationships/image" Target="../media/image1.emf"/>
</Relationships>

</file>

<file path=ppt/slides/_rels/slide6.xml.rels><?xml version="1.0" encoding="utf-8"?>
<Relationships xmlns="http://schemas.openxmlformats.org/package/2006/relationships">
  <Relationship Id="rId2" Type="http://schemas.openxmlformats.org/officeDocument/2006/relationships/slideLayout" Target="../slideLayouts/slideLayout2.xml"/>
  <Relationship Id="rId1" Type="http://schemas.openxmlformats.org/officeDocument/2006/relationships/image" Target="../media/image1.emf"/>
</Relationships>

</file>

<file path=ppt/slides/_rels/slide7.xml.rels><?xml version="1.0" encoding="utf-8"?>
<Relationships xmlns="http://schemas.openxmlformats.org/package/2006/relationships">
  <Relationship Id="rId9" Type="http://schemas.openxmlformats.org/officeDocument/2006/relationships/tags" Target="../tags/tag21.xml"/>
  <Relationship Id="rId8" Type="http://schemas.openxmlformats.org/officeDocument/2006/relationships/tags" Target="../tags/tag20.xml"/>
  <Relationship Id="rId7" Type="http://schemas.openxmlformats.org/officeDocument/2006/relationships/tags" Target="../tags/tag19.xml"/>
  <Relationship Id="rId6" Type="http://schemas.openxmlformats.org/officeDocument/2006/relationships/tags" Target="../tags/tag18.xml"/>
  <Relationship Id="rId5" Type="http://schemas.openxmlformats.org/officeDocument/2006/relationships/tags" Target="../tags/tag17.xml"/>
  <Relationship Id="rId4" Type="http://schemas.openxmlformats.org/officeDocument/2006/relationships/tags" Target="../tags/tag16.xml"/>
  <Relationship Id="rId3" Type="http://schemas.openxmlformats.org/officeDocument/2006/relationships/tags" Target="../tags/tag15.xml"/>
  <Relationship Id="rId2" Type="http://schemas.openxmlformats.org/officeDocument/2006/relationships/tags" Target="../tags/tag14.xml"/>
  <Relationship Id="rId12" Type="http://schemas.openxmlformats.org/officeDocument/2006/relationships/slideLayout" Target="../slideLayouts/slideLayout12.xml"/>
  <Relationship Id="rId11" Type="http://schemas.openxmlformats.org/officeDocument/2006/relationships/tags" Target="../tags/tag22.xml"/>
  <Relationship Id="rId10" Type="http://schemas.openxmlformats.org/officeDocument/2006/relationships/image" Target="../media/image1.emf"/>
  <Relationship Id="rId1" Type="http://schemas.openxmlformats.org/officeDocument/2006/relationships/tags" Target="../tags/tag13.xml"/>
</Relationships>

</file>

<file path=ppt/slides/_rels/slide8.xml.rels><?xml version="1.0" encoding="utf-8"?>
<Relationships xmlns="http://schemas.openxmlformats.org/package/2006/relationships">
  <Relationship Id="rId5" Type="http://schemas.openxmlformats.org/officeDocument/2006/relationships/slideLayout" Target="../slideLayouts/slideLayout12.xml"/>
  <Relationship Id="rId4" Type="http://schemas.openxmlformats.org/officeDocument/2006/relationships/tags" Target="../tags/tag23.xml"/>
  <Relationship Id="rId3" Type="http://schemas.openxmlformats.org/officeDocument/2006/relationships/image" Target="../media/image4.png"/>
  <Relationship Id="rId2" Type="http://schemas.openxmlformats.org/officeDocument/2006/relationships/image" Target="../media/image3.png"/>
  <Relationship Id="rId1" Type="http://schemas.openxmlformats.org/officeDocument/2006/relationships/image" Target="../media/image1.emf"/>
</Relationships>

</file>

<file path=ppt/slides/_rels/slide9.xml.rels><?xml version="1.0" encoding="utf-8"?>
<Relationships xmlns="http://schemas.openxmlformats.org/package/2006/relationships">
  <Relationship Id="rId3" Type="http://schemas.openxmlformats.org/officeDocument/2006/relationships/slideLayout" Target="../slideLayouts/slideLayout12.xml"/>
  <Relationship Id="rId2" Type="http://schemas.openxmlformats.org/officeDocument/2006/relationships/tags" Target="../tags/tag24.xml"/>
  <Relationship Id="rId1" Type="http://schemas.openxmlformats.org/officeDocument/2006/relationships/image" Target="../media/image1.emf"/>
</Relationships>

</file>

<file path=ppt/slides/_rels/slide10.xml.rels><?xml version="1.0" encoding="utf-8"?>
<Relationships xmlns="http://schemas.openxmlformats.org/package/2006/relationships">
  <Relationship Id="rId3" Type="http://schemas.openxmlformats.org/officeDocument/2006/relationships/slideLayout" Target="../slideLayouts/slideLayout12.xml"/>
  <Relationship Id="rId2" Type="http://schemas.openxmlformats.org/officeDocument/2006/relationships/tags" Target="../tags/tag24.xml"/>
  <Relationship Id="rId1" Type="http://schemas.openxmlformats.org/officeDocument/2006/relationships/image" Target="../media/image1.emf"/>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0" y="1637665"/>
            <a:ext cx="9143365" cy="2000885"/>
          </a:xfrm>
          <a:solidFill>
            <a:srgbClr val="4864FC"/>
          </a:solidFill>
        </p:spPr>
        <p:style>
          <a:lnRef idx="0">
            <a:srgbClr val="FFFFFF"/>
          </a:lnRef>
          <a:fillRef idx="1">
            <a:schemeClr val="accent5"/>
          </a:fillRef>
          <a:effectRef idx="1">
            <a:schemeClr val="accent5"/>
          </a:effectRef>
          <a:fontRef idx="minor">
            <a:schemeClr val="lt1"/>
          </a:fontRef>
        </p:style>
        <p:txBody>
          <a:bodyPr/>
          <a:lstStyle/>
          <a:p>
            <a:r>
              <a:rPr lang="zh-CN" altLang="en-US">
                <a:latin typeface="微软雅黑" panose="020B0503020204020204" charset="-122"/>
                <a:ea typeface="微软雅黑" panose="020B0503020204020204" charset="-122"/>
              </a:rPr>
              <a:t>基于粒球扩散机制的图对比学习研究</a:t>
            </a:r>
            <a:endParaRPr lang="zh-CN" altLang="en-US">
              <a:latin typeface="微软雅黑" panose="020B0503020204020204" charset="-122"/>
              <a:ea typeface="微软雅黑" panose="020B0503020204020204" charset="-122"/>
            </a:endParaRPr>
          </a:p>
        </p:txBody>
      </p:sp>
      <p:sp>
        <p:nvSpPr>
          <p:cNvPr id="3" name="Subtitle 2"/>
          <p:cNvSpPr>
            <a:spLocks noGrp="1"/>
          </p:cNvSpPr>
          <p:nvPr>
            <p:ph type="subTitle" idx="1"/>
          </p:nvPr>
        </p:nvSpPr>
        <p:spPr>
          <a:xfrm>
            <a:off x="1371600" y="3806825"/>
            <a:ext cx="6400800" cy="1752600"/>
          </a:xfrm>
        </p:spPr>
        <p:txBody>
          <a:bodyPr/>
          <a:lstStyle/>
          <a:p>
            <a:r>
              <a:rPr lang="en-US" altLang="zh-CN"/>
              <a:t>A Study on Graph Contrastive Learning Based on a Granular-Ball Diffusion Mechanism</a:t>
            </a:r>
            <a:endParaRPr lang="en-US" altLang="zh-CN"/>
          </a:p>
        </p:txBody>
      </p:sp>
      <p:pic>
        <p:nvPicPr>
          <p:cNvPr id="4" name="图片 3" descr="图片2.emf"/>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599696" y="315142"/>
            <a:ext cx="2308084" cy="543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p:cNvSpPr txBox="1"/>
          <p:nvPr/>
        </p:nvSpPr>
        <p:spPr>
          <a:xfrm>
            <a:off x="6971665" y="5934710"/>
            <a:ext cx="2281555" cy="645160"/>
          </a:xfrm>
          <a:prstGeom prst="rect">
            <a:avLst/>
          </a:prstGeom>
          <a:noFill/>
        </p:spPr>
        <p:txBody>
          <a:bodyPr wrap="square" rtlCol="0">
            <a:spAutoFit/>
          </a:bodyPr>
          <a:p>
            <a:r>
              <a:rPr lang="zh-CN" altLang="en-US">
                <a:latin typeface="黑体" panose="02010609060101010101" charset="-122"/>
                <a:ea typeface="黑体" panose="02010609060101010101" charset="-122"/>
              </a:rPr>
              <a:t>答辩人：谭成</a:t>
            </a:r>
            <a:endParaRPr lang="zh-CN" altLang="en-US">
              <a:latin typeface="黑体" panose="02010609060101010101" charset="-122"/>
              <a:ea typeface="黑体" panose="02010609060101010101" charset="-122"/>
            </a:endParaRPr>
          </a:p>
          <a:p>
            <a:endParaRPr lang="zh-CN" altLang="en-US">
              <a:latin typeface="黑体" panose="02010609060101010101" charset="-122"/>
              <a:ea typeface="黑体" panose="0201060906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0965" y="1156335"/>
            <a:ext cx="2853690" cy="4816475"/>
          </a:xfrm>
          <a:solidFill>
            <a:schemeClr val="bg1">
              <a:lumMod val="95000"/>
            </a:schemeClr>
          </a:solidFill>
          <a:ln>
            <a:solidFill>
              <a:schemeClr val="bg2"/>
            </a:solidFill>
          </a:ln>
        </p:spPr>
        <p:txBody>
          <a:bodyPr>
            <a:normAutofit fontScale="90000" lnSpcReduction="10000"/>
          </a:bodyPr>
          <a:lstStyle/>
          <a:p>
            <a:pPr marL="0" indent="0" algn="ctr">
              <a:lnSpc>
                <a:spcPct val="110000"/>
              </a:lnSpc>
              <a:buNone/>
            </a:pPr>
            <a:r>
              <a:rPr lang="en-US" altLang="zh-CN" sz="2000" b="1">
                <a:solidFill>
                  <a:srgbClr val="0000FF"/>
                </a:solidFill>
              </a:rPr>
              <a:t xml:space="preserve">  </a:t>
            </a:r>
            <a:r>
              <a:rPr lang="zh-CN" sz="2000" b="1">
                <a:solidFill>
                  <a:srgbClr val="0000FF"/>
                </a:solidFill>
              </a:rPr>
              <a:t>基于数据增强的 GCL</a:t>
            </a:r>
            <a:endParaRPr lang="zh-CN" sz="2000" b="1">
              <a:solidFill>
                <a:srgbClr val="0000FF"/>
              </a:solidFill>
            </a:endParaRPr>
          </a:p>
          <a:p>
            <a:pPr marL="0" indent="0" algn="l">
              <a:lnSpc>
                <a:spcPct val="110000"/>
              </a:lnSpc>
              <a:buNone/>
            </a:pPr>
            <a:r>
              <a:rPr lang="zh-CN" altLang="en-US" sz="1400" b="1"/>
              <a:t>核心思想：</a:t>
            </a:r>
            <a:endParaRPr lang="zh-CN" altLang="en-US" sz="1600" b="1"/>
          </a:p>
          <a:p>
            <a:pPr algn="l">
              <a:lnSpc>
                <a:spcPct val="130000"/>
              </a:lnSpc>
            </a:pPr>
            <a:r>
              <a:rPr lang="zh-CN" altLang="en-US" sz="1200"/>
              <a:t>对原始图进行随机扰动</a:t>
            </a:r>
            <a:endParaRPr lang="zh-CN" altLang="en-US" sz="1200"/>
          </a:p>
          <a:p>
            <a:pPr algn="l">
              <a:lnSpc>
                <a:spcPct val="130000"/>
              </a:lnSpc>
            </a:pPr>
            <a:r>
              <a:rPr lang="zh-CN" altLang="en-US" sz="1200"/>
              <a:t>构造多个增强视图</a:t>
            </a:r>
            <a:endParaRPr lang="zh-CN" altLang="en-US" sz="1200"/>
          </a:p>
          <a:p>
            <a:pPr algn="l">
              <a:lnSpc>
                <a:spcPct val="130000"/>
              </a:lnSpc>
            </a:pPr>
            <a:r>
              <a:rPr lang="zh-CN" altLang="en-US" sz="1200"/>
              <a:t>在这些视图之间进行对比学习</a:t>
            </a:r>
            <a:endParaRPr lang="zh-CN" altLang="en-US" sz="1200"/>
          </a:p>
          <a:p>
            <a:pPr algn="l">
              <a:lnSpc>
                <a:spcPct val="110000"/>
              </a:lnSpc>
            </a:pPr>
            <a:endParaRPr lang="zh-CN" altLang="en-US" sz="1400"/>
          </a:p>
          <a:p>
            <a:pPr marL="0" indent="0" algn="l">
              <a:lnSpc>
                <a:spcPct val="110000"/>
              </a:lnSpc>
              <a:buNone/>
            </a:pPr>
            <a:r>
              <a:rPr lang="zh-CN" altLang="en-US" sz="1400" b="1"/>
              <a:t>常见增强方式：</a:t>
            </a:r>
            <a:endParaRPr lang="zh-CN" altLang="en-US" sz="1400" b="1"/>
          </a:p>
          <a:p>
            <a:pPr algn="l">
              <a:lnSpc>
                <a:spcPct val="130000"/>
              </a:lnSpc>
              <a:buClrTx/>
              <a:buSzTx/>
            </a:pPr>
            <a:r>
              <a:rPr lang="zh-CN" altLang="en-US" sz="1200"/>
              <a:t>节点/边删除</a:t>
            </a:r>
            <a:endParaRPr lang="zh-CN" altLang="en-US" sz="1200"/>
          </a:p>
          <a:p>
            <a:pPr algn="l">
              <a:lnSpc>
                <a:spcPct val="130000"/>
              </a:lnSpc>
              <a:buClrTx/>
              <a:buSzTx/>
            </a:pPr>
            <a:r>
              <a:rPr lang="zh-CN" altLang="en-US" sz="1200"/>
              <a:t>特征遮蔽</a:t>
            </a:r>
            <a:endParaRPr lang="zh-CN" altLang="en-US" sz="1200"/>
          </a:p>
          <a:p>
            <a:pPr algn="l">
              <a:lnSpc>
                <a:spcPct val="130000"/>
              </a:lnSpc>
              <a:buClrTx/>
              <a:buSzTx/>
            </a:pPr>
            <a:r>
              <a:rPr lang="zh-CN" altLang="en-US" sz="1200"/>
              <a:t>子图采样</a:t>
            </a:r>
            <a:endParaRPr lang="zh-CN" altLang="en-US" sz="1200"/>
          </a:p>
          <a:p>
            <a:pPr algn="l">
              <a:lnSpc>
                <a:spcPct val="110000"/>
              </a:lnSpc>
              <a:buClrTx/>
              <a:buSzTx/>
            </a:pPr>
            <a:endParaRPr lang="zh-CN" altLang="en-US" sz="1200"/>
          </a:p>
          <a:p>
            <a:pPr marL="0" algn="l">
              <a:lnSpc>
                <a:spcPct val="110000"/>
              </a:lnSpc>
              <a:buClrTx/>
              <a:buSzTx/>
              <a:buNone/>
            </a:pPr>
            <a:r>
              <a:rPr lang="zh-CN" altLang="en-US" sz="1400" b="1"/>
              <a:t>代表性方法：</a:t>
            </a:r>
            <a:endParaRPr lang="zh-CN" altLang="en-US" sz="1400" b="1"/>
          </a:p>
          <a:p>
            <a:pPr algn="l">
              <a:lnSpc>
                <a:spcPct val="130000"/>
              </a:lnSpc>
              <a:buClrTx/>
              <a:buSzTx/>
            </a:pPr>
            <a:r>
              <a:rPr lang="zh-CN" altLang="en-US" sz="1200"/>
              <a:t>DGI、GraphCL、InfoGraph</a:t>
            </a:r>
            <a:endParaRPr lang="zh-CN" altLang="en-US" sz="1200"/>
          </a:p>
          <a:p>
            <a:pPr algn="l">
              <a:lnSpc>
                <a:spcPct val="130000"/>
              </a:lnSpc>
              <a:buClrTx/>
              <a:buSzTx/>
            </a:pPr>
            <a:r>
              <a:rPr lang="zh-CN" altLang="en-US" sz="1200"/>
              <a:t>JOAO、GCC（增强自动化）</a:t>
            </a:r>
            <a:endParaRPr lang="zh-CN" altLang="en-US" sz="1200"/>
          </a:p>
          <a:p>
            <a:pPr algn="l">
              <a:lnSpc>
                <a:spcPct val="110000"/>
              </a:lnSpc>
              <a:buClrTx/>
              <a:buSzTx/>
            </a:pPr>
            <a:endParaRPr lang="zh-CN" altLang="en-US" sz="1200"/>
          </a:p>
          <a:p>
            <a:pPr marL="0" indent="0" algn="l">
              <a:lnSpc>
                <a:spcPct val="110000"/>
              </a:lnSpc>
              <a:buClrTx/>
              <a:buSzTx/>
              <a:buNone/>
            </a:pPr>
            <a:r>
              <a:rPr lang="zh-CN" altLang="en-US" sz="1600" b="1"/>
              <a:t>局限性：</a:t>
            </a:r>
            <a:endParaRPr lang="zh-CN" altLang="en-US" sz="1600" b="1"/>
          </a:p>
          <a:p>
            <a:pPr algn="l">
              <a:lnSpc>
                <a:spcPct val="130000"/>
              </a:lnSpc>
              <a:buClrTx/>
              <a:buSzTx/>
            </a:pPr>
            <a:r>
              <a:rPr lang="zh-CN" altLang="en-US" sz="1200"/>
              <a:t>增强策略高度依赖人工经验</a:t>
            </a:r>
            <a:endParaRPr lang="zh-CN" altLang="en-US" sz="1200"/>
          </a:p>
          <a:p>
            <a:pPr algn="l">
              <a:lnSpc>
                <a:spcPct val="130000"/>
              </a:lnSpc>
              <a:buClrTx/>
              <a:buSzTx/>
            </a:pPr>
            <a:r>
              <a:rPr lang="zh-CN" altLang="en-US" sz="1200"/>
              <a:t>随机扰动可能破坏关键结构</a:t>
            </a:r>
            <a:endParaRPr lang="zh-CN" altLang="en-US" sz="1200"/>
          </a:p>
          <a:p>
            <a:pPr algn="l">
              <a:lnSpc>
                <a:spcPct val="130000"/>
              </a:lnSpc>
              <a:buClrTx/>
              <a:buSzTx/>
            </a:pPr>
            <a:r>
              <a:rPr lang="zh-CN" altLang="en-US" sz="1200"/>
              <a:t>在不同图数据集上表现不稳定</a:t>
            </a:r>
            <a:endParaRPr lang="zh-CN" altLang="en-US" sz="1200"/>
          </a:p>
          <a:p>
            <a:pPr marL="0" indent="0" algn="l">
              <a:lnSpc>
                <a:spcPct val="110000"/>
              </a:lnSpc>
              <a:buClrTx/>
              <a:buSzTx/>
              <a:buNone/>
            </a:pPr>
            <a:endParaRPr lang="zh-CN" altLang="en-US" sz="1600" b="1"/>
          </a:p>
        </p:txBody>
      </p:sp>
      <p:pic>
        <p:nvPicPr>
          <p:cNvPr id="2" name="图片 3" descr="图片2.emf"/>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599696" y="315142"/>
            <a:ext cx="2308084" cy="543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单圆角矩形 6"/>
          <p:cNvSpPr/>
          <p:nvPr/>
        </p:nvSpPr>
        <p:spPr>
          <a:xfrm>
            <a:off x="0" y="314960"/>
            <a:ext cx="6316980" cy="530860"/>
          </a:xfrm>
          <a:prstGeom prst="round1Rect">
            <a:avLst/>
          </a:prstGeom>
          <a:noFill/>
          <a:ln>
            <a:noFill/>
          </a:ln>
          <a:extLst>
            <a:ext uri="{909E8E84-426E-40DD-AFC4-6F175D3DCCD1}">
              <a14:hiddenFill xmlns:a14="http://schemas.microsoft.com/office/drawing/2010/main">
                <a:solidFill>
                  <a:srgbClr val="4864FC"/>
                </a:solidFill>
              </a14:hiddenFill>
            </a:ext>
          </a:extLst>
        </p:spPr>
        <p:style>
          <a:lnRef idx="3">
            <a:schemeClr val="accent1"/>
          </a:lnRef>
          <a:fillRef idx="0">
            <a:srgbClr val="FFFFFF"/>
          </a:fillRef>
          <a:effectRef idx="0">
            <a:srgbClr val="FFFFFF"/>
          </a:effectRef>
          <a:fontRef idx="minor">
            <a:schemeClr val="tx1"/>
          </a:fontRef>
        </p:style>
        <p:txBody>
          <a:bodyPr/>
          <a:p>
            <a:pPr algn="l" defTabSz="914400">
              <a:lnSpc>
                <a:spcPct val="100000"/>
              </a:lnSpc>
              <a:buClrTx/>
              <a:buSzTx/>
              <a:buFontTx/>
            </a:pPr>
            <a:r>
              <a:rPr lang="zh-CN" altLang="en-US" sz="2400" b="1">
                <a:solidFill>
                  <a:srgbClr val="1F40B8"/>
                </a:solidFill>
                <a:latin typeface="微软雅黑" panose="020B0503020204020204" charset="-122"/>
                <a:ea typeface="微软雅黑" panose="020B0503020204020204" charset="-122"/>
                <a:cs typeface="微软雅黑" panose="020B0503020204020204" charset="-122"/>
              </a:rPr>
              <a:t>一、研究现状：GCL的应用现状</a:t>
            </a:r>
            <a:endParaRPr lang="zh-CN" altLang="en-US" sz="2400" b="1">
              <a:solidFill>
                <a:srgbClr val="1F40B8"/>
              </a:solidFill>
              <a:latin typeface="微软雅黑" panose="020B0503020204020204" charset="-122"/>
              <a:ea typeface="微软雅黑" panose="020B0503020204020204" charset="-122"/>
              <a:cs typeface="微软雅黑" panose="020B0503020204020204" charset="-122"/>
            </a:endParaRPr>
          </a:p>
        </p:txBody>
      </p:sp>
      <p:sp>
        <p:nvSpPr>
          <p:cNvPr id="4" name="Content Placeholder 2"/>
          <p:cNvSpPr>
            <a:spLocks noGrp="1"/>
          </p:cNvSpPr>
          <p:nvPr/>
        </p:nvSpPr>
        <p:spPr>
          <a:xfrm>
            <a:off x="3081655" y="1193165"/>
            <a:ext cx="2853690" cy="3435985"/>
          </a:xfrm>
          <a:prstGeom prst="rect">
            <a:avLst/>
          </a:prstGeom>
          <a:solidFill>
            <a:schemeClr val="bg1">
              <a:lumMod val="95000"/>
            </a:schemeClr>
          </a:solidFill>
        </p:spPr>
        <p:txBody>
          <a:bodyPr vert="horz" lIns="91440" tIns="45720" rIns="91440" bIns="45720" rtlCol="0">
            <a:normAutofit lnSpcReduction="10000"/>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lnSpc>
                <a:spcPct val="110000"/>
              </a:lnSpc>
              <a:buNone/>
            </a:pPr>
            <a:r>
              <a:rPr lang="en-US" altLang="zh-CN" sz="2000" b="1">
                <a:solidFill>
                  <a:srgbClr val="0000FF"/>
                </a:solidFill>
              </a:rPr>
              <a:t xml:space="preserve">  </a:t>
            </a:r>
            <a:r>
              <a:rPr lang="zh-CN" sz="2000" b="1">
                <a:solidFill>
                  <a:srgbClr val="0000FF"/>
                </a:solidFill>
              </a:rPr>
              <a:t>基于</a:t>
            </a:r>
            <a:r>
              <a:rPr lang="zh-CN" altLang="en-US" sz="2000" b="1">
                <a:solidFill>
                  <a:srgbClr val="0000FF"/>
                </a:solidFill>
              </a:rPr>
              <a:t>模型结构的</a:t>
            </a:r>
            <a:r>
              <a:rPr lang="en-US" altLang="zh-CN" sz="2000" b="1">
                <a:solidFill>
                  <a:srgbClr val="0000FF"/>
                </a:solidFill>
              </a:rPr>
              <a:t>GCL</a:t>
            </a:r>
            <a:endParaRPr lang="zh-CN" sz="2000" b="1">
              <a:solidFill>
                <a:srgbClr val="0000FF"/>
              </a:solidFill>
            </a:endParaRPr>
          </a:p>
          <a:p>
            <a:pPr marL="0" indent="0" algn="l">
              <a:lnSpc>
                <a:spcPct val="110000"/>
              </a:lnSpc>
              <a:buNone/>
            </a:pPr>
            <a:r>
              <a:rPr lang="zh-CN" altLang="en-US" sz="1400" b="1"/>
              <a:t>核心思想：</a:t>
            </a:r>
            <a:endParaRPr lang="zh-CN" altLang="en-US" sz="1600" b="1"/>
          </a:p>
          <a:p>
            <a:pPr algn="l">
              <a:lnSpc>
                <a:spcPct val="130000"/>
              </a:lnSpc>
            </a:pPr>
            <a:r>
              <a:rPr lang="zh-CN" altLang="en-US" sz="1200"/>
              <a:t>通过模型内部差异构造视图，而非显式增强构造多个增强视图</a:t>
            </a:r>
            <a:endParaRPr lang="zh-CN" altLang="en-US" sz="1200"/>
          </a:p>
          <a:p>
            <a:pPr algn="l">
              <a:lnSpc>
                <a:spcPct val="110000"/>
              </a:lnSpc>
            </a:pPr>
            <a:endParaRPr lang="zh-CN" altLang="en-US" sz="1200"/>
          </a:p>
          <a:p>
            <a:pPr marL="0" indent="0" algn="l">
              <a:lnSpc>
                <a:spcPct val="110000"/>
              </a:lnSpc>
              <a:buNone/>
            </a:pPr>
            <a:r>
              <a:rPr lang="zh-CN" altLang="en-US" sz="1400" b="1"/>
              <a:t>常见增强方式：</a:t>
            </a:r>
            <a:endParaRPr lang="zh-CN" altLang="en-US" sz="1400" b="1"/>
          </a:p>
          <a:p>
            <a:pPr algn="l">
              <a:lnSpc>
                <a:spcPct val="130000"/>
              </a:lnSpc>
              <a:buClrTx/>
              <a:buSzTx/>
            </a:pPr>
            <a:r>
              <a:rPr lang="zh-CN" altLang="en-US" sz="1200"/>
              <a:t>不同</a:t>
            </a:r>
            <a:r>
              <a:rPr lang="en-US" altLang="zh-CN" sz="1200"/>
              <a:t xml:space="preserve"> GNN </a:t>
            </a:r>
            <a:r>
              <a:rPr lang="zh-CN" altLang="en-US" sz="1200"/>
              <a:t>层输出作为多尺度视图</a:t>
            </a:r>
            <a:endParaRPr lang="en-US" altLang="zh-CN" sz="1200"/>
          </a:p>
          <a:p>
            <a:pPr algn="l">
              <a:lnSpc>
                <a:spcPct val="130000"/>
              </a:lnSpc>
              <a:buClrTx/>
              <a:buSzTx/>
            </a:pPr>
            <a:r>
              <a:rPr lang="zh-CN" altLang="en-US" sz="1200"/>
              <a:t>多通路编码结构</a:t>
            </a:r>
            <a:endParaRPr lang="zh-CN" altLang="en-US" sz="1200"/>
          </a:p>
          <a:p>
            <a:pPr algn="l">
              <a:lnSpc>
                <a:spcPct val="130000"/>
              </a:lnSpc>
              <a:buClrTx/>
              <a:buSzTx/>
            </a:pPr>
            <a:r>
              <a:rPr lang="zh-CN" altLang="en-US" sz="1200"/>
              <a:t>引入平滑性、均匀性正则项</a:t>
            </a:r>
            <a:endParaRPr lang="zh-CN" altLang="en-US" sz="1200"/>
          </a:p>
          <a:p>
            <a:pPr algn="l">
              <a:lnSpc>
                <a:spcPct val="110000"/>
              </a:lnSpc>
              <a:buClrTx/>
              <a:buSzTx/>
            </a:pPr>
            <a:endParaRPr lang="zh-CN" altLang="en-US" sz="1200"/>
          </a:p>
          <a:p>
            <a:pPr marL="0" indent="0" algn="l">
              <a:lnSpc>
                <a:spcPct val="110000"/>
              </a:lnSpc>
              <a:buClrTx/>
              <a:buSzTx/>
              <a:buNone/>
            </a:pPr>
            <a:r>
              <a:rPr lang="zh-CN" altLang="en-US" sz="1600" b="1"/>
              <a:t>局限性：</a:t>
            </a:r>
            <a:endParaRPr lang="zh-CN" altLang="en-US" sz="1600" b="1"/>
          </a:p>
          <a:p>
            <a:pPr algn="l">
              <a:lnSpc>
                <a:spcPct val="130000"/>
              </a:lnSpc>
              <a:buClrTx/>
              <a:buSzTx/>
            </a:pPr>
            <a:r>
              <a:rPr lang="zh-CN" altLang="en-US" sz="1200"/>
              <a:t>模型设计复杂</a:t>
            </a:r>
            <a:endParaRPr lang="zh-CN" altLang="en-US" sz="1200"/>
          </a:p>
          <a:p>
            <a:pPr algn="l">
              <a:lnSpc>
                <a:spcPct val="130000"/>
              </a:lnSpc>
              <a:buClrTx/>
              <a:buSzTx/>
            </a:pPr>
            <a:r>
              <a:rPr lang="zh-CN" altLang="en-US" sz="1200"/>
              <a:t>缺乏统一理论框架</a:t>
            </a:r>
            <a:endParaRPr lang="zh-CN" altLang="en-US" sz="1200"/>
          </a:p>
        </p:txBody>
      </p:sp>
      <p:sp>
        <p:nvSpPr>
          <p:cNvPr id="6" name="Content Placeholder 2"/>
          <p:cNvSpPr>
            <a:spLocks noGrp="1"/>
          </p:cNvSpPr>
          <p:nvPr/>
        </p:nvSpPr>
        <p:spPr>
          <a:xfrm>
            <a:off x="6062345" y="1193165"/>
            <a:ext cx="2853690" cy="3167380"/>
          </a:xfrm>
          <a:prstGeom prst="rect">
            <a:avLst/>
          </a:prstGeom>
          <a:solidFill>
            <a:schemeClr val="bg1">
              <a:lumMod val="95000"/>
            </a:schemeClr>
          </a:solidFill>
        </p:spPr>
        <p:txBody>
          <a:bodyPr vert="horz" lIns="91440" tIns="45720" rIns="91440" bIns="45720" rtlCol="0">
            <a:normAutofit lnSpcReduction="20000"/>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lnSpc>
                <a:spcPct val="110000"/>
              </a:lnSpc>
              <a:buNone/>
            </a:pPr>
            <a:r>
              <a:rPr lang="en-US" altLang="zh-CN" sz="2000" b="1">
                <a:solidFill>
                  <a:srgbClr val="0000FF"/>
                </a:solidFill>
              </a:rPr>
              <a:t xml:space="preserve">  </a:t>
            </a:r>
            <a:r>
              <a:rPr lang="zh-CN" altLang="en-US" sz="2000" b="1">
                <a:solidFill>
                  <a:srgbClr val="0000FF"/>
                </a:solidFill>
              </a:rPr>
              <a:t>无增强的</a:t>
            </a:r>
            <a:r>
              <a:rPr lang="en-US" altLang="zh-CN" sz="2000" b="1">
                <a:solidFill>
                  <a:srgbClr val="0000FF"/>
                </a:solidFill>
              </a:rPr>
              <a:t>GCL</a:t>
            </a:r>
            <a:endParaRPr lang="zh-CN" sz="2000" b="1">
              <a:solidFill>
                <a:srgbClr val="0000FF"/>
              </a:solidFill>
            </a:endParaRPr>
          </a:p>
          <a:p>
            <a:pPr marL="0" indent="0" algn="l">
              <a:lnSpc>
                <a:spcPct val="110000"/>
              </a:lnSpc>
              <a:buNone/>
            </a:pPr>
            <a:r>
              <a:rPr lang="zh-CN" altLang="en-US" sz="1400" b="1"/>
              <a:t>近年来的研究热点</a:t>
            </a:r>
            <a:endParaRPr lang="zh-CN" altLang="en-US" sz="1400" b="1"/>
          </a:p>
          <a:p>
            <a:pPr marL="0" indent="0" algn="l">
              <a:lnSpc>
                <a:spcPct val="110000"/>
              </a:lnSpc>
              <a:buNone/>
            </a:pPr>
            <a:endParaRPr lang="zh-CN" altLang="en-US" sz="1400" b="1"/>
          </a:p>
          <a:p>
            <a:pPr marL="0" indent="0" algn="l">
              <a:lnSpc>
                <a:spcPct val="110000"/>
              </a:lnSpc>
              <a:buNone/>
            </a:pPr>
            <a:r>
              <a:rPr lang="zh-CN" altLang="en-US" sz="1400" b="1"/>
              <a:t>核心思想：</a:t>
            </a:r>
            <a:endParaRPr lang="zh-CN" altLang="en-US" sz="1600" b="1"/>
          </a:p>
          <a:p>
            <a:pPr algn="l">
              <a:lnSpc>
                <a:spcPct val="130000"/>
              </a:lnSpc>
            </a:pPr>
            <a:r>
              <a:rPr lang="zh-CN" altLang="en-US" sz="1200"/>
              <a:t>图结构本身蕴含足够对比信息</a:t>
            </a:r>
            <a:endParaRPr lang="zh-CN" altLang="en-US" sz="1200"/>
          </a:p>
          <a:p>
            <a:pPr algn="l">
              <a:lnSpc>
                <a:spcPct val="130000"/>
              </a:lnSpc>
            </a:pPr>
            <a:endParaRPr lang="zh-CN" altLang="en-US" sz="1200"/>
          </a:p>
          <a:p>
            <a:pPr marL="0" indent="0" algn="l">
              <a:lnSpc>
                <a:spcPct val="110000"/>
              </a:lnSpc>
              <a:buNone/>
            </a:pPr>
            <a:r>
              <a:rPr lang="zh-CN" altLang="en-US" sz="1400" b="1"/>
              <a:t>代表方法：</a:t>
            </a:r>
            <a:endParaRPr lang="zh-CN" altLang="en-US" sz="1400" b="1"/>
          </a:p>
          <a:p>
            <a:pPr algn="l">
              <a:lnSpc>
                <a:spcPct val="130000"/>
              </a:lnSpc>
              <a:buClrTx/>
              <a:buSzTx/>
            </a:pPr>
            <a:r>
              <a:rPr lang="en-US" altLang="zh-CN" sz="1200"/>
              <a:t>SGRL</a:t>
            </a:r>
            <a:r>
              <a:rPr lang="zh-CN" altLang="en-US" sz="1200"/>
              <a:t>（表示散射）</a:t>
            </a:r>
            <a:endParaRPr lang="en-US" altLang="zh-CN" sz="1200"/>
          </a:p>
          <a:p>
            <a:pPr algn="l">
              <a:lnSpc>
                <a:spcPct val="130000"/>
              </a:lnSpc>
              <a:buClrTx/>
              <a:buSzTx/>
            </a:pPr>
            <a:r>
              <a:rPr lang="en-US" altLang="zh-CN" sz="1200"/>
              <a:t>GRAND</a:t>
            </a:r>
            <a:r>
              <a:rPr lang="zh-CN" altLang="en-US" sz="1200"/>
              <a:t>（扩散与随机平滑）</a:t>
            </a:r>
            <a:endParaRPr lang="en-US" altLang="zh-CN" sz="1200"/>
          </a:p>
          <a:p>
            <a:pPr algn="l">
              <a:lnSpc>
                <a:spcPct val="130000"/>
              </a:lnSpc>
              <a:buClrTx/>
              <a:buSzTx/>
            </a:pPr>
            <a:r>
              <a:rPr lang="zh-CN" altLang="en-US" sz="1200"/>
              <a:t>子图级对比方法</a:t>
            </a:r>
            <a:endParaRPr lang="zh-CN" altLang="en-US" sz="1200"/>
          </a:p>
          <a:p>
            <a:pPr marL="0" indent="0" algn="l">
              <a:lnSpc>
                <a:spcPct val="130000"/>
              </a:lnSpc>
              <a:buClrTx/>
              <a:buSzTx/>
              <a:buNone/>
            </a:pPr>
            <a:r>
              <a:rPr lang="zh-CN" altLang="en-US" sz="1200" b="1">
                <a:solidFill>
                  <a:srgbClr val="4864FC"/>
                </a:solidFill>
                <a:sym typeface="+mn-ea"/>
              </a:rPr>
              <a:t>👉</a:t>
            </a:r>
            <a:r>
              <a:rPr lang="en-US" altLang="zh-CN" sz="1200" b="1">
                <a:solidFill>
                  <a:srgbClr val="4864FC"/>
                </a:solidFill>
                <a:sym typeface="+mn-ea"/>
              </a:rPr>
              <a:t xml:space="preserve"> </a:t>
            </a:r>
            <a:r>
              <a:rPr lang="zh-CN" altLang="en-US" sz="1200"/>
              <a:t>GCL 正在从“增强设计”转向“结构过程建模”</a:t>
            </a:r>
            <a:endParaRPr lang="zh-CN" altLang="en-US"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3" descr="图片2.emf"/>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599696" y="315142"/>
            <a:ext cx="2308084" cy="543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单圆角矩形 6"/>
          <p:cNvSpPr/>
          <p:nvPr/>
        </p:nvSpPr>
        <p:spPr>
          <a:xfrm>
            <a:off x="0" y="314960"/>
            <a:ext cx="6316980" cy="530860"/>
          </a:xfrm>
          <a:prstGeom prst="round1Rect">
            <a:avLst/>
          </a:prstGeom>
          <a:noFill/>
          <a:ln>
            <a:noFill/>
          </a:ln>
          <a:extLst>
            <a:ext uri="{909E8E84-426E-40DD-AFC4-6F175D3DCCD1}">
              <a14:hiddenFill xmlns:a14="http://schemas.microsoft.com/office/drawing/2010/main">
                <a:solidFill>
                  <a:srgbClr val="4864FC"/>
                </a:solidFill>
              </a14:hiddenFill>
            </a:ext>
          </a:extLst>
        </p:spPr>
        <p:style>
          <a:lnRef idx="3">
            <a:schemeClr val="accent1"/>
          </a:lnRef>
          <a:fillRef idx="0">
            <a:srgbClr val="FFFFFF"/>
          </a:fillRef>
          <a:effectRef idx="0">
            <a:srgbClr val="FFFFFF"/>
          </a:effectRef>
          <a:fontRef idx="minor">
            <a:schemeClr val="tx1"/>
          </a:fontRef>
        </p:style>
        <p:txBody>
          <a:bodyPr/>
          <a:p>
            <a:pPr algn="l" defTabSz="914400">
              <a:lnSpc>
                <a:spcPct val="100000"/>
              </a:lnSpc>
              <a:buClrTx/>
              <a:buSzTx/>
              <a:buFontTx/>
            </a:pPr>
            <a:r>
              <a:rPr lang="zh-CN" altLang="en-US" sz="2400" b="1">
                <a:solidFill>
                  <a:srgbClr val="1F40B8"/>
                </a:solidFill>
                <a:latin typeface="微软雅黑" panose="020B0503020204020204" charset="-122"/>
                <a:ea typeface="微软雅黑" panose="020B0503020204020204" charset="-122"/>
                <a:cs typeface="微软雅黑" panose="020B0503020204020204" charset="-122"/>
              </a:rPr>
              <a:t>二、研究现状：现有方法</a:t>
            </a:r>
            <a:r>
              <a:rPr lang="zh-CN" altLang="en-US" sz="2400" b="1">
                <a:solidFill>
                  <a:srgbClr val="1F40B8"/>
                </a:solidFill>
                <a:latin typeface="微软雅黑" panose="020B0503020204020204" charset="-122"/>
                <a:ea typeface="微软雅黑" panose="020B0503020204020204" charset="-122"/>
                <a:cs typeface="微软雅黑" panose="020B0503020204020204" charset="-122"/>
              </a:rPr>
              <a:t>不足</a:t>
            </a:r>
            <a:endParaRPr lang="zh-CN" altLang="en-US" sz="2400" b="1">
              <a:solidFill>
                <a:srgbClr val="1F40B8"/>
              </a:solidFill>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491490" y="1395095"/>
            <a:ext cx="8228965" cy="368300"/>
          </a:xfrm>
          <a:prstGeom prst="rect">
            <a:avLst/>
          </a:prstGeom>
          <a:noFill/>
        </p:spPr>
        <p:txBody>
          <a:bodyPr wrap="square" rtlCol="0">
            <a:spAutoFit/>
          </a:bodyPr>
          <a:p>
            <a:r>
              <a:rPr lang="zh-CN" altLang="en-US"/>
              <a:t>现有的</a:t>
            </a:r>
            <a:r>
              <a:rPr lang="en-US" altLang="zh-CN"/>
              <a:t>GCL</a:t>
            </a:r>
            <a:r>
              <a:rPr lang="zh-CN" altLang="en-US"/>
              <a:t>方法主要集中于：</a:t>
            </a:r>
            <a:r>
              <a:rPr lang="zh-CN" altLang="en-US" b="1"/>
              <a:t>节点级、边级、局部领域级</a:t>
            </a:r>
            <a:r>
              <a:rPr lang="zh-CN" altLang="en-US"/>
              <a:t>。但仍存在一些问题：</a:t>
            </a:r>
            <a:endParaRPr lang="zh-CN" altLang="en-US"/>
          </a:p>
        </p:txBody>
      </p:sp>
      <p:sp>
        <p:nvSpPr>
          <p:cNvPr id="9" name="文本框 8"/>
          <p:cNvSpPr txBox="1"/>
          <p:nvPr/>
        </p:nvSpPr>
        <p:spPr>
          <a:xfrm>
            <a:off x="691515" y="2042795"/>
            <a:ext cx="7460615" cy="4133215"/>
          </a:xfrm>
          <a:prstGeom prst="rect">
            <a:avLst/>
          </a:prstGeom>
          <a:noFill/>
          <a:ln>
            <a:solidFill>
              <a:schemeClr val="accent4">
                <a:lumMod val="20000"/>
                <a:lumOff val="80000"/>
              </a:schemeClr>
            </a:solidFill>
          </a:ln>
          <a:extLst>
            <a:ext uri="{909E8E84-426E-40DD-AFC4-6F175D3DCCD1}">
              <a14:hiddenFill xmlns:a14="http://schemas.microsoft.com/office/drawing/2010/main">
                <a:solidFill>
                  <a:schemeClr val="accent4">
                    <a:lumMod val="20000"/>
                    <a:lumOff val="80000"/>
                  </a:schemeClr>
                </a:solidFill>
              </a14:hiddenFill>
            </a:ext>
          </a:extLst>
        </p:spPr>
        <p:txBody>
          <a:bodyPr wrap="square" rtlCol="0">
            <a:spAutoFit/>
          </a:bodyPr>
          <a:p>
            <a:r>
              <a:rPr lang="zh-CN" altLang="en-US" b="1">
                <a:solidFill>
                  <a:srgbClr val="0000FF"/>
                </a:solidFill>
              </a:rPr>
              <a:t>难以显式刻画：</a:t>
            </a:r>
            <a:endParaRPr lang="zh-CN" altLang="en-US" b="1">
              <a:solidFill>
                <a:srgbClr val="0000FF"/>
              </a:solidFill>
            </a:endParaRPr>
          </a:p>
          <a:p>
            <a:pPr marL="285750" indent="-285750">
              <a:lnSpc>
                <a:spcPct val="120000"/>
              </a:lnSpc>
              <a:buFont typeface="Arial" panose="020B0604020202020204" pitchFamily="34" charset="0"/>
              <a:buChar char="•"/>
            </a:pPr>
            <a:r>
              <a:rPr lang="zh-CN" altLang="en-US"/>
              <a:t>社区结构</a:t>
            </a:r>
            <a:endParaRPr lang="en-US" altLang="zh-CN"/>
          </a:p>
          <a:p>
            <a:pPr marL="285750" indent="-285750">
              <a:lnSpc>
                <a:spcPct val="120000"/>
              </a:lnSpc>
              <a:buFont typeface="Arial" panose="020B0604020202020204" pitchFamily="34" charset="0"/>
              <a:buChar char="•"/>
            </a:pPr>
            <a:r>
              <a:rPr lang="zh-CN" altLang="en-US"/>
              <a:t>高阶语义区域</a:t>
            </a:r>
            <a:endParaRPr lang="en-US" altLang="zh-CN"/>
          </a:p>
          <a:p>
            <a:pPr marL="285750" indent="-285750">
              <a:lnSpc>
                <a:spcPct val="120000"/>
              </a:lnSpc>
              <a:buFont typeface="Arial" panose="020B0604020202020204" pitchFamily="34" charset="0"/>
              <a:buChar char="•"/>
            </a:pPr>
            <a:r>
              <a:rPr lang="zh-CN" altLang="en-US"/>
              <a:t>图的宏观组织形态</a:t>
            </a:r>
            <a:endParaRPr lang="zh-CN" altLang="en-US"/>
          </a:p>
          <a:p>
            <a:endParaRPr lang="en-US" altLang="zh-CN"/>
          </a:p>
          <a:p>
            <a:r>
              <a:rPr lang="zh-CN" altLang="en-US" b="1">
                <a:solidFill>
                  <a:srgbClr val="0000FF"/>
                </a:solidFill>
              </a:rPr>
              <a:t>无增强方法虽然减少噪声，但：</a:t>
            </a:r>
            <a:endParaRPr lang="en-US" altLang="zh-CN" b="1">
              <a:solidFill>
                <a:srgbClr val="0000FF"/>
              </a:solidFill>
            </a:endParaRPr>
          </a:p>
          <a:p>
            <a:pPr marL="285750" indent="-285750">
              <a:lnSpc>
                <a:spcPct val="120000"/>
              </a:lnSpc>
              <a:buFont typeface="Arial" panose="020B0604020202020204" pitchFamily="34" charset="0"/>
              <a:buChar char="•"/>
            </a:pPr>
            <a:r>
              <a:rPr lang="zh-CN" altLang="en-US"/>
              <a:t>视图差异往往是隐式的</a:t>
            </a:r>
            <a:endParaRPr lang="en-US" altLang="zh-CN"/>
          </a:p>
          <a:p>
            <a:pPr marL="285750" indent="-285750">
              <a:lnSpc>
                <a:spcPct val="120000"/>
              </a:lnSpc>
              <a:buFont typeface="Arial" panose="020B0604020202020204" pitchFamily="34" charset="0"/>
              <a:buChar char="•"/>
            </a:pPr>
            <a:r>
              <a:rPr lang="zh-CN" altLang="en-US"/>
              <a:t>缺乏中层结构组织</a:t>
            </a:r>
            <a:endParaRPr lang="en-US" altLang="zh-CN"/>
          </a:p>
          <a:p>
            <a:pPr marL="285750" indent="-285750">
              <a:lnSpc>
                <a:spcPct val="120000"/>
              </a:lnSpc>
              <a:buFont typeface="Arial" panose="020B0604020202020204" pitchFamily="34" charset="0"/>
              <a:buChar char="•"/>
            </a:pPr>
            <a:r>
              <a:rPr lang="zh-CN" altLang="en-US"/>
              <a:t>可解释性不足</a:t>
            </a:r>
            <a:endParaRPr lang="zh-CN" altLang="en-US"/>
          </a:p>
          <a:p>
            <a:endParaRPr lang="en-US" altLang="zh-CN"/>
          </a:p>
          <a:p>
            <a:pPr algn="l">
              <a:buClrTx/>
              <a:buSzTx/>
              <a:buFontTx/>
            </a:pPr>
            <a:r>
              <a:rPr lang="zh-CN" altLang="en-US" b="1">
                <a:solidFill>
                  <a:srgbClr val="0000FF"/>
                </a:solidFill>
              </a:rPr>
              <a:t>图结构天然具有多尺度特性，但现有方法：</a:t>
            </a:r>
            <a:endParaRPr lang="zh-CN" altLang="en-US" b="1">
              <a:solidFill>
                <a:srgbClr val="0000FF"/>
              </a:solidFill>
            </a:endParaRPr>
          </a:p>
          <a:p>
            <a:pPr marL="285750" indent="-285750">
              <a:lnSpc>
                <a:spcPct val="120000"/>
              </a:lnSpc>
              <a:buFont typeface="Arial" panose="020B0604020202020204" pitchFamily="34" charset="0"/>
              <a:buChar char="•"/>
            </a:pPr>
            <a:r>
              <a:rPr lang="zh-CN" altLang="en-US"/>
              <a:t>多在单一尺度建模</a:t>
            </a:r>
            <a:endParaRPr lang="en-US" altLang="zh-CN"/>
          </a:p>
          <a:p>
            <a:pPr marL="285750" indent="-285750">
              <a:lnSpc>
                <a:spcPct val="120000"/>
              </a:lnSpc>
              <a:buFont typeface="Arial" panose="020B0604020202020204" pitchFamily="34" charset="0"/>
              <a:buChar char="•"/>
            </a:pPr>
            <a:r>
              <a:rPr lang="zh-CN" altLang="en-US"/>
              <a:t>难以兼顾局部与全局</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图片2.emf"/>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599696" y="315142"/>
            <a:ext cx="2308084" cy="543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单圆角矩形 7"/>
          <p:cNvSpPr/>
          <p:nvPr/>
        </p:nvSpPr>
        <p:spPr>
          <a:xfrm>
            <a:off x="0" y="314960"/>
            <a:ext cx="6316980" cy="530860"/>
          </a:xfrm>
          <a:prstGeom prst="round1Rect">
            <a:avLst/>
          </a:prstGeom>
          <a:noFill/>
          <a:ln>
            <a:noFill/>
          </a:ln>
          <a:extLst>
            <a:ext uri="{909E8E84-426E-40DD-AFC4-6F175D3DCCD1}">
              <a14:hiddenFill xmlns:a14="http://schemas.microsoft.com/office/drawing/2010/main">
                <a:solidFill>
                  <a:srgbClr val="4864FC"/>
                </a:solidFill>
              </a14:hiddenFill>
            </a:ext>
          </a:extLst>
        </p:spPr>
        <p:style>
          <a:lnRef idx="3">
            <a:schemeClr val="accent1"/>
          </a:lnRef>
          <a:fillRef idx="0">
            <a:srgbClr val="FFFFFF"/>
          </a:fillRef>
          <a:effectRef idx="0">
            <a:srgbClr val="FFFFFF"/>
          </a:effectRef>
          <a:fontRef idx="minor">
            <a:schemeClr val="tx1"/>
          </a:fontRef>
        </p:style>
        <p:txBody>
          <a:bodyPr/>
          <a:p>
            <a:pPr algn="l" defTabSz="914400">
              <a:lnSpc>
                <a:spcPct val="100000"/>
              </a:lnSpc>
              <a:buClrTx/>
              <a:buSzTx/>
              <a:buFontTx/>
            </a:pPr>
            <a:r>
              <a:rPr lang="zh-CN" altLang="en-US" sz="2400" b="1">
                <a:solidFill>
                  <a:srgbClr val="1F40B8"/>
                </a:solidFill>
                <a:latin typeface="微软雅黑" panose="020B0503020204020204" charset="-122"/>
                <a:ea typeface="微软雅黑" panose="020B0503020204020204" charset="-122"/>
                <a:cs typeface="微软雅黑" panose="020B0503020204020204" charset="-122"/>
              </a:rPr>
              <a:t>三、研究思路</a:t>
            </a:r>
            <a:r>
              <a:rPr lang="zh-CN" altLang="en-US" sz="2400" b="1">
                <a:solidFill>
                  <a:srgbClr val="1F40B8"/>
                </a:solidFill>
                <a:latin typeface="微软雅黑" panose="020B0503020204020204" charset="-122"/>
                <a:ea typeface="微软雅黑" panose="020B0503020204020204" charset="-122"/>
                <a:cs typeface="微软雅黑" panose="020B0503020204020204" charset="-122"/>
                <a:sym typeface="+mn-ea"/>
              </a:rPr>
              <a:t>及方法</a:t>
            </a:r>
            <a:r>
              <a:rPr lang="zh-CN" altLang="en-US" sz="2400" b="1">
                <a:solidFill>
                  <a:srgbClr val="1F40B8"/>
                </a:solidFill>
                <a:latin typeface="微软雅黑" panose="020B0503020204020204" charset="-122"/>
                <a:ea typeface="微软雅黑" panose="020B0503020204020204" charset="-122"/>
                <a:cs typeface="微软雅黑" panose="020B0503020204020204" charset="-122"/>
              </a:rPr>
              <a:t>：粒球扩散的引入动机</a:t>
            </a:r>
            <a:endParaRPr lang="zh-CN" altLang="en-US" sz="2400" b="1">
              <a:solidFill>
                <a:srgbClr val="1F40B8"/>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345440" y="1066800"/>
            <a:ext cx="8045450" cy="3438525"/>
          </a:xfrm>
          <a:prstGeom prst="rect">
            <a:avLst/>
          </a:prstGeom>
          <a:noFill/>
        </p:spPr>
        <p:txBody>
          <a:bodyPr wrap="square" rtlCol="0">
            <a:spAutoFit/>
          </a:bodyPr>
          <a:p>
            <a:r>
              <a:rPr lang="zh-CN" altLang="en-US" sz="1600"/>
              <a:t>现有无增强对比学习（如</a:t>
            </a:r>
            <a:r>
              <a:rPr lang="en-US" altLang="zh-CN" sz="1600"/>
              <a:t>SGRL,GRAND</a:t>
            </a:r>
            <a:r>
              <a:rPr lang="zh-CN" altLang="en-US" sz="1600"/>
              <a:t>）均通过</a:t>
            </a:r>
            <a:r>
              <a:rPr lang="zh-CN" altLang="en-US" sz="1600" b="1"/>
              <a:t>扩散或平滑</a:t>
            </a:r>
            <a:r>
              <a:rPr lang="zh-CN" altLang="en-US" sz="1600"/>
              <a:t>过程，在不引入随即增强的情况下构造多视图，但由于其限制在</a:t>
            </a:r>
            <a:r>
              <a:rPr lang="zh-CN" altLang="en-US" sz="1600" b="1"/>
              <a:t>节点级表示空间</a:t>
            </a:r>
            <a:r>
              <a:rPr lang="zh-CN" altLang="en-US" sz="1600"/>
              <a:t>，这带来了三个</a:t>
            </a:r>
            <a:r>
              <a:rPr lang="zh-CN" altLang="en-US" sz="1600"/>
              <a:t>问题：</a:t>
            </a:r>
            <a:endParaRPr lang="zh-CN" altLang="en-US" sz="1600"/>
          </a:p>
          <a:p>
            <a:pPr marL="342900" indent="-342900">
              <a:lnSpc>
                <a:spcPct val="120000"/>
              </a:lnSpc>
              <a:buAutoNum type="arabicPeriod"/>
            </a:pPr>
            <a:r>
              <a:rPr lang="zh-CN" altLang="en-US" sz="1600"/>
              <a:t>节点扩散是</a:t>
            </a:r>
            <a:r>
              <a:rPr lang="en-US" altLang="zh-CN" sz="1600"/>
              <a:t>“</a:t>
            </a:r>
            <a:r>
              <a:rPr lang="zh-CN" altLang="en-US" sz="1600"/>
              <a:t>局部连续</a:t>
            </a:r>
            <a:r>
              <a:rPr lang="en-US" altLang="zh-CN" sz="1600"/>
              <a:t>”</a:t>
            </a:r>
            <a:r>
              <a:rPr lang="zh-CN" altLang="en-US" sz="1600"/>
              <a:t>的，缺乏结构重组能力</a:t>
            </a:r>
            <a:endParaRPr lang="zh-CN" altLang="en-US" sz="1600"/>
          </a:p>
          <a:p>
            <a:pPr marL="342900" indent="-342900">
              <a:lnSpc>
                <a:spcPct val="120000"/>
              </a:lnSpc>
              <a:buAutoNum type="arabicPeriod"/>
            </a:pPr>
            <a:r>
              <a:rPr lang="zh-CN" altLang="en-US" sz="1600"/>
              <a:t>散射现象存在，但缺乏</a:t>
            </a:r>
            <a:r>
              <a:rPr lang="en-US" altLang="zh-CN" sz="1600"/>
              <a:t>“</a:t>
            </a:r>
            <a:r>
              <a:rPr lang="zh-CN" altLang="en-US" sz="1600"/>
              <a:t>结构容器</a:t>
            </a:r>
            <a:r>
              <a:rPr lang="en-US" altLang="zh-CN" sz="1600"/>
              <a:t>”</a:t>
            </a:r>
            <a:endParaRPr lang="en-US" altLang="zh-CN" sz="1600"/>
          </a:p>
          <a:p>
            <a:pPr marL="342900" indent="-342900">
              <a:lnSpc>
                <a:spcPct val="120000"/>
              </a:lnSpc>
              <a:buAutoNum type="arabicPeriod"/>
            </a:pPr>
            <a:r>
              <a:rPr lang="zh-CN" altLang="en-US" sz="1600"/>
              <a:t>节点级扩散难以表达高阶语义区域</a:t>
            </a:r>
            <a:endParaRPr lang="zh-CN" altLang="en-US" sz="1600"/>
          </a:p>
          <a:p>
            <a:pPr indent="0">
              <a:buNone/>
            </a:pPr>
            <a:endParaRPr lang="zh-CN" altLang="en-US" sz="1600"/>
          </a:p>
          <a:p>
            <a:pPr indent="0">
              <a:buNone/>
            </a:pPr>
            <a:r>
              <a:rPr lang="zh-CN" altLang="en-US" sz="1600" b="1"/>
              <a:t>粒球扩散具备三个关键属性：</a:t>
            </a:r>
            <a:endParaRPr lang="zh-CN" altLang="en-US" sz="1600"/>
          </a:p>
          <a:p>
            <a:pPr marL="285750" indent="-285750">
              <a:buFont typeface="Arial" panose="020B0604020202020204" pitchFamily="34" charset="0"/>
              <a:buChar char="•"/>
            </a:pPr>
            <a:r>
              <a:rPr lang="zh-CN" altLang="en-US" sz="1600"/>
              <a:t>不依赖随机扰动</a:t>
            </a:r>
            <a:endParaRPr lang="zh-CN" altLang="en-US" sz="1600"/>
          </a:p>
          <a:p>
            <a:pPr marL="285750" indent="-285750">
              <a:buFont typeface="Arial" panose="020B0604020202020204" pitchFamily="34" charset="0"/>
              <a:buChar char="•"/>
            </a:pPr>
            <a:r>
              <a:rPr lang="zh-CN" altLang="en-US" sz="1600"/>
              <a:t>视图来源于结构演化过程</a:t>
            </a:r>
            <a:endParaRPr lang="zh-CN" altLang="en-US" sz="1600"/>
          </a:p>
          <a:p>
            <a:pPr marL="285750" indent="-285750">
              <a:buFont typeface="Arial" panose="020B0604020202020204" pitchFamily="34" charset="0"/>
              <a:buChar char="•"/>
            </a:pPr>
            <a:r>
              <a:rPr lang="zh-CN" altLang="en-US" sz="1600"/>
              <a:t>多尺度由扩散步数与粒球层级自然形成</a:t>
            </a:r>
            <a:endParaRPr lang="zh-CN" altLang="en-US" sz="1600"/>
          </a:p>
          <a:p>
            <a:pPr marL="285750" indent="-285750">
              <a:buFont typeface="Arial" panose="020B0604020202020204" pitchFamily="34" charset="0"/>
              <a:buChar char="•"/>
            </a:pPr>
            <a:endParaRPr lang="zh-CN" altLang="en-US" sz="1600"/>
          </a:p>
          <a:p>
            <a:pPr indent="0">
              <a:buNone/>
            </a:pPr>
            <a:r>
              <a:rPr lang="zh-CN" altLang="en-US" sz="1600" b="1"/>
              <a:t>粒球扩散的引入</a:t>
            </a:r>
            <a:r>
              <a:rPr lang="zh-CN" altLang="en-US" sz="1600"/>
              <a:t>为无增强图对比学习提供一种</a:t>
            </a:r>
            <a:r>
              <a:rPr lang="en-US" altLang="zh-CN" sz="1600"/>
              <a:t>“</a:t>
            </a:r>
            <a:r>
              <a:rPr lang="zh-CN" altLang="en-US" sz="1600" i="1" u="sng"/>
              <a:t>显式的、多粒度的结构扩散载体</a:t>
            </a:r>
            <a:r>
              <a:rPr lang="en-US" altLang="zh-CN" sz="1600"/>
              <a:t>”</a:t>
            </a:r>
            <a:r>
              <a:rPr lang="zh-CN" altLang="en-US" sz="1600"/>
              <a:t>，</a:t>
            </a:r>
            <a:endParaRPr lang="zh-CN" altLang="en-US" sz="1600"/>
          </a:p>
          <a:p>
            <a:pPr indent="0">
              <a:buNone/>
            </a:pPr>
            <a:r>
              <a:rPr lang="zh-CN" altLang="en-US" sz="1600"/>
              <a:t>从而弥补节点级扩散在结构组织与语义表达上的不足</a:t>
            </a:r>
            <a:endParaRPr lang="zh-CN" altLang="en-US" sz="1600"/>
          </a:p>
        </p:txBody>
      </p:sp>
      <p:sp>
        <p:nvSpPr>
          <p:cNvPr id="12" name="椭圆 11"/>
          <p:cNvSpPr/>
          <p:nvPr/>
        </p:nvSpPr>
        <p:spPr>
          <a:xfrm>
            <a:off x="662940" y="5368925"/>
            <a:ext cx="1504950" cy="1358900"/>
          </a:xfrm>
          <a:prstGeom prst="ellipse">
            <a:avLst/>
          </a:prstGeom>
        </p:spPr>
        <p:style>
          <a:lnRef idx="1">
            <a:schemeClr val="accent1"/>
          </a:lnRef>
          <a:fillRef idx="3">
            <a:schemeClr val="accent1"/>
          </a:fillRef>
          <a:effectRef idx="2">
            <a:schemeClr val="accent1"/>
          </a:effectRef>
          <a:fontRef idx="minor">
            <a:schemeClr val="lt1"/>
          </a:fontRef>
        </p:style>
        <p:txBody>
          <a:bodyPr/>
          <a:p>
            <a:pPr algn="ctr"/>
            <a:r>
              <a:rPr lang="zh-CN" altLang="en-US" sz="1400">
                <a:solidFill>
                  <a:schemeClr val="tx1"/>
                </a:solidFill>
              </a:rPr>
              <a:t>粒球天然是</a:t>
            </a:r>
            <a:r>
              <a:rPr lang="en-US" altLang="zh-CN" sz="1400">
                <a:solidFill>
                  <a:schemeClr val="tx1"/>
                </a:solidFill>
              </a:rPr>
              <a:t>“</a:t>
            </a:r>
            <a:r>
              <a:rPr lang="zh-CN" altLang="en-US" sz="1400">
                <a:solidFill>
                  <a:schemeClr val="tx1"/>
                </a:solidFill>
              </a:rPr>
              <a:t>语义区域</a:t>
            </a:r>
            <a:r>
              <a:rPr lang="en-US" altLang="zh-CN" sz="1400">
                <a:solidFill>
                  <a:schemeClr val="tx1"/>
                </a:solidFill>
              </a:rPr>
              <a:t>”</a:t>
            </a:r>
            <a:r>
              <a:rPr lang="zh-CN" altLang="en-US" sz="1400">
                <a:solidFill>
                  <a:schemeClr val="tx1"/>
                </a:solidFill>
              </a:rPr>
              <a:t>的建模方式</a:t>
            </a:r>
            <a:endParaRPr lang="zh-CN" altLang="en-US" sz="1400">
              <a:solidFill>
                <a:schemeClr val="tx1"/>
              </a:solidFill>
            </a:endParaRPr>
          </a:p>
        </p:txBody>
      </p:sp>
      <p:sp>
        <p:nvSpPr>
          <p:cNvPr id="13" name="椭圆 12"/>
          <p:cNvSpPr/>
          <p:nvPr/>
        </p:nvSpPr>
        <p:spPr>
          <a:xfrm>
            <a:off x="3666490" y="5368925"/>
            <a:ext cx="1504950" cy="1358900"/>
          </a:xfrm>
          <a:prstGeom prst="ellipse">
            <a:avLst/>
          </a:prstGeom>
        </p:spPr>
        <p:style>
          <a:lnRef idx="1">
            <a:schemeClr val="accent1"/>
          </a:lnRef>
          <a:fillRef idx="3">
            <a:schemeClr val="accent1"/>
          </a:fillRef>
          <a:effectRef idx="2">
            <a:schemeClr val="accent1"/>
          </a:effectRef>
          <a:fontRef idx="minor">
            <a:schemeClr val="lt1"/>
          </a:fontRef>
        </p:style>
        <p:txBody>
          <a:bodyPr/>
          <a:p>
            <a:pPr algn="ctr"/>
            <a:r>
              <a:rPr lang="zh-CN" altLang="en-US" sz="1400">
                <a:solidFill>
                  <a:schemeClr val="tx1"/>
                </a:solidFill>
              </a:rPr>
              <a:t>粒球为</a:t>
            </a:r>
            <a:r>
              <a:rPr lang="en-US" altLang="zh-CN" sz="1400">
                <a:solidFill>
                  <a:schemeClr val="tx1"/>
                </a:solidFill>
              </a:rPr>
              <a:t>“</a:t>
            </a:r>
            <a:r>
              <a:rPr lang="zh-CN" altLang="en-US" sz="1400">
                <a:solidFill>
                  <a:schemeClr val="tx1"/>
                </a:solidFill>
              </a:rPr>
              <a:t>散射现象</a:t>
            </a:r>
            <a:r>
              <a:rPr lang="en-US" altLang="zh-CN" sz="1400">
                <a:solidFill>
                  <a:schemeClr val="tx1"/>
                </a:solidFill>
              </a:rPr>
              <a:t>”</a:t>
            </a:r>
            <a:r>
              <a:rPr lang="zh-CN" altLang="en-US" sz="1400">
                <a:solidFill>
                  <a:schemeClr val="tx1"/>
                </a:solidFill>
              </a:rPr>
              <a:t>提供结构承载体</a:t>
            </a:r>
            <a:endParaRPr lang="zh-CN" altLang="en-US" sz="1400">
              <a:solidFill>
                <a:schemeClr val="tx1"/>
              </a:solidFill>
            </a:endParaRPr>
          </a:p>
        </p:txBody>
      </p:sp>
      <p:sp>
        <p:nvSpPr>
          <p:cNvPr id="15" name="椭圆 14"/>
          <p:cNvSpPr/>
          <p:nvPr/>
        </p:nvSpPr>
        <p:spPr>
          <a:xfrm>
            <a:off x="6435090" y="5368925"/>
            <a:ext cx="1504950" cy="1358900"/>
          </a:xfrm>
          <a:prstGeom prst="ellipse">
            <a:avLst/>
          </a:prstGeom>
        </p:spPr>
        <p:style>
          <a:lnRef idx="1">
            <a:schemeClr val="accent1"/>
          </a:lnRef>
          <a:fillRef idx="3">
            <a:schemeClr val="accent1"/>
          </a:fillRef>
          <a:effectRef idx="2">
            <a:schemeClr val="accent1"/>
          </a:effectRef>
          <a:fontRef idx="minor">
            <a:schemeClr val="lt1"/>
          </a:fontRef>
        </p:style>
        <p:txBody>
          <a:bodyPr/>
          <a:p>
            <a:pPr algn="ctr"/>
            <a:r>
              <a:rPr lang="zh-CN" altLang="en-US" sz="1400">
                <a:solidFill>
                  <a:schemeClr val="tx1"/>
                </a:solidFill>
                <a:sym typeface="+mn-ea"/>
              </a:rPr>
              <a:t>粒球</a:t>
            </a:r>
            <a:r>
              <a:rPr lang="zh-CN" altLang="en-US" sz="1400">
                <a:solidFill>
                  <a:schemeClr val="tx1"/>
                </a:solidFill>
              </a:rPr>
              <a:t>增强了</a:t>
            </a:r>
            <a:r>
              <a:rPr lang="en-US" altLang="zh-CN" sz="1400">
                <a:solidFill>
                  <a:schemeClr val="tx1"/>
                </a:solidFill>
              </a:rPr>
              <a:t>GCL</a:t>
            </a:r>
            <a:r>
              <a:rPr lang="zh-CN" altLang="en-US" sz="1400">
                <a:solidFill>
                  <a:schemeClr val="tx1"/>
                </a:solidFill>
              </a:rPr>
              <a:t>的稳定性与鲁棒性</a:t>
            </a:r>
            <a:endParaRPr lang="zh-CN" altLang="en-US" sz="1400">
              <a:solidFill>
                <a:schemeClr val="tx1"/>
              </a:solidFill>
            </a:endParaRPr>
          </a:p>
        </p:txBody>
      </p:sp>
      <p:cxnSp>
        <p:nvCxnSpPr>
          <p:cNvPr id="16" name="曲线连接符 15"/>
          <p:cNvCxnSpPr>
            <a:stCxn id="10" idx="2"/>
          </p:cNvCxnSpPr>
          <p:nvPr/>
        </p:nvCxnSpPr>
        <p:spPr>
          <a:xfrm rot="5400000">
            <a:off x="2480310" y="3481070"/>
            <a:ext cx="863600" cy="2911475"/>
          </a:xfrm>
          <a:prstGeom prst="curved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7" name="曲线连接符 16"/>
          <p:cNvCxnSpPr>
            <a:stCxn id="10" idx="2"/>
          </p:cNvCxnSpPr>
          <p:nvPr/>
        </p:nvCxnSpPr>
        <p:spPr>
          <a:xfrm rot="5400000">
            <a:off x="3874135" y="4874895"/>
            <a:ext cx="863600" cy="123825"/>
          </a:xfrm>
          <a:prstGeom prst="curvedConnector3">
            <a:avLst>
              <a:gd name="adj1" fmla="val 49963"/>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曲线连接符 17"/>
          <p:cNvCxnSpPr/>
          <p:nvPr/>
        </p:nvCxnSpPr>
        <p:spPr>
          <a:xfrm>
            <a:off x="4368165" y="4505325"/>
            <a:ext cx="2657475" cy="863600"/>
          </a:xfrm>
          <a:prstGeom prst="curvedConnector3">
            <a:avLst>
              <a:gd name="adj1" fmla="val 50012"/>
            </a:avLst>
          </a:prstGeom>
          <a:ln>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图片2.emf"/>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599696" y="315142"/>
            <a:ext cx="2308084" cy="543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单圆角矩形 7"/>
          <p:cNvSpPr/>
          <p:nvPr/>
        </p:nvSpPr>
        <p:spPr>
          <a:xfrm>
            <a:off x="0" y="314960"/>
            <a:ext cx="6941185" cy="530860"/>
          </a:xfrm>
          <a:prstGeom prst="round1Rect">
            <a:avLst/>
          </a:prstGeom>
          <a:noFill/>
          <a:ln>
            <a:noFill/>
          </a:ln>
          <a:extLst>
            <a:ext uri="{909E8E84-426E-40DD-AFC4-6F175D3DCCD1}">
              <a14:hiddenFill xmlns:a14="http://schemas.microsoft.com/office/drawing/2010/main">
                <a:solidFill>
                  <a:srgbClr val="4864FC"/>
                </a:solidFill>
              </a14:hiddenFill>
            </a:ext>
          </a:extLst>
        </p:spPr>
        <p:style>
          <a:lnRef idx="3">
            <a:schemeClr val="accent1"/>
          </a:lnRef>
          <a:fillRef idx="0">
            <a:srgbClr val="FFFFFF"/>
          </a:fillRef>
          <a:effectRef idx="0">
            <a:srgbClr val="FFFFFF"/>
          </a:effectRef>
          <a:fontRef idx="minor">
            <a:schemeClr val="tx1"/>
          </a:fontRef>
        </p:style>
        <p:txBody>
          <a:bodyPr/>
          <a:p>
            <a:pPr algn="l" defTabSz="914400">
              <a:lnSpc>
                <a:spcPct val="100000"/>
              </a:lnSpc>
              <a:buClrTx/>
              <a:buSzTx/>
              <a:buFontTx/>
            </a:pPr>
            <a:r>
              <a:rPr lang="zh-CN" altLang="en-US" sz="2400" b="1">
                <a:solidFill>
                  <a:srgbClr val="1F40B8"/>
                </a:solidFill>
                <a:latin typeface="微软雅黑" panose="020B0503020204020204" charset="-122"/>
                <a:ea typeface="微软雅黑" panose="020B0503020204020204" charset="-122"/>
                <a:cs typeface="微软雅黑" panose="020B0503020204020204" charset="-122"/>
              </a:rPr>
              <a:t>三、研究思路及</a:t>
            </a:r>
            <a:r>
              <a:rPr lang="zh-CN" altLang="en-US" sz="2400" b="1">
                <a:solidFill>
                  <a:srgbClr val="1F40B8"/>
                </a:solidFill>
                <a:latin typeface="微软雅黑" panose="020B0503020204020204" charset="-122"/>
                <a:ea typeface="微软雅黑" panose="020B0503020204020204" charset="-122"/>
                <a:cs typeface="微软雅黑" panose="020B0503020204020204" charset="-122"/>
              </a:rPr>
              <a:t>方法：基于粒球扩散的</a:t>
            </a:r>
            <a:r>
              <a:rPr lang="en-US" altLang="zh-CN" sz="2400" b="1">
                <a:solidFill>
                  <a:srgbClr val="1F40B8"/>
                </a:solidFill>
                <a:latin typeface="微软雅黑" panose="020B0503020204020204" charset="-122"/>
                <a:ea typeface="微软雅黑" panose="020B0503020204020204" charset="-122"/>
                <a:cs typeface="微软雅黑" panose="020B0503020204020204" charset="-122"/>
              </a:rPr>
              <a:t>GCL</a:t>
            </a:r>
            <a:r>
              <a:rPr lang="zh-CN" altLang="en-US" sz="2400" b="1">
                <a:solidFill>
                  <a:srgbClr val="1F40B8"/>
                </a:solidFill>
                <a:latin typeface="微软雅黑" panose="020B0503020204020204" charset="-122"/>
                <a:ea typeface="微软雅黑" panose="020B0503020204020204" charset="-122"/>
                <a:cs typeface="微软雅黑" panose="020B0503020204020204" charset="-122"/>
              </a:rPr>
              <a:t>框架</a:t>
            </a:r>
            <a:endParaRPr lang="zh-CN" altLang="en-US" sz="2400" b="1">
              <a:solidFill>
                <a:srgbClr val="1F40B8"/>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345440" y="1066800"/>
            <a:ext cx="8045450" cy="1322070"/>
          </a:xfrm>
          <a:prstGeom prst="rect">
            <a:avLst/>
          </a:prstGeom>
          <a:noFill/>
        </p:spPr>
        <p:txBody>
          <a:bodyPr wrap="square" rtlCol="0">
            <a:spAutoFit/>
          </a:bodyPr>
          <a:p>
            <a:r>
              <a:rPr lang="zh-CN" altLang="en-US" sz="1600"/>
              <a:t>本课题的核心研究思路是：在传统图对比学习的</a:t>
            </a:r>
            <a:r>
              <a:rPr lang="en-US" altLang="zh-CN" sz="1600"/>
              <a:t>“</a:t>
            </a:r>
            <a:r>
              <a:rPr lang="zh-CN" altLang="en-US" sz="1600" b="1"/>
              <a:t>节点</a:t>
            </a:r>
            <a:r>
              <a:rPr lang="en-US" altLang="zh-CN" sz="1600" b="1"/>
              <a:t>—</a:t>
            </a:r>
            <a:r>
              <a:rPr lang="zh-CN" altLang="en-US" sz="1600" b="1"/>
              <a:t>图</a:t>
            </a:r>
            <a:r>
              <a:rPr lang="en-US" altLang="zh-CN" sz="1600"/>
              <a:t>”</a:t>
            </a:r>
            <a:r>
              <a:rPr lang="zh-CN" altLang="en-US" sz="1600"/>
              <a:t>两层结构之间，引入粒球这一中层结构单元，以构建一种</a:t>
            </a:r>
            <a:r>
              <a:rPr lang="zh-CN" altLang="en-US" sz="1600" b="1"/>
              <a:t>多粒度、结构感知</a:t>
            </a:r>
            <a:r>
              <a:rPr lang="zh-CN" altLang="en-US" sz="1600"/>
              <a:t>的图对比学习框架。</a:t>
            </a:r>
            <a:endParaRPr lang="zh-CN" altLang="en-US" sz="1600"/>
          </a:p>
          <a:p>
            <a:endParaRPr lang="zh-CN" altLang="en-US" sz="1600"/>
          </a:p>
          <a:p>
            <a:pPr indent="0">
              <a:buNone/>
            </a:pPr>
            <a:r>
              <a:rPr lang="zh-CN" altLang="en-US" sz="1600"/>
              <a:t>粒球计算通过构建覆盖数据空间的球形区域，并利用分裂与扩散机制形成由粗到细的多尺度结构表达，具有天然的</a:t>
            </a:r>
            <a:r>
              <a:rPr lang="zh-CN" altLang="en-US" sz="1600" b="1"/>
              <a:t>区域建模与多粒度表达能力。</a:t>
            </a:r>
            <a:endParaRPr lang="zh-CN" altLang="en-US" sz="1600" b="1"/>
          </a:p>
        </p:txBody>
      </p:sp>
      <p:sp>
        <p:nvSpPr>
          <p:cNvPr id="2" name="文本框 1"/>
          <p:cNvSpPr txBox="1"/>
          <p:nvPr/>
        </p:nvSpPr>
        <p:spPr>
          <a:xfrm>
            <a:off x="345440" y="2597150"/>
            <a:ext cx="7639050" cy="2830195"/>
          </a:xfrm>
          <a:prstGeom prst="rect">
            <a:avLst/>
          </a:prstGeom>
          <a:noFill/>
        </p:spPr>
        <p:txBody>
          <a:bodyPr wrap="square" rtlCol="0">
            <a:spAutoFit/>
          </a:bodyPr>
          <a:p>
            <a:r>
              <a:rPr lang="zh-CN" altLang="en-US" sz="1600"/>
              <a:t>本课题将粒球从传统向量空间扩展至图结构场景，具体思路包括：</a:t>
            </a:r>
            <a:endParaRPr lang="zh-CN" altLang="en-US" sz="1600"/>
          </a:p>
          <a:p>
            <a:endParaRPr lang="en-US" altLang="zh-CN"/>
          </a:p>
          <a:p>
            <a:pPr marL="285750" indent="-285750">
              <a:buFont typeface="Arial" panose="020B0604020202020204" pitchFamily="34" charset="0"/>
              <a:buChar char="•"/>
            </a:pPr>
            <a:r>
              <a:rPr lang="zh-CN" altLang="en-US" sz="1400" i="1"/>
              <a:t>以节点嵌入为基础，在图中构建一组图粒球（</a:t>
            </a:r>
            <a:r>
              <a:rPr lang="en-US" altLang="zh-CN" sz="1400" i="1"/>
              <a:t>Graph Granular-Balls</a:t>
            </a:r>
            <a:r>
              <a:rPr lang="zh-CN" altLang="en-US" sz="1400" i="1"/>
              <a:t>），每个粒球表示一类结构与语义相对一致的节点集合；</a:t>
            </a:r>
            <a:endParaRPr lang="zh-CN" altLang="en-US" sz="1400" i="1"/>
          </a:p>
          <a:p>
            <a:pPr indent="0">
              <a:buFont typeface="Arial" panose="020B0604020202020204" pitchFamily="34" charset="0"/>
              <a:buNone/>
            </a:pPr>
            <a:endParaRPr lang="en-US" altLang="zh-CN" sz="1400" i="1"/>
          </a:p>
          <a:p>
            <a:pPr marL="285750" indent="-285750">
              <a:buFont typeface="Arial" panose="020B0604020202020204" pitchFamily="34" charset="0"/>
              <a:buChar char="•"/>
            </a:pPr>
            <a:r>
              <a:rPr lang="zh-CN" altLang="en-US" sz="1400" i="1"/>
              <a:t>将粒球视为图中的中层语义单元，使其成为节点与全图之间的桥梁；</a:t>
            </a:r>
            <a:endParaRPr lang="zh-CN" altLang="en-US" sz="1400" i="1"/>
          </a:p>
          <a:p>
            <a:pPr marL="285750" indent="-285750">
              <a:buFont typeface="Arial" panose="020B0604020202020204" pitchFamily="34" charset="0"/>
              <a:buChar char="•"/>
            </a:pPr>
            <a:endParaRPr lang="en-US" altLang="zh-CN" sz="1400" i="1"/>
          </a:p>
          <a:p>
            <a:pPr marL="285750" indent="-285750">
              <a:buFont typeface="Arial" panose="020B0604020202020204" pitchFamily="34" charset="0"/>
              <a:buChar char="•"/>
            </a:pPr>
            <a:r>
              <a:rPr lang="zh-CN" altLang="en-US" sz="1400" i="1"/>
              <a:t>通过粒球之间的关系建模与扩散过程，刻画图结构在更高层次上的语义演化。</a:t>
            </a:r>
            <a:endParaRPr lang="zh-CN" altLang="en-US" sz="1400" i="1"/>
          </a:p>
          <a:p>
            <a:pPr indent="0">
              <a:buFont typeface="Arial" panose="020B0604020202020204" pitchFamily="34" charset="0"/>
              <a:buNone/>
            </a:pPr>
            <a:endParaRPr lang="zh-CN" altLang="en-US" sz="1400" i="1"/>
          </a:p>
          <a:p>
            <a:pPr indent="0">
              <a:buFont typeface="Arial" panose="020B0604020202020204" pitchFamily="34" charset="0"/>
              <a:buNone/>
            </a:pPr>
            <a:endParaRPr lang="zh-CN" altLang="en-US" sz="1400" i="1"/>
          </a:p>
          <a:p>
            <a:pPr indent="0">
              <a:buFont typeface="Arial" panose="020B0604020202020204" pitchFamily="34" charset="0"/>
              <a:buNone/>
            </a:pPr>
            <a:r>
              <a:rPr lang="zh-CN" altLang="en-US" sz="1600"/>
              <a:t>在此基础上，图对比学习不再仅依赖节点级表示差异，而是能够在</a:t>
            </a:r>
            <a:r>
              <a:rPr lang="zh-CN" altLang="en-US" sz="1600" b="1"/>
              <a:t>粒球级、节点级以及多尺度结构级</a:t>
            </a:r>
            <a:r>
              <a:rPr lang="zh-CN" altLang="en-US" sz="1600"/>
              <a:t>进行联合对比，从而提升表示的稳定性与语义一致性。</a:t>
            </a:r>
            <a:endParaRPr lang="zh-CN" altLang="en-US" sz="1600"/>
          </a:p>
        </p:txBody>
      </p:sp>
      <p:pic>
        <p:nvPicPr>
          <p:cNvPr id="6" name="图片 3"/>
          <p:cNvPicPr>
            <a:picLocks noChangeAspect="1"/>
          </p:cNvPicPr>
          <p:nvPr/>
        </p:nvPicPr>
        <p:blipFill>
          <a:blip r:embed="rId2"/>
          <a:stretch>
            <a:fillRect/>
          </a:stretch>
        </p:blipFill>
        <p:spPr>
          <a:xfrm>
            <a:off x="1979613" y="5427028"/>
            <a:ext cx="4981575" cy="110299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图片2.emf"/>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599696" y="315142"/>
            <a:ext cx="2308084" cy="543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单圆角矩形 7"/>
          <p:cNvSpPr/>
          <p:nvPr/>
        </p:nvSpPr>
        <p:spPr>
          <a:xfrm>
            <a:off x="0" y="314960"/>
            <a:ext cx="6316980" cy="530860"/>
          </a:xfrm>
          <a:prstGeom prst="round1Rect">
            <a:avLst/>
          </a:prstGeom>
          <a:noFill/>
          <a:ln>
            <a:noFill/>
          </a:ln>
          <a:extLst>
            <a:ext uri="{909E8E84-426E-40DD-AFC4-6F175D3DCCD1}">
              <a14:hiddenFill xmlns:a14="http://schemas.microsoft.com/office/drawing/2010/main">
                <a:solidFill>
                  <a:srgbClr val="4864FC"/>
                </a:solidFill>
              </a14:hiddenFill>
            </a:ext>
          </a:extLst>
        </p:spPr>
        <p:style>
          <a:lnRef idx="3">
            <a:schemeClr val="accent1"/>
          </a:lnRef>
          <a:fillRef idx="0">
            <a:srgbClr val="FFFFFF"/>
          </a:fillRef>
          <a:effectRef idx="0">
            <a:srgbClr val="FFFFFF"/>
          </a:effectRef>
          <a:fontRef idx="minor">
            <a:schemeClr val="tx1"/>
          </a:fontRef>
        </p:style>
        <p:txBody>
          <a:bodyPr/>
          <a:p>
            <a:pPr algn="l" defTabSz="914400">
              <a:lnSpc>
                <a:spcPct val="100000"/>
              </a:lnSpc>
              <a:buClrTx/>
              <a:buSzTx/>
              <a:buFontTx/>
            </a:pPr>
            <a:r>
              <a:rPr lang="zh-CN" altLang="en-US" sz="2400" b="1">
                <a:solidFill>
                  <a:srgbClr val="1F40B8"/>
                </a:solidFill>
                <a:latin typeface="微软雅黑" panose="020B0503020204020204" charset="-122"/>
                <a:ea typeface="微软雅黑" panose="020B0503020204020204" charset="-122"/>
                <a:cs typeface="微软雅黑" panose="020B0503020204020204" charset="-122"/>
              </a:rPr>
              <a:t>三、</a:t>
            </a:r>
            <a:r>
              <a:rPr lang="zh-CN" altLang="en-US" sz="2400" b="1">
                <a:solidFill>
                  <a:srgbClr val="1F40B8"/>
                </a:solidFill>
                <a:latin typeface="微软雅黑" panose="020B0503020204020204" charset="-122"/>
                <a:ea typeface="微软雅黑" panose="020B0503020204020204" charset="-122"/>
                <a:cs typeface="微软雅黑" panose="020B0503020204020204" charset="-122"/>
                <a:sym typeface="+mn-ea"/>
              </a:rPr>
              <a:t>研究思路及方法：主要</a:t>
            </a:r>
            <a:r>
              <a:rPr lang="zh-CN" altLang="en-US" sz="2400" b="1">
                <a:solidFill>
                  <a:srgbClr val="1F40B8"/>
                </a:solidFill>
                <a:latin typeface="微软雅黑" panose="020B0503020204020204" charset="-122"/>
                <a:ea typeface="微软雅黑" panose="020B0503020204020204" charset="-122"/>
                <a:cs typeface="微软雅黑" panose="020B0503020204020204" charset="-122"/>
                <a:sym typeface="+mn-ea"/>
              </a:rPr>
              <a:t>研究内容</a:t>
            </a:r>
            <a:endParaRPr lang="zh-CN" altLang="en-US" sz="2400" b="1">
              <a:solidFill>
                <a:srgbClr val="1F40B8"/>
              </a:solidFill>
              <a:latin typeface="微软雅黑" panose="020B0503020204020204" charset="-122"/>
              <a:ea typeface="微软雅黑" panose="020B0503020204020204" charset="-122"/>
              <a:cs typeface="微软雅黑" panose="020B0503020204020204" charset="-122"/>
              <a:sym typeface="+mn-ea"/>
            </a:endParaRPr>
          </a:p>
        </p:txBody>
      </p:sp>
      <p:sp>
        <p:nvSpPr>
          <p:cNvPr id="2" name="文本框 1"/>
          <p:cNvSpPr txBox="1"/>
          <p:nvPr/>
        </p:nvSpPr>
        <p:spPr>
          <a:xfrm>
            <a:off x="406400" y="964565"/>
            <a:ext cx="7838440" cy="5415915"/>
          </a:xfrm>
          <a:prstGeom prst="rect">
            <a:avLst/>
          </a:prstGeom>
          <a:solidFill>
            <a:srgbClr val="F9FBF8">
              <a:alpha val="50000"/>
            </a:srgbClr>
          </a:solidFill>
          <a:ln>
            <a:solidFill>
              <a:schemeClr val="accent3">
                <a:lumMod val="20000"/>
                <a:lumOff val="80000"/>
              </a:schemeClr>
            </a:solidFill>
          </a:ln>
        </p:spPr>
        <p:txBody>
          <a:bodyPr wrap="square" rtlCol="0">
            <a:spAutoFit/>
          </a:bodyPr>
          <a:p>
            <a:r>
              <a:rPr lang="zh-CN" altLang="en-US" sz="1600" b="1"/>
              <a:t>主要研究内容：</a:t>
            </a:r>
            <a:endParaRPr lang="zh-CN" altLang="en-US" sz="1600" b="1"/>
          </a:p>
          <a:p>
            <a:endParaRPr lang="en-US" altLang="zh-CN"/>
          </a:p>
          <a:p>
            <a:pPr indent="0">
              <a:buNone/>
            </a:pPr>
            <a:r>
              <a:rPr lang="zh-CN" altLang="en-US" sz="1200" b="1"/>
              <a:t>（</a:t>
            </a:r>
            <a:r>
              <a:rPr lang="en-US" altLang="zh-CN" sz="1200" b="1"/>
              <a:t>1</a:t>
            </a:r>
            <a:r>
              <a:rPr lang="zh-CN" altLang="en-US" sz="1200" b="1"/>
              <a:t>）面向图结构的粒球构建机制研究</a:t>
            </a:r>
            <a:endParaRPr lang="zh-CN" altLang="en-US" sz="1200" b="1"/>
          </a:p>
          <a:p>
            <a:pPr indent="0">
              <a:buNone/>
            </a:pPr>
            <a:endParaRPr lang="en-US" altLang="zh-CN" sz="1200"/>
          </a:p>
          <a:p>
            <a:pPr indent="0">
              <a:buNone/>
            </a:pPr>
            <a:r>
              <a:rPr lang="zh-CN" altLang="en-US" sz="1200"/>
              <a:t>研究如何在图嵌入空间中定义</a:t>
            </a:r>
            <a:r>
              <a:rPr lang="en-US" altLang="zh-CN" sz="1200"/>
              <a:t>“</a:t>
            </a:r>
            <a:r>
              <a:rPr lang="zh-CN" altLang="en-US" sz="1200"/>
              <a:t>图粒球</a:t>
            </a:r>
            <a:r>
              <a:rPr lang="en-US" altLang="zh-CN" sz="1200"/>
              <a:t>”</a:t>
            </a:r>
            <a:r>
              <a:rPr lang="zh-CN" altLang="en-US" sz="1200"/>
              <a:t>，并设计适合图数据的粒球生成、分裂与更新规则；</a:t>
            </a:r>
            <a:endParaRPr lang="zh-CN" altLang="en-US" sz="1200"/>
          </a:p>
          <a:p>
            <a:pPr indent="0">
              <a:buNone/>
            </a:pPr>
            <a:endParaRPr lang="en-US" altLang="zh-CN" sz="1200"/>
          </a:p>
          <a:p>
            <a:pPr indent="0">
              <a:buNone/>
            </a:pPr>
            <a:r>
              <a:rPr lang="zh-CN" altLang="en-US" sz="1200"/>
              <a:t>探索粒球与图拓扑结构之间的关系，使粒球能够反映节点间的结构相似性与语义一致性。</a:t>
            </a:r>
            <a:endParaRPr lang="zh-CN" altLang="en-US" sz="1200"/>
          </a:p>
          <a:p>
            <a:pPr indent="0">
              <a:buNone/>
            </a:pPr>
            <a:endParaRPr lang="zh-CN" altLang="en-US" sz="1200"/>
          </a:p>
          <a:p>
            <a:pPr indent="0">
              <a:buNone/>
            </a:pPr>
            <a:endParaRPr lang="en-US" altLang="zh-CN" sz="1200" b="1"/>
          </a:p>
          <a:p>
            <a:pPr indent="0">
              <a:buNone/>
            </a:pPr>
            <a:r>
              <a:rPr lang="zh-CN" altLang="en-US" sz="1200" b="1"/>
              <a:t>（</a:t>
            </a:r>
            <a:r>
              <a:rPr lang="en-US" altLang="zh-CN" sz="1200" b="1"/>
              <a:t>2</a:t>
            </a:r>
            <a:r>
              <a:rPr lang="zh-CN" altLang="en-US" sz="1200" b="1"/>
              <a:t>）基于粒球扩散的多尺度结构建模方法</a:t>
            </a:r>
            <a:endParaRPr lang="zh-CN" altLang="en-US" sz="1200" b="1"/>
          </a:p>
          <a:p>
            <a:pPr indent="0">
              <a:buNone/>
            </a:pPr>
            <a:endParaRPr lang="en-US" altLang="zh-CN" sz="1200"/>
          </a:p>
          <a:p>
            <a:pPr indent="0">
              <a:buNone/>
            </a:pPr>
            <a:r>
              <a:rPr lang="zh-CN" altLang="en-US" sz="1200"/>
              <a:t>在粒球层面构建粒球</a:t>
            </a:r>
            <a:r>
              <a:rPr lang="en-US" altLang="zh-CN" sz="1200"/>
              <a:t>–</a:t>
            </a:r>
            <a:r>
              <a:rPr lang="zh-CN" altLang="en-US" sz="1200"/>
              <a:t>粒球关系图，并引入扩散机制刻画粒球之间的语义传播过程；</a:t>
            </a:r>
            <a:endParaRPr lang="zh-CN" altLang="en-US" sz="1200"/>
          </a:p>
          <a:p>
            <a:pPr indent="0">
              <a:buNone/>
            </a:pPr>
            <a:endParaRPr lang="en-US" altLang="zh-CN" sz="1200"/>
          </a:p>
          <a:p>
            <a:pPr indent="0">
              <a:buNone/>
            </a:pPr>
            <a:r>
              <a:rPr lang="zh-CN" altLang="en-US" sz="1200"/>
              <a:t>通过不同扩散尺度自然形成多视图结构，为无增强图对比学习提供新的视图来源。</a:t>
            </a:r>
            <a:endParaRPr lang="zh-CN" altLang="en-US" sz="1200"/>
          </a:p>
          <a:p>
            <a:pPr indent="0">
              <a:buNone/>
            </a:pPr>
            <a:endParaRPr lang="zh-CN" altLang="en-US" sz="1200"/>
          </a:p>
          <a:p>
            <a:pPr indent="0">
              <a:buNone/>
            </a:pPr>
            <a:endParaRPr lang="en-US" altLang="zh-CN" sz="1200"/>
          </a:p>
          <a:p>
            <a:pPr indent="0">
              <a:buNone/>
            </a:pPr>
            <a:r>
              <a:rPr lang="zh-CN" altLang="en-US" sz="1200" b="1"/>
              <a:t>（</a:t>
            </a:r>
            <a:r>
              <a:rPr lang="en-US" altLang="zh-CN" sz="1200" b="1"/>
              <a:t>3</a:t>
            </a:r>
            <a:r>
              <a:rPr lang="zh-CN" altLang="en-US" sz="1200" b="1"/>
              <a:t>）粒球级与节点级协同的图对比学习目标设计</a:t>
            </a:r>
            <a:endParaRPr lang="zh-CN" altLang="en-US" sz="1200" b="1"/>
          </a:p>
          <a:p>
            <a:pPr indent="0">
              <a:buNone/>
            </a:pPr>
            <a:endParaRPr lang="en-US" altLang="zh-CN" sz="1200"/>
          </a:p>
          <a:p>
            <a:pPr indent="0">
              <a:buNone/>
            </a:pPr>
            <a:r>
              <a:rPr lang="zh-CN" altLang="en-US" sz="1200"/>
              <a:t>设计结合节点级对比与粒球级对比的联合优化目标；</a:t>
            </a:r>
            <a:endParaRPr lang="zh-CN" altLang="en-US" sz="1200"/>
          </a:p>
          <a:p>
            <a:pPr indent="0">
              <a:buNone/>
            </a:pPr>
            <a:endParaRPr lang="en-US" altLang="zh-CN" sz="1200"/>
          </a:p>
          <a:p>
            <a:pPr indent="0">
              <a:buNone/>
            </a:pPr>
            <a:r>
              <a:rPr lang="zh-CN" altLang="en-US" sz="1200"/>
              <a:t>通过粒球级对比引导节点表示向更稳定的结构语义区域收敛，提升整体表示质量。</a:t>
            </a:r>
            <a:endParaRPr lang="zh-CN" altLang="en-US" sz="1200"/>
          </a:p>
          <a:p>
            <a:pPr indent="0">
              <a:buNone/>
            </a:pPr>
            <a:endParaRPr lang="zh-CN" altLang="en-US" sz="1200"/>
          </a:p>
          <a:p>
            <a:pPr indent="0">
              <a:buNone/>
            </a:pPr>
            <a:endParaRPr lang="en-US" altLang="zh-CN" sz="1200"/>
          </a:p>
          <a:p>
            <a:pPr indent="0">
              <a:buNone/>
            </a:pPr>
            <a:r>
              <a:rPr lang="zh-CN" altLang="en-US" sz="1200" b="1"/>
              <a:t>（</a:t>
            </a:r>
            <a:r>
              <a:rPr lang="en-US" altLang="zh-CN" sz="1200" b="1"/>
              <a:t>4</a:t>
            </a:r>
            <a:r>
              <a:rPr lang="zh-CN" altLang="en-US" sz="1200" b="1"/>
              <a:t>）模型性能与结构可解释性分析</a:t>
            </a:r>
            <a:endParaRPr lang="zh-CN" altLang="en-US" sz="1200" b="1"/>
          </a:p>
          <a:p>
            <a:pPr indent="0">
              <a:buNone/>
            </a:pPr>
            <a:endParaRPr lang="en-US" altLang="zh-CN" sz="1200"/>
          </a:p>
          <a:p>
            <a:pPr indent="0">
              <a:buNone/>
            </a:pPr>
            <a:r>
              <a:rPr lang="zh-CN" altLang="en-US" sz="1200"/>
              <a:t>系统分析粒球粒度、扩散步数等因素对模型性能的影响；</a:t>
            </a:r>
            <a:endParaRPr lang="zh-CN" altLang="en-US" sz="1200"/>
          </a:p>
          <a:p>
            <a:pPr indent="0">
              <a:buNone/>
            </a:pPr>
            <a:endParaRPr lang="en-US" altLang="zh-CN" sz="1200"/>
          </a:p>
          <a:p>
            <a:pPr indent="0">
              <a:buNone/>
            </a:pPr>
            <a:r>
              <a:rPr lang="zh-CN" altLang="en-US" sz="1200"/>
              <a:t>探讨粒球在图对比学习中的语义解释能力及其对鲁棒性的提升作用。</a:t>
            </a:r>
            <a:endParaRPr lang="zh-CN" altLang="en-US" sz="1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3"/>
          <p:cNvSpPr/>
          <p:nvPr>
            <p:custDataLst>
              <p:tags r:id="rId1"/>
            </p:custDataLst>
          </p:nvPr>
        </p:nvSpPr>
        <p:spPr>
          <a:xfrm>
            <a:off x="586105" y="2164080"/>
            <a:ext cx="2494915" cy="3549650"/>
          </a:xfrm>
          <a:custGeom>
            <a:avLst/>
            <a:gdLst>
              <a:gd name="adj" fmla="val 6621"/>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5239" h="6687">
                <a:moveTo>
                  <a:pt x="5035" y="0"/>
                </a:moveTo>
                <a:lnTo>
                  <a:pt x="5041" y="3"/>
                </a:lnTo>
                <a:cubicBezTo>
                  <a:pt x="5158" y="59"/>
                  <a:pt x="5239" y="179"/>
                  <a:pt x="5239" y="318"/>
                </a:cubicBezTo>
                <a:lnTo>
                  <a:pt x="5239" y="6337"/>
                </a:lnTo>
                <a:cubicBezTo>
                  <a:pt x="5239" y="6531"/>
                  <a:pt x="5083" y="6687"/>
                  <a:pt x="4889" y="6687"/>
                </a:cubicBezTo>
                <a:lnTo>
                  <a:pt x="307" y="6687"/>
                </a:lnTo>
                <a:cubicBezTo>
                  <a:pt x="180" y="6687"/>
                  <a:pt x="69" y="6620"/>
                  <a:pt x="8" y="6519"/>
                </a:cubicBezTo>
                <a:lnTo>
                  <a:pt x="0" y="6505"/>
                </a:lnTo>
                <a:lnTo>
                  <a:pt x="10" y="6510"/>
                </a:lnTo>
                <a:cubicBezTo>
                  <a:pt x="52" y="6527"/>
                  <a:pt x="98" y="6537"/>
                  <a:pt x="146" y="6537"/>
                </a:cubicBezTo>
                <a:lnTo>
                  <a:pt x="4728" y="6537"/>
                </a:lnTo>
                <a:cubicBezTo>
                  <a:pt x="4922" y="6537"/>
                  <a:pt x="5078" y="6381"/>
                  <a:pt x="5078" y="6187"/>
                </a:cubicBezTo>
                <a:lnTo>
                  <a:pt x="5078" y="168"/>
                </a:lnTo>
                <a:cubicBezTo>
                  <a:pt x="5078" y="107"/>
                  <a:pt x="5063" y="51"/>
                  <a:pt x="5036" y="1"/>
                </a:cubicBezTo>
                <a:lnTo>
                  <a:pt x="5035" y="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42887" tIns="161925" rIns="134778" bIns="523875" numCol="1" spcCol="0" rtlCol="0" fromWordArt="0" anchor="t" anchorCtr="0" forceAA="0" compatLnSpc="1">
            <a:noAutofit/>
          </a:bodyPr>
          <a:lstStyle/>
          <a:p>
            <a:pPr lvl="0" algn="l">
              <a:lnSpc>
                <a:spcPct val="140000"/>
              </a:lnSpc>
              <a:buClrTx/>
              <a:buSzTx/>
              <a:buFontTx/>
            </a:pPr>
            <a:endParaRPr lang="zh-CN" altLang="zh-CN" sz="1050" dirty="0">
              <a:solidFill>
                <a:srgbClr val="262626"/>
              </a:solidFill>
              <a:latin typeface="+mn-ea"/>
              <a:cs typeface="+mn-ea"/>
              <a:sym typeface="+mn-ea"/>
            </a:endParaRPr>
          </a:p>
        </p:txBody>
      </p:sp>
      <p:sp>
        <p:nvSpPr>
          <p:cNvPr id="15" name="圆角矩形 3"/>
          <p:cNvSpPr/>
          <p:nvPr>
            <p:custDataLst>
              <p:tags r:id="rId2"/>
            </p:custDataLst>
          </p:nvPr>
        </p:nvSpPr>
        <p:spPr>
          <a:xfrm>
            <a:off x="488950" y="2077720"/>
            <a:ext cx="2515870" cy="3640455"/>
          </a:xfrm>
          <a:prstGeom prst="roundRect">
            <a:avLst>
              <a:gd name="adj" fmla="val 6621"/>
            </a:avLst>
          </a:prstGeom>
          <a:solidFill>
            <a:schemeClr val="lt1">
              <a:lumMod val="100000"/>
              <a:alpha val="10000"/>
            </a:schemeClr>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16217" tIns="189071" rIns="216217" bIns="523875" numCol="1" spcCol="0" rtlCol="0" fromWordArt="0" anchor="t" anchorCtr="0" forceAA="0" compatLnSpc="1">
            <a:noAutofit/>
          </a:bodyPr>
          <a:lstStyle/>
          <a:p>
            <a:pPr lvl="0" algn="l">
              <a:lnSpc>
                <a:spcPct val="140000"/>
              </a:lnSpc>
              <a:buClrTx/>
              <a:buSzTx/>
              <a:buFontTx/>
            </a:pPr>
            <a:r>
              <a:rPr lang="en-US" altLang="zh-CN" sz="1200" dirty="0">
                <a:solidFill>
                  <a:schemeClr val="tx1">
                    <a:lumMod val="85000"/>
                    <a:lumOff val="15000"/>
                  </a:schemeClr>
                </a:solidFill>
                <a:latin typeface="+mn-ea"/>
                <a:cs typeface="+mn-ea"/>
                <a:sym typeface="+mn-ea"/>
              </a:rPr>
              <a:t xml:space="preserve"> </a:t>
            </a:r>
            <a:endParaRPr lang="en-US" altLang="zh-CN" sz="1200" dirty="0">
              <a:solidFill>
                <a:schemeClr val="tx1">
                  <a:lumMod val="85000"/>
                  <a:lumOff val="15000"/>
                </a:schemeClr>
              </a:solidFill>
              <a:latin typeface="+mn-ea"/>
              <a:cs typeface="+mn-ea"/>
              <a:sym typeface="+mn-ea"/>
            </a:endParaRPr>
          </a:p>
        </p:txBody>
      </p:sp>
      <p:sp>
        <p:nvSpPr>
          <p:cNvPr id="11" name="圆角矩形 16"/>
          <p:cNvSpPr/>
          <p:nvPr>
            <p:custDataLst>
              <p:tags r:id="rId3"/>
            </p:custDataLst>
          </p:nvPr>
        </p:nvSpPr>
        <p:spPr>
          <a:xfrm>
            <a:off x="586105" y="5255895"/>
            <a:ext cx="368300" cy="333375"/>
          </a:xfrm>
          <a:prstGeom prst="roundRect">
            <a:avLst>
              <a:gd name="adj" fmla="val 23765"/>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a:bodyPr>
          <a:lstStyle/>
          <a:p>
            <a:pPr lvl="0" algn="ctr">
              <a:buClrTx/>
              <a:buSzTx/>
              <a:buFontTx/>
            </a:pPr>
            <a:r>
              <a:rPr lang="en-US" altLang="zh-CN" sz="1050" b="1">
                <a:solidFill>
                  <a:srgbClr val="FFFFFF"/>
                </a:solidFill>
                <a:latin typeface="+mn-ea"/>
                <a:cs typeface="+mn-ea"/>
                <a:sym typeface="+mn-ea"/>
              </a:rPr>
              <a:t>01</a:t>
            </a:r>
            <a:endParaRPr lang="en-US" altLang="zh-CN" sz="1050" b="1">
              <a:solidFill>
                <a:srgbClr val="FFFFFF"/>
              </a:solidFill>
              <a:latin typeface="+mn-ea"/>
              <a:cs typeface="+mn-ea"/>
              <a:sym typeface="+mn-ea"/>
            </a:endParaRPr>
          </a:p>
        </p:txBody>
      </p:sp>
      <p:sp>
        <p:nvSpPr>
          <p:cNvPr id="48" name="圆角矩形 3"/>
          <p:cNvSpPr/>
          <p:nvPr>
            <p:custDataLst>
              <p:tags r:id="rId4"/>
            </p:custDataLst>
          </p:nvPr>
        </p:nvSpPr>
        <p:spPr>
          <a:xfrm>
            <a:off x="3358515" y="2164080"/>
            <a:ext cx="2494915" cy="3549650"/>
          </a:xfrm>
          <a:custGeom>
            <a:avLst/>
            <a:gdLst>
              <a:gd name="adj" fmla="val 6621"/>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5239" h="6687">
                <a:moveTo>
                  <a:pt x="5035" y="0"/>
                </a:moveTo>
                <a:lnTo>
                  <a:pt x="5041" y="3"/>
                </a:lnTo>
                <a:cubicBezTo>
                  <a:pt x="5158" y="59"/>
                  <a:pt x="5239" y="179"/>
                  <a:pt x="5239" y="318"/>
                </a:cubicBezTo>
                <a:lnTo>
                  <a:pt x="5239" y="6337"/>
                </a:lnTo>
                <a:cubicBezTo>
                  <a:pt x="5239" y="6531"/>
                  <a:pt x="5083" y="6687"/>
                  <a:pt x="4889" y="6687"/>
                </a:cubicBezTo>
                <a:lnTo>
                  <a:pt x="307" y="6687"/>
                </a:lnTo>
                <a:cubicBezTo>
                  <a:pt x="180" y="6687"/>
                  <a:pt x="69" y="6620"/>
                  <a:pt x="8" y="6519"/>
                </a:cubicBezTo>
                <a:lnTo>
                  <a:pt x="0" y="6505"/>
                </a:lnTo>
                <a:lnTo>
                  <a:pt x="10" y="6510"/>
                </a:lnTo>
                <a:cubicBezTo>
                  <a:pt x="52" y="6527"/>
                  <a:pt x="98" y="6537"/>
                  <a:pt x="146" y="6537"/>
                </a:cubicBezTo>
                <a:lnTo>
                  <a:pt x="4728" y="6537"/>
                </a:lnTo>
                <a:cubicBezTo>
                  <a:pt x="4922" y="6537"/>
                  <a:pt x="5078" y="6381"/>
                  <a:pt x="5078" y="6187"/>
                </a:cubicBezTo>
                <a:lnTo>
                  <a:pt x="5078" y="168"/>
                </a:lnTo>
                <a:cubicBezTo>
                  <a:pt x="5078" y="107"/>
                  <a:pt x="5063" y="51"/>
                  <a:pt x="5036" y="1"/>
                </a:cubicBezTo>
                <a:lnTo>
                  <a:pt x="5035" y="0"/>
                </a:ln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42887" tIns="161925" rIns="134778" bIns="523875" numCol="1" spcCol="0" rtlCol="0" fromWordArt="0" anchor="t" anchorCtr="0" forceAA="0" compatLnSpc="1">
            <a:noAutofit/>
          </a:bodyPr>
          <a:lstStyle/>
          <a:p>
            <a:pPr lvl="0" algn="l">
              <a:lnSpc>
                <a:spcPct val="140000"/>
              </a:lnSpc>
              <a:buClrTx/>
              <a:buSzTx/>
              <a:buFontTx/>
            </a:pPr>
            <a:endParaRPr lang="zh-CN" altLang="zh-CN" sz="1050" dirty="0">
              <a:solidFill>
                <a:srgbClr val="262626"/>
              </a:solidFill>
              <a:latin typeface="+mn-ea"/>
              <a:cs typeface="+mn-ea"/>
              <a:sym typeface="+mn-ea"/>
            </a:endParaRPr>
          </a:p>
        </p:txBody>
      </p:sp>
      <p:sp useBgFill="1">
        <p:nvSpPr>
          <p:cNvPr id="49" name="圆角矩形 3"/>
          <p:cNvSpPr/>
          <p:nvPr>
            <p:custDataLst>
              <p:tags r:id="rId5"/>
            </p:custDataLst>
          </p:nvPr>
        </p:nvSpPr>
        <p:spPr>
          <a:xfrm>
            <a:off x="3261360" y="2077720"/>
            <a:ext cx="2515870" cy="3640455"/>
          </a:xfrm>
          <a:prstGeom prst="roundRect">
            <a:avLst>
              <a:gd name="adj" fmla="val 6621"/>
            </a:avLst>
          </a:prstGeom>
          <a:solidFill>
            <a:schemeClr val="lt1">
              <a:lumMod val="100000"/>
              <a:alpha val="10000"/>
            </a:schemeClr>
          </a:solidFill>
          <a:ln>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16217" tIns="189071" rIns="216217" bIns="523875" numCol="1" spcCol="0" rtlCol="0" fromWordArt="0" anchor="t" anchorCtr="0" forceAA="0" compatLnSpc="1">
            <a:noAutofit/>
          </a:bodyPr>
          <a:lstStyle/>
          <a:p>
            <a:pPr lvl="0" algn="l">
              <a:lnSpc>
                <a:spcPct val="140000"/>
              </a:lnSpc>
              <a:buClrTx/>
              <a:buSzTx/>
              <a:buFontTx/>
            </a:pPr>
            <a:r>
              <a:rPr lang="en-US" altLang="zh-CN" sz="1200" dirty="0">
                <a:solidFill>
                  <a:schemeClr val="tx1">
                    <a:lumMod val="85000"/>
                    <a:lumOff val="15000"/>
                  </a:schemeClr>
                </a:solidFill>
                <a:sym typeface="+mn-ea"/>
              </a:rPr>
              <a:t xml:space="preserve"> </a:t>
            </a:r>
            <a:endParaRPr lang="en-US" altLang="zh-CN" sz="1200" dirty="0">
              <a:solidFill>
                <a:schemeClr val="tx1">
                  <a:lumMod val="85000"/>
                  <a:lumOff val="15000"/>
                </a:schemeClr>
              </a:solidFill>
              <a:sym typeface="+mn-ea"/>
            </a:endParaRPr>
          </a:p>
        </p:txBody>
      </p:sp>
      <p:sp>
        <p:nvSpPr>
          <p:cNvPr id="50" name="圆角矩形 16"/>
          <p:cNvSpPr/>
          <p:nvPr>
            <p:custDataLst>
              <p:tags r:id="rId6"/>
            </p:custDataLst>
          </p:nvPr>
        </p:nvSpPr>
        <p:spPr>
          <a:xfrm>
            <a:off x="3359150" y="5255895"/>
            <a:ext cx="368300" cy="333375"/>
          </a:xfrm>
          <a:prstGeom prst="roundRect">
            <a:avLst>
              <a:gd name="adj" fmla="val 23765"/>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a:bodyPr>
          <a:lstStyle/>
          <a:p>
            <a:pPr lvl="0" algn="ctr">
              <a:buClrTx/>
              <a:buSzTx/>
              <a:buFontTx/>
            </a:pPr>
            <a:r>
              <a:rPr lang="en-US" altLang="zh-CN" sz="1050" b="1">
                <a:solidFill>
                  <a:srgbClr val="FFFFFF"/>
                </a:solidFill>
                <a:latin typeface="+mn-ea"/>
                <a:cs typeface="+mn-ea"/>
                <a:sym typeface="+mn-ea"/>
              </a:rPr>
              <a:t>02</a:t>
            </a:r>
            <a:endParaRPr lang="en-US" altLang="zh-CN" sz="1050" b="1">
              <a:solidFill>
                <a:srgbClr val="FFFFFF"/>
              </a:solidFill>
              <a:latin typeface="+mn-ea"/>
              <a:cs typeface="+mn-ea"/>
              <a:sym typeface="+mn-ea"/>
            </a:endParaRPr>
          </a:p>
        </p:txBody>
      </p:sp>
      <p:sp>
        <p:nvSpPr>
          <p:cNvPr id="52" name="圆角矩形 3"/>
          <p:cNvSpPr/>
          <p:nvPr>
            <p:custDataLst>
              <p:tags r:id="rId7"/>
            </p:custDataLst>
          </p:nvPr>
        </p:nvSpPr>
        <p:spPr>
          <a:xfrm>
            <a:off x="6121400" y="2164080"/>
            <a:ext cx="2494915" cy="3549650"/>
          </a:xfrm>
          <a:custGeom>
            <a:avLst/>
            <a:gdLst>
              <a:gd name="adj" fmla="val 6621"/>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5239" h="6687">
                <a:moveTo>
                  <a:pt x="5035" y="0"/>
                </a:moveTo>
                <a:lnTo>
                  <a:pt x="5041" y="3"/>
                </a:lnTo>
                <a:cubicBezTo>
                  <a:pt x="5158" y="59"/>
                  <a:pt x="5239" y="179"/>
                  <a:pt x="5239" y="318"/>
                </a:cubicBezTo>
                <a:lnTo>
                  <a:pt x="5239" y="6337"/>
                </a:lnTo>
                <a:cubicBezTo>
                  <a:pt x="5239" y="6531"/>
                  <a:pt x="5083" y="6687"/>
                  <a:pt x="4889" y="6687"/>
                </a:cubicBezTo>
                <a:lnTo>
                  <a:pt x="307" y="6687"/>
                </a:lnTo>
                <a:cubicBezTo>
                  <a:pt x="180" y="6687"/>
                  <a:pt x="69" y="6620"/>
                  <a:pt x="8" y="6519"/>
                </a:cubicBezTo>
                <a:lnTo>
                  <a:pt x="0" y="6505"/>
                </a:lnTo>
                <a:lnTo>
                  <a:pt x="10" y="6510"/>
                </a:lnTo>
                <a:cubicBezTo>
                  <a:pt x="52" y="6527"/>
                  <a:pt x="98" y="6537"/>
                  <a:pt x="146" y="6537"/>
                </a:cubicBezTo>
                <a:lnTo>
                  <a:pt x="4728" y="6537"/>
                </a:lnTo>
                <a:cubicBezTo>
                  <a:pt x="4922" y="6537"/>
                  <a:pt x="5078" y="6381"/>
                  <a:pt x="5078" y="6187"/>
                </a:cubicBezTo>
                <a:lnTo>
                  <a:pt x="5078" y="168"/>
                </a:lnTo>
                <a:cubicBezTo>
                  <a:pt x="5078" y="107"/>
                  <a:pt x="5063" y="51"/>
                  <a:pt x="5036" y="1"/>
                </a:cubicBezTo>
                <a:lnTo>
                  <a:pt x="5035" y="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42887" tIns="161925" rIns="134778" bIns="523875" numCol="1" spcCol="0" rtlCol="0" fromWordArt="0" anchor="t" anchorCtr="0" forceAA="0" compatLnSpc="1">
            <a:noAutofit/>
          </a:bodyPr>
          <a:lstStyle/>
          <a:p>
            <a:pPr lvl="0" algn="l">
              <a:lnSpc>
                <a:spcPct val="140000"/>
              </a:lnSpc>
              <a:buClrTx/>
              <a:buSzTx/>
              <a:buFontTx/>
            </a:pPr>
            <a:endParaRPr lang="zh-CN" altLang="zh-CN" sz="1050" dirty="0">
              <a:solidFill>
                <a:srgbClr val="262626"/>
              </a:solidFill>
              <a:latin typeface="+mn-ea"/>
              <a:cs typeface="+mn-ea"/>
              <a:sym typeface="+mn-ea"/>
            </a:endParaRPr>
          </a:p>
        </p:txBody>
      </p:sp>
      <p:sp useBgFill="1">
        <p:nvSpPr>
          <p:cNvPr id="53" name="圆角矩形 3"/>
          <p:cNvSpPr/>
          <p:nvPr>
            <p:custDataLst>
              <p:tags r:id="rId8"/>
            </p:custDataLst>
          </p:nvPr>
        </p:nvSpPr>
        <p:spPr>
          <a:xfrm>
            <a:off x="6024245" y="2077720"/>
            <a:ext cx="2515870" cy="3640455"/>
          </a:xfrm>
          <a:prstGeom prst="roundRect">
            <a:avLst>
              <a:gd name="adj" fmla="val 6621"/>
            </a:avLst>
          </a:prstGeom>
          <a:solidFill>
            <a:schemeClr val="lt1">
              <a:lumMod val="100000"/>
              <a:alpha val="10000"/>
            </a:schemeClr>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16217" tIns="189071" rIns="216217" bIns="523875" numCol="1" spcCol="0" rtlCol="0" fromWordArt="0" anchor="t" anchorCtr="0" forceAA="0" compatLnSpc="1">
            <a:noAutofit/>
          </a:bodyPr>
          <a:lstStyle/>
          <a:p>
            <a:pPr lvl="0" algn="l">
              <a:lnSpc>
                <a:spcPct val="140000"/>
              </a:lnSpc>
              <a:buClrTx/>
              <a:buSzTx/>
              <a:buFontTx/>
            </a:pPr>
            <a:r>
              <a:rPr lang="en-US" altLang="zh-CN" sz="1200" dirty="0">
                <a:solidFill>
                  <a:schemeClr val="tx1">
                    <a:lumMod val="85000"/>
                    <a:lumOff val="15000"/>
                  </a:schemeClr>
                </a:solidFill>
                <a:sym typeface="+mn-ea"/>
              </a:rPr>
              <a:t xml:space="preserve"> </a:t>
            </a:r>
            <a:endParaRPr lang="en-US" altLang="zh-CN" sz="1200" dirty="0">
              <a:solidFill>
                <a:schemeClr val="tx1">
                  <a:lumMod val="85000"/>
                  <a:lumOff val="15000"/>
                </a:schemeClr>
              </a:solidFill>
              <a:sym typeface="+mn-ea"/>
            </a:endParaRPr>
          </a:p>
        </p:txBody>
      </p:sp>
      <p:sp>
        <p:nvSpPr>
          <p:cNvPr id="54" name="圆角矩形 16"/>
          <p:cNvSpPr/>
          <p:nvPr>
            <p:custDataLst>
              <p:tags r:id="rId9"/>
            </p:custDataLst>
          </p:nvPr>
        </p:nvSpPr>
        <p:spPr>
          <a:xfrm>
            <a:off x="6122035" y="5255895"/>
            <a:ext cx="368300" cy="333375"/>
          </a:xfrm>
          <a:prstGeom prst="roundRect">
            <a:avLst>
              <a:gd name="adj" fmla="val 23765"/>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a:bodyPr>
          <a:lstStyle/>
          <a:p>
            <a:pPr lvl="0" algn="ctr">
              <a:buClrTx/>
              <a:buSzTx/>
              <a:buFontTx/>
            </a:pPr>
            <a:r>
              <a:rPr lang="en-US" altLang="zh-CN" sz="1050" b="1">
                <a:solidFill>
                  <a:srgbClr val="FFFFFF"/>
                </a:solidFill>
                <a:latin typeface="+mn-ea"/>
                <a:cs typeface="+mn-ea"/>
                <a:sym typeface="+mn-ea"/>
              </a:rPr>
              <a:t>03</a:t>
            </a:r>
            <a:endParaRPr lang="en-US" altLang="zh-CN" sz="1050" b="1">
              <a:solidFill>
                <a:srgbClr val="FFFFFF"/>
              </a:solidFill>
              <a:latin typeface="+mn-ea"/>
              <a:cs typeface="+mn-ea"/>
              <a:sym typeface="+mn-ea"/>
            </a:endParaRPr>
          </a:p>
        </p:txBody>
      </p:sp>
      <p:sp>
        <p:nvSpPr>
          <p:cNvPr id="3" name="文本框 2"/>
          <p:cNvSpPr txBox="1"/>
          <p:nvPr/>
        </p:nvSpPr>
        <p:spPr>
          <a:xfrm>
            <a:off x="534829" y="2245043"/>
            <a:ext cx="2440781" cy="3118485"/>
          </a:xfrm>
          <a:prstGeom prst="rect">
            <a:avLst/>
          </a:prstGeom>
          <a:noFill/>
        </p:spPr>
        <p:txBody>
          <a:bodyPr wrap="square" rtlCol="0">
            <a:spAutoFit/>
          </a:bodyPr>
          <a:p>
            <a:pPr lvl="0" algn="l">
              <a:lnSpc>
                <a:spcPct val="140000"/>
              </a:lnSpc>
              <a:buClrTx/>
              <a:buSzTx/>
              <a:buFontTx/>
            </a:pPr>
            <a:r>
              <a:rPr lang="zh-CN" altLang="en-US" sz="1200" b="1">
                <a:solidFill>
                  <a:schemeClr val="tx1"/>
                </a:solidFill>
                <a:latin typeface="微软雅黑" panose="020B0503020204020204" charset="-122"/>
                <a:ea typeface="微软雅黑" panose="020B0503020204020204" charset="-122"/>
                <a:cs typeface="微软雅黑" panose="020B0503020204020204" charset="-122"/>
                <a:sym typeface="+mn-ea"/>
              </a:rPr>
              <a:t>从</a:t>
            </a:r>
            <a:r>
              <a:rPr lang="en-US" altLang="zh-CN" sz="1200" b="1">
                <a:solidFill>
                  <a:schemeClr val="tx1"/>
                </a:solidFill>
                <a:latin typeface="微软雅黑" panose="020B0503020204020204" charset="-122"/>
                <a:ea typeface="微软雅黑" panose="020B0503020204020204" charset="-122"/>
                <a:cs typeface="微软雅黑" panose="020B0503020204020204" charset="-122"/>
                <a:sym typeface="+mn-ea"/>
              </a:rPr>
              <a:t>“</a:t>
            </a:r>
            <a:r>
              <a:rPr lang="zh-CN" altLang="en-US" sz="1200" b="1">
                <a:solidFill>
                  <a:schemeClr val="tx1"/>
                </a:solidFill>
                <a:latin typeface="微软雅黑" panose="020B0503020204020204" charset="-122"/>
                <a:ea typeface="微软雅黑" panose="020B0503020204020204" charset="-122"/>
                <a:cs typeface="微软雅黑" panose="020B0503020204020204" charset="-122"/>
                <a:sym typeface="+mn-ea"/>
              </a:rPr>
              <a:t>节点扩散</a:t>
            </a:r>
            <a:r>
              <a:rPr lang="en-US" altLang="zh-CN" sz="1200" b="1">
                <a:solidFill>
                  <a:schemeClr val="tx1"/>
                </a:solidFill>
                <a:latin typeface="微软雅黑" panose="020B0503020204020204" charset="-122"/>
                <a:ea typeface="微软雅黑" panose="020B0503020204020204" charset="-122"/>
                <a:cs typeface="微软雅黑" panose="020B0503020204020204" charset="-122"/>
                <a:sym typeface="+mn-ea"/>
              </a:rPr>
              <a:t>”</a:t>
            </a:r>
            <a:r>
              <a:rPr lang="zh-CN" altLang="en-US" sz="1200" b="1">
                <a:solidFill>
                  <a:schemeClr val="tx1"/>
                </a:solidFill>
                <a:latin typeface="微软雅黑" panose="020B0503020204020204" charset="-122"/>
                <a:ea typeface="微软雅黑" panose="020B0503020204020204" charset="-122"/>
                <a:cs typeface="微软雅黑" panose="020B0503020204020204" charset="-122"/>
                <a:sym typeface="+mn-ea"/>
              </a:rPr>
              <a:t>到</a:t>
            </a:r>
            <a:r>
              <a:rPr lang="en-US" altLang="zh-CN" sz="1200" b="1">
                <a:solidFill>
                  <a:schemeClr val="tx1"/>
                </a:solidFill>
                <a:latin typeface="微软雅黑" panose="020B0503020204020204" charset="-122"/>
                <a:ea typeface="微软雅黑" panose="020B0503020204020204" charset="-122"/>
                <a:cs typeface="微软雅黑" panose="020B0503020204020204" charset="-122"/>
                <a:sym typeface="+mn-ea"/>
              </a:rPr>
              <a:t>“</a:t>
            </a:r>
            <a:r>
              <a:rPr lang="zh-CN" altLang="en-US" sz="1200" b="1">
                <a:solidFill>
                  <a:schemeClr val="tx1"/>
                </a:solidFill>
                <a:latin typeface="微软雅黑" panose="020B0503020204020204" charset="-122"/>
                <a:ea typeface="微软雅黑" panose="020B0503020204020204" charset="-122"/>
                <a:cs typeface="微软雅黑" panose="020B0503020204020204" charset="-122"/>
                <a:sym typeface="+mn-ea"/>
              </a:rPr>
              <a:t>结构扩散</a:t>
            </a:r>
            <a:r>
              <a:rPr lang="en-US" altLang="zh-CN" sz="1200" b="1">
                <a:solidFill>
                  <a:schemeClr val="tx1"/>
                </a:solidFill>
                <a:latin typeface="微软雅黑" panose="020B0503020204020204" charset="-122"/>
                <a:ea typeface="微软雅黑" panose="020B0503020204020204" charset="-122"/>
                <a:cs typeface="微软雅黑" panose="020B0503020204020204" charset="-122"/>
                <a:sym typeface="+mn-ea"/>
              </a:rPr>
              <a:t>”</a:t>
            </a:r>
            <a:r>
              <a:rPr lang="zh-CN" altLang="en-US" sz="1200" b="1">
                <a:solidFill>
                  <a:schemeClr val="tx1"/>
                </a:solidFill>
                <a:latin typeface="微软雅黑" panose="020B0503020204020204" charset="-122"/>
                <a:ea typeface="微软雅黑" panose="020B0503020204020204" charset="-122"/>
                <a:cs typeface="微软雅黑" panose="020B0503020204020204" charset="-122"/>
                <a:sym typeface="+mn-ea"/>
              </a:rPr>
              <a:t>的图对比学习范式转变</a:t>
            </a:r>
            <a:endParaRPr lang="zh-CN" altLang="en-US" sz="1200" b="1">
              <a:solidFill>
                <a:schemeClr val="tx1"/>
              </a:solidFill>
              <a:latin typeface="微软雅黑" panose="020B0503020204020204" charset="-122"/>
              <a:ea typeface="微软雅黑" panose="020B0503020204020204" charset="-122"/>
              <a:cs typeface="微软雅黑" panose="020B0503020204020204" charset="-122"/>
              <a:sym typeface="+mn-ea"/>
            </a:endParaRPr>
          </a:p>
          <a:p>
            <a:pPr lvl="0" algn="l">
              <a:lnSpc>
                <a:spcPct val="140000"/>
              </a:lnSpc>
              <a:buClrTx/>
              <a:buSzTx/>
              <a:buFontTx/>
            </a:pPr>
            <a:endPar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endParaRPr>
          </a:p>
          <a:p>
            <a:pPr lvl="0" algn="l">
              <a:lnSpc>
                <a:spcPct val="140000"/>
              </a:lnSpc>
              <a:buClrTx/>
              <a:buSzTx/>
              <a:buFontTx/>
            </a:pPr>
            <a:r>
              <a:rPr lang="zh-CN" altLang="en-US" sz="1200">
                <a:latin typeface="微软雅黑" panose="020B0503020204020204" charset="-122"/>
                <a:ea typeface="微软雅黑" panose="020B0503020204020204" charset="-122"/>
                <a:cs typeface="微软雅黑" panose="020B0503020204020204" charset="-122"/>
                <a:sym typeface="+mn-ea"/>
              </a:rPr>
              <a:t>针对现有无增强图对比学习方法仅在节点级进行扩散、缺乏高阶结构组织的问题，本研究引入粒球作为显式结构单元，在粒球层面构建并扩散表示，实现由节点级扩散向结构级扩散的转变，从而提升多尺度语义建模能力与结构表达稳定性。</a:t>
            </a:r>
            <a:endParaRPr lang="zh-CN" altLang="en-US" sz="1200">
              <a:latin typeface="微软雅黑" panose="020B0503020204020204" charset="-122"/>
              <a:ea typeface="微软雅黑" panose="020B0503020204020204" charset="-122"/>
              <a:cs typeface="微软雅黑" panose="020B0503020204020204" charset="-122"/>
              <a:sym typeface="+mn-ea"/>
            </a:endParaRPr>
          </a:p>
          <a:p>
            <a:endParaRPr lang="zh-CN" altLang="zh-CN" sz="1200" dirty="0">
              <a:solidFill>
                <a:schemeClr val="tx1">
                  <a:lumMod val="85000"/>
                  <a:lumOff val="15000"/>
                </a:schemeClr>
              </a:solidFill>
              <a:latin typeface="+mn-ea"/>
              <a:cs typeface="+mn-ea"/>
              <a:sym typeface="+mn-ea"/>
            </a:endParaRPr>
          </a:p>
        </p:txBody>
      </p:sp>
      <p:sp>
        <p:nvSpPr>
          <p:cNvPr id="4" name="文本框 3"/>
          <p:cNvSpPr txBox="1"/>
          <p:nvPr/>
        </p:nvSpPr>
        <p:spPr>
          <a:xfrm>
            <a:off x="3331845" y="2245043"/>
            <a:ext cx="2440781" cy="2933700"/>
          </a:xfrm>
          <a:prstGeom prst="rect">
            <a:avLst/>
          </a:prstGeom>
          <a:noFill/>
        </p:spPr>
        <p:txBody>
          <a:bodyPr wrap="square" rtlCol="0">
            <a:spAutoFit/>
          </a:bodyPr>
          <a:p>
            <a:pPr lvl="0" algn="l">
              <a:lnSpc>
                <a:spcPct val="140000"/>
              </a:lnSpc>
              <a:buClrTx/>
              <a:buSzTx/>
              <a:buFontTx/>
            </a:pPr>
            <a:r>
              <a:rPr lang="zh-CN" altLang="en-US" sz="1200" b="1">
                <a:solidFill>
                  <a:schemeClr val="tx1"/>
                </a:solidFill>
                <a:latin typeface="微软雅黑" panose="020B0503020204020204" charset="-122"/>
                <a:ea typeface="微软雅黑" panose="020B0503020204020204" charset="-122"/>
                <a:cs typeface="微软雅黑" panose="020B0503020204020204" charset="-122"/>
                <a:sym typeface="+mn-ea"/>
              </a:rPr>
              <a:t>一种自适应、多粒度的无增强视图构造机制</a:t>
            </a:r>
            <a:endParaRPr lang="zh-CN" altLang="en-US" sz="1200" b="1">
              <a:solidFill>
                <a:schemeClr val="tx1"/>
              </a:solidFill>
              <a:latin typeface="微软雅黑" panose="020B0503020204020204" charset="-122"/>
              <a:ea typeface="微软雅黑" panose="020B0503020204020204" charset="-122"/>
              <a:cs typeface="微软雅黑" panose="020B0503020204020204" charset="-122"/>
              <a:sym typeface="+mn-ea"/>
            </a:endParaRPr>
          </a:p>
          <a:p>
            <a:pPr lvl="0" algn="l">
              <a:lnSpc>
                <a:spcPct val="140000"/>
              </a:lnSpc>
              <a:buClrTx/>
              <a:buSzTx/>
              <a:buFontTx/>
            </a:pPr>
            <a:endParaRPr lang="zh-CN" altLang="en-US" sz="1200" b="1">
              <a:solidFill>
                <a:schemeClr val="tx1"/>
              </a:solidFill>
              <a:latin typeface="微软雅黑" panose="020B0503020204020204" charset="-122"/>
              <a:ea typeface="微软雅黑" panose="020B0503020204020204" charset="-122"/>
              <a:cs typeface="微软雅黑" panose="020B0503020204020204" charset="-122"/>
              <a:sym typeface="+mn-ea"/>
            </a:endParaRPr>
          </a:p>
          <a:p>
            <a:pPr algn="l">
              <a:lnSpc>
                <a:spcPct val="140000"/>
              </a:lnSpc>
              <a:buClrTx/>
              <a:buSzTx/>
              <a:buFontTx/>
            </a:pPr>
            <a:r>
              <a:rPr lang="zh-CN" altLang="en-US" sz="1200">
                <a:latin typeface="微软雅黑" panose="020B0503020204020204" charset="-122"/>
                <a:ea typeface="微软雅黑" panose="020B0503020204020204" charset="-122"/>
                <a:cs typeface="微软雅黑" panose="020B0503020204020204" charset="-122"/>
                <a:sym typeface="+mn-ea"/>
              </a:rPr>
              <a:t>针对传统图对比学习依赖随机增强、易引入语义偏移的问题，本研究利用粒球的自适应分裂与扩散机制，在不引入任何人工扰动的前提下自动生成多粒度结构视图，为无增强图对比学习提供一种稳定、结构感知的视图构造方式。</a:t>
            </a:r>
            <a:endParaRPr lang="zh-CN" altLang="en-US" sz="1200">
              <a:latin typeface="微软雅黑" panose="020B0503020204020204" charset="-122"/>
              <a:ea typeface="微软雅黑" panose="020B0503020204020204" charset="-122"/>
              <a:cs typeface="微软雅黑" panose="020B0503020204020204" charset="-122"/>
              <a:sym typeface="+mn-ea"/>
            </a:endParaRPr>
          </a:p>
        </p:txBody>
      </p:sp>
      <p:sp>
        <p:nvSpPr>
          <p:cNvPr id="5" name="文本框 4"/>
          <p:cNvSpPr txBox="1"/>
          <p:nvPr/>
        </p:nvSpPr>
        <p:spPr>
          <a:xfrm>
            <a:off x="6062663" y="2245043"/>
            <a:ext cx="2440781" cy="2933700"/>
          </a:xfrm>
          <a:prstGeom prst="rect">
            <a:avLst/>
          </a:prstGeom>
          <a:noFill/>
        </p:spPr>
        <p:txBody>
          <a:bodyPr wrap="square" rtlCol="0">
            <a:spAutoFit/>
          </a:bodyPr>
          <a:p>
            <a:pPr lvl="0" algn="l">
              <a:lnSpc>
                <a:spcPct val="140000"/>
              </a:lnSpc>
              <a:buClrTx/>
              <a:buSzTx/>
              <a:buFontTx/>
            </a:pPr>
            <a:r>
              <a:rPr lang="zh-CN" altLang="en-US" sz="1200" b="1">
                <a:solidFill>
                  <a:schemeClr val="tx1"/>
                </a:solidFill>
                <a:latin typeface="微软雅黑" panose="020B0503020204020204" charset="-122"/>
                <a:ea typeface="微软雅黑" panose="020B0503020204020204" charset="-122"/>
                <a:cs typeface="微软雅黑" panose="020B0503020204020204" charset="-122"/>
                <a:sym typeface="+mn-ea"/>
              </a:rPr>
              <a:t>面向</a:t>
            </a:r>
            <a:r>
              <a:rPr lang="zh-CN" altLang="en-US" sz="1200" b="1">
                <a:solidFill>
                  <a:schemeClr val="tx1"/>
                </a:solidFill>
                <a:latin typeface="微软雅黑" panose="020B0503020204020204" charset="-122"/>
                <a:ea typeface="微软雅黑" panose="020B0503020204020204" charset="-122"/>
                <a:cs typeface="微软雅黑" panose="020B0503020204020204" charset="-122"/>
                <a:sym typeface="+mn-ea"/>
              </a:rPr>
              <a:t>结构区域的结构级对比学习建模方式</a:t>
            </a:r>
            <a:endParaRPr lang="zh-CN" altLang="en-US" sz="1200" b="1">
              <a:solidFill>
                <a:schemeClr val="tx1"/>
              </a:solidFill>
              <a:latin typeface="微软雅黑" panose="020B0503020204020204" charset="-122"/>
              <a:ea typeface="微软雅黑" panose="020B0503020204020204" charset="-122"/>
              <a:cs typeface="微软雅黑" panose="020B0503020204020204" charset="-122"/>
              <a:sym typeface="+mn-ea"/>
            </a:endParaRPr>
          </a:p>
          <a:p>
            <a:pPr lvl="0" algn="l">
              <a:lnSpc>
                <a:spcPct val="140000"/>
              </a:lnSpc>
              <a:buClrTx/>
              <a:buSzTx/>
              <a:buFontTx/>
            </a:pPr>
            <a:endParaRPr lang="zh-CN" altLang="en-US" sz="1200" b="1">
              <a:solidFill>
                <a:schemeClr val="tx1"/>
              </a:solidFill>
              <a:latin typeface="微软雅黑" panose="020B0503020204020204" charset="-122"/>
              <a:ea typeface="微软雅黑" panose="020B0503020204020204" charset="-122"/>
              <a:cs typeface="微软雅黑" panose="020B0503020204020204" charset="-122"/>
              <a:sym typeface="+mn-ea"/>
            </a:endParaRPr>
          </a:p>
          <a:p>
            <a:pPr lvl="0" algn="l">
              <a:lnSpc>
                <a:spcPct val="140000"/>
              </a:lnSpc>
              <a:buClrTx/>
              <a:buSzTx/>
              <a:buFontTx/>
            </a:pPr>
            <a:r>
              <a:rPr lang="zh-CN" altLang="en-US" sz="1200">
                <a:latin typeface="微软雅黑" panose="020B0503020204020204" charset="-122"/>
                <a:ea typeface="微软雅黑" panose="020B0503020204020204" charset="-122"/>
                <a:cs typeface="微软雅黑" panose="020B0503020204020204" charset="-122"/>
                <a:sym typeface="+mn-ea"/>
              </a:rPr>
              <a:t>针对节点级对比学习难以刻画社区与功能模块等多尺度结构区域的问题，本研究以粒球作为中层</a:t>
            </a:r>
            <a:r>
              <a:rPr lang="zh-CN" altLang="en-US" sz="1200">
                <a:latin typeface="微软雅黑" panose="020B0503020204020204" charset="-122"/>
                <a:ea typeface="微软雅黑" panose="020B0503020204020204" charset="-122"/>
                <a:cs typeface="微软雅黑" panose="020B0503020204020204" charset="-122"/>
                <a:sym typeface="+mn-ea"/>
              </a:rPr>
              <a:t>结构单元，将对比学习对象由节点提升至结构区域层面，使模型能够显式学习不同</a:t>
            </a:r>
            <a:r>
              <a:rPr lang="zh-CN" altLang="en-US" sz="1200">
                <a:latin typeface="微软雅黑" panose="020B0503020204020204" charset="-122"/>
                <a:ea typeface="微软雅黑" panose="020B0503020204020204" charset="-122"/>
                <a:cs typeface="微软雅黑" panose="020B0503020204020204" charset="-122"/>
                <a:sym typeface="+mn-ea"/>
              </a:rPr>
              <a:t>结构区域之间的区分性与一致性，增强表示的判别性与可解释性。</a:t>
            </a:r>
            <a:endParaRPr lang="zh-CN" altLang="en-US" sz="1200">
              <a:latin typeface="微软雅黑" panose="020B0503020204020204" charset="-122"/>
              <a:ea typeface="微软雅黑" panose="020B0503020204020204" charset="-122"/>
              <a:cs typeface="微软雅黑" panose="020B0503020204020204" charset="-122"/>
              <a:sym typeface="+mn-ea"/>
            </a:endParaRPr>
          </a:p>
        </p:txBody>
      </p:sp>
      <p:sp>
        <p:nvSpPr>
          <p:cNvPr id="9" name="单圆角矩形 8"/>
          <p:cNvSpPr/>
          <p:nvPr/>
        </p:nvSpPr>
        <p:spPr>
          <a:xfrm>
            <a:off x="0" y="314960"/>
            <a:ext cx="6316980" cy="530860"/>
          </a:xfrm>
          <a:prstGeom prst="round1Rect">
            <a:avLst/>
          </a:prstGeom>
          <a:noFill/>
          <a:ln>
            <a:noFill/>
          </a:ln>
          <a:extLst>
            <a:ext uri="{909E8E84-426E-40DD-AFC4-6F175D3DCCD1}">
              <a14:hiddenFill xmlns:a14="http://schemas.microsoft.com/office/drawing/2010/main">
                <a:solidFill>
                  <a:srgbClr val="4864FC"/>
                </a:solidFill>
              </a14:hiddenFill>
            </a:ext>
          </a:extLst>
        </p:spPr>
        <p:style>
          <a:lnRef idx="3">
            <a:schemeClr val="accent1"/>
          </a:lnRef>
          <a:fillRef idx="0">
            <a:srgbClr val="FFFFFF"/>
          </a:fillRef>
          <a:effectRef idx="0">
            <a:srgbClr val="FFFFFF"/>
          </a:effectRef>
          <a:fontRef idx="minor">
            <a:schemeClr val="tx1"/>
          </a:fontRef>
        </p:style>
        <p:txBody>
          <a:bodyPr/>
          <a:p>
            <a:pPr algn="l" defTabSz="914400">
              <a:lnSpc>
                <a:spcPct val="100000"/>
              </a:lnSpc>
              <a:buClrTx/>
              <a:buSzTx/>
              <a:buFontTx/>
            </a:pPr>
            <a:r>
              <a:rPr lang="zh-CN" altLang="en-US" sz="2400" b="1">
                <a:solidFill>
                  <a:srgbClr val="1F40B8"/>
                </a:solidFill>
                <a:latin typeface="微软雅黑" panose="020B0503020204020204" charset="-122"/>
                <a:ea typeface="微软雅黑" panose="020B0503020204020204" charset="-122"/>
                <a:cs typeface="微软雅黑" panose="020B0503020204020204" charset="-122"/>
              </a:rPr>
              <a:t>四、</a:t>
            </a:r>
            <a:r>
              <a:rPr lang="zh-CN" altLang="en-US" sz="2400" b="1">
                <a:solidFill>
                  <a:srgbClr val="1F40B8"/>
                </a:solidFill>
                <a:latin typeface="微软雅黑" panose="020B0503020204020204" charset="-122"/>
                <a:ea typeface="微软雅黑" panose="020B0503020204020204" charset="-122"/>
                <a:cs typeface="微软雅黑" panose="020B0503020204020204" charset="-122"/>
                <a:sym typeface="+mn-ea"/>
              </a:rPr>
              <a:t>创新点</a:t>
            </a:r>
            <a:endParaRPr lang="zh-CN" altLang="en-US" sz="2400" b="1">
              <a:solidFill>
                <a:srgbClr val="1F40B8"/>
              </a:solidFill>
              <a:latin typeface="微软雅黑" panose="020B0503020204020204" charset="-122"/>
              <a:ea typeface="微软雅黑" panose="020B0503020204020204" charset="-122"/>
              <a:cs typeface="微软雅黑" panose="020B0503020204020204" charset="-122"/>
              <a:sym typeface="+mn-ea"/>
            </a:endParaRPr>
          </a:p>
        </p:txBody>
      </p:sp>
      <p:pic>
        <p:nvPicPr>
          <p:cNvPr id="12" name="图片 11" descr="图片2.emf"/>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599696" y="315142"/>
            <a:ext cx="2308084" cy="543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 Header bar -->
      <p:sp>
        <p:nvSpPr>
          <p:cNvPr id="9" name="单圆角矩形 8"/>
          <p:cNvSpPr/>
          <p:nvPr/>
        </p:nvSpPr>
        <p:spPr>
          <a:xfrm>
            <a:off x="0" y="314960"/>
            <a:ext cx="6316980" cy="530860"/>
          </a:xfrm>
          <a:prstGeom prst="round1Rect">
            <a:avLst/>
          </a:prstGeom>
          <a:noFill/>
          <a:ln>
            <a:noFill/>
          </a:ln>
          <a:extLst>
            <a:ext uri="{909E8E84-426E-40DD-AFC4-6F175D3DCCD1}">
              <a14:hiddenFill xmlns:a14="http://schemas.microsoft.com/office/drawing/2010/main">
                <a:solidFill>
                  <a:srgbClr val="4864FC"/>
                </a:solidFill>
              </a14:hiddenFill>
            </a:ext>
          </a:extLst>
        </p:spPr>
        <p:style>
          <a:lnRef idx="3">
            <a:schemeClr val="accent1"/>
          </a:lnRef>
          <a:fillRef idx="0">
            <a:srgbClr val="FFFFFF"/>
          </a:fillRef>
          <a:effectRef idx="0">
            <a:srgbClr val="FFFFFF"/>
          </a:effectRef>
          <a:fontRef idx="minor">
            <a:schemeClr val="tx1"/>
          </a:fontRef>
        </p:style>
        <p:txBody>
          <a:bodyPr/>
          <a:p>
            <a:pPr algn="l" defTabSz="914400">
              <a:lnSpc>
                <a:spcPct val="100000"/>
              </a:lnSpc>
              <a:buClrTx/>
              <a:buSzTx/>
              <a:buFontTx/>
            </a:pPr>
            <a:r>
              <a:rPr lang="zh-CN" altLang="en-US" sz="2400" b="1">
                <a:solidFill>
                  <a:srgbClr val="1F40B8"/>
                </a:solidFill>
                <a:latin typeface="微软雅黑" panose="020B0503020204020204" charset="-122"/>
                <a:ea typeface="微软雅黑" panose="020B0503020204020204" charset="-122"/>
                <a:cs typeface="微软雅黑" panose="020B0503020204020204" charset="-122"/>
              </a:rPr>
              <a:t>五、实验进展</a:t>
            </a:r>
          </a:p>
        </p:txBody>
      </p:sp>
      <!-- Logo image -->
      <p:pic>
        <p:nvPicPr>
          <p:cNvPr id="12" name="图片 11" descr="图片2.emf"/>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599696" y="315142"/>
            <a:ext cx="2308084" cy="543517"/>
          </a:xfrm>
          <a:prstGeom prst="rect">
            <a:avLst/>
          </a:prstGeom>
          <a:noFill/>
          <a:ln>
            <a:noFill/>
          </a:ln>
        </p:spPr>
      </p:pic>
      <!-- Section: Baseline vs SGRL+GB 对比结果 -->
      <p:sp>
        <p:nvSpPr>
          <p:cNvPr id="20" name="文本框 20"/>
          <p:cNvSpPr txBox="1"/>
          <p:nvPr/>
        </p:nvSpPr>
        <p:spPr>
          <a:xfrm>
            <a:off x="147955" y="950000"/>
            <a:ext cx="8700000" cy="420000"/>
          </a:xfrm>
          <a:prstGeom prst="rect">
            <a:avLst/>
          </a:prstGeom>
          <a:noFill/>
        </p:spPr>
        <p:txBody>
          <a:bodyPr wrap="square" rtlCol="0">
            <a:spAutoFit/>
          </a:bodyPr>
          <a:p>
            <a:r>
              <a:rPr lang="zh-CN" altLang="en-US" sz="1600" b="1">
                <a:solidFill>
                  <a:srgbClr val="1F40B8"/>
                </a:solidFill>
              </a:rPr>
              <a:t>（一）Baseline 与 SGRL+GB 对比结果（节点分类准确率 ACC，%）</a:t>
            </a:r>
          </a:p>
        </p:txBody>
      </p:sp>
      <!-- Table-like result display: header row -->
      <p:sp>
        <p:nvSpPr>
          <p:cNvPr id="21" name="文本框 21"/>
          <p:cNvSpPr txBox="1"/>
          <p:nvPr/>
        </p:nvSpPr>
        <p:spPr>
          <a:xfrm>
            <a:off x="147955" y="1420000"/>
            <a:ext cx="8700000" cy="1800000"/>
          </a:xfrm>
          <a:prstGeom prst="rect">
            <a:avLst/>
          </a:prstGeom>
          <a:solidFill>
            <a:srgbClr val="EEF1FF"/>
          </a:solidFill>
          <a:ln w="12700">
            <a:solidFill>
              <a:srgbClr val="C5CAE9"/>
            </a:solidFill>
          </a:ln>
        </p:spPr>
        <p:txBody>
          <a:bodyPr wrap="square" rtlCol="0" lIns="91440" tIns="45720" rIns="91440" bIns="45720"/>
          <a:p>
            <a:r>
              <a:rPr lang="zh-CN" altLang="en-US" sz="1400" b="1">
                <a:solidFill>
                  <a:srgbClr val="333333"/>
                </a:solidFill>
              </a:rPr>
              <a:t>方法                               Computers               Photo                  Co.CS                  Co.Physics</a:t>
            </a:r>
          </a:p>
          <a:p>
            <a:r>
              <a:rPr lang="en-US" altLang="zh-CN" sz="1400">
                <a:solidFill>
                  <a:srgbClr val="444444"/>
                </a:solidFill>
              </a:rPr>
              <a:t>SGRL (</a:t>
            </a:r>
            <a:r>
              <a:rPr lang="zh-CN" altLang="en-US" sz="1400">
                <a:solidFill>
                  <a:srgbClr val="444444"/>
                </a:solidFill>
              </a:rPr>
              <a:t>原文</a:t>
            </a:r>
            <a:r>
              <a:rPr lang="en-US" altLang="zh-CN" sz="1400">
                <a:solidFill>
                  <a:srgbClr val="444444"/>
                </a:solidFill>
              </a:rPr>
              <a:t>)                         90.23±0.03        93.95±0.03        93.95±0.03        96.23±0.01</a:t>
            </a:r>
          </a:p>
          <a:p>
            <a:r>
              <a:rPr lang="en-US" altLang="zh-CN" sz="1400" b="1">
                <a:solidFill>
                  <a:srgbClr val="C0392B"/>
                </a:solidFill>
              </a:rPr>
              <a:t>SGRL+GB (homo-dot-0.7)    89.70±0.00        93.56±0.00        92.61±0.00        95.85±0.00</a:t>
            </a:r>
          </a:p>
          <a:p>
            <a:r>
              <a:rPr lang="en-US" altLang="zh-CN" sz="1400" b="1">
                <a:solidFill>
                  <a:srgbClr val="27AE60"/>
                </a:solidFill>
              </a:rPr>
              <a:t xml:space="preserve">SGRL+GB </a:t>
            </a:r>
            <a:r>
              <a:rPr lang="zh-CN" altLang="en-US" sz="1400" b="1">
                <a:solidFill>
                  <a:srgbClr val="27AE60"/>
                </a:solidFill>
              </a:rPr>
              <a:t xml:space="preserve">（最优配置）       </a:t>
            </a:r>
            <a:r>
              <a:rPr lang="en-US" altLang="zh-CN" sz="1400" b="1">
                <a:solidFill>
                  <a:srgbClr val="27AE60"/>
                </a:solidFill>
              </a:rPr>
              <a:t>89.97              93.87              94.28              96.21</a:t>
            </a:r>
          </a:p>
        </p:txBody>
      </p:sp>
      <!-- Note -->
      <p:sp>
        <p:nvSpPr>
          <p:cNvPr id="22" name="文本框 22"/>
          <p:cNvSpPr txBox="1"/>
          <p:nvPr/>
        </p:nvSpPr>
        <p:spPr>
          <a:xfrm>
            <a:off x="147955" y="3280000"/>
            <a:ext cx="8700000" cy="280000"/>
          </a:xfrm>
          <a:prstGeom prst="rect">
            <a:avLst/>
          </a:prstGeom>
          <a:noFill/>
        </p:spPr>
        <p:txBody>
          <a:bodyPr wrap="square" rtlCol="0">
            <a:spAutoFit/>
          </a:bodyPr>
          <a:p>
            <a:r>
              <a:rPr lang="zh-CN" altLang="en-US" sz="1100" i="1">
                <a:solidFill>
                  <a:srgbClr val="777777"/>
                </a:solidFill>
              </a:rPr>
              <a:t>注：最优配置为参数扫描后的最佳超参组合（5次 trial 平均）；红色为当前初步结果，绿色为参数优化后最优结果</a:t>
            </a:r>
          </a:p>
        </p:txBody>
      </p:sp>
      <!-- Section: 近期关键改进 -->
      <p:sp>
        <p:nvSpPr>
          <p:cNvPr id="23" name="文本框 23"/>
          <p:cNvSpPr txBox="1"/>
          <p:nvPr/>
        </p:nvSpPr>
        <p:spPr>
          <a:xfrm>
            <a:off x="147955" y="3620000"/>
            <a:ext cx="8700000" cy="380000"/>
          </a:xfrm>
          <a:prstGeom prst="rect">
            <a:avLst/>
          </a:prstGeom>
          <a:noFill/>
        </p:spPr>
        <p:txBody>
          <a:bodyPr wrap="square" rtlCol="0">
            <a:spAutoFit/>
          </a:bodyPr>
          <a:p>
            <a:r>
              <a:rPr lang="zh-CN" altLang="en-US" sz="1600" b="1">
                <a:solidFill>
                  <a:srgbClr val="1F40B8"/>
                </a:solidFill>
              </a:rPr>
              <a:t>（二）近期关键改进（3月下旬）</a:t>
            </a:r>
          </a:p>
        </p:txBody>
      </p:sp>
      <!-- Left block: 粒球构建优化 -->
      <p:sp>
        <p:nvSpPr>
          <p:cNvPr id="24" name="文本框 24"/>
          <p:cNvSpPr txBox="1"/>
          <p:nvPr/>
        </p:nvSpPr>
        <p:spPr>
          <a:xfrm>
            <a:off x="147955" y="4060000"/>
            <a:ext cx="4180000" cy="1600000"/>
          </a:xfrm>
          <a:prstGeom prst="rect">
            <a:avLst/>
          </a:prstGeom>
          <a:solidFill>
            <a:srgbClr val="E8F4FD"/>
          </a:solidFill>
          <a:ln w="12700">
            <a:solidFill>
              <a:srgbClr val="4864FC"/>
            </a:solidFill>
          </a:ln>
        </p:spPr>
        <p:txBody>
          <a:bodyPr wrap="square" rtlCol="0" lIns="91440" tIns="91440" rIns="91440" bIns="91440">
            <a:spAutoFit/>
          </a:bodyPr>
          <a:p>
            <a:r>
              <a:rPr lang="zh-CN" altLang="en-US" sz="1400" b="1">
                <a:solidFill>
                  <a:srgbClr val="1F40B8"/>
                </a:solidFill>
              </a:rPr>
              <a:t>① 粒球构建鲁棒性优化</a:t>
            </a:r>
          </a:p>
          <a:p>
            <a:r>
              <a:rPr lang="zh-CN" altLang="en-US" sz="1200">
              </a:rPr>
              <a:t>引入特征相似度辅助判断，分配节点时兼顾拓扑连通性与嵌入语义相似性，降低异质节点混入同一粒球的概率，粒球内部语义纯度显著提升。</a:t>
            </a:r>
          </a:p>
          <a:p>
            <a:r>
              <a:rPr lang="zh-CN" altLang="en-US" sz="1200" b="1">
                <a:solidFill>
                  <a:srgbClr val="27AE60"/>
                </a:solidFill>
              </a:rPr>
              <a:t>效果：粒球边界更清晰，不同类别节点混入率下降</a:t>
            </a:r>
          </a:p>
        </p:txBody>
      </p:sp>
      <!-- Right block: 扩散机制抗噪 -->
      <p:sp>
        <p:nvSpPr>
          <p:cNvPr id="25" name="文本框 25"/>
          <p:cNvSpPr txBox="1"/>
          <p:nvPr/>
        </p:nvSpPr>
        <p:spPr>
          <a:xfrm>
            <a:off x="4547955" y="4060000"/>
            <a:ext cx="4300000" cy="1600000"/>
          </a:xfrm>
          <a:prstGeom prst="rect">
            <a:avLst/>
          </a:prstGeom>
          <a:solidFill>
            <a:srgbClr val="FFF3E0"/>
          </a:solidFill>
          <a:ln w="12700">
            <a:solidFill>
              <a:srgbClr val="E67E22"/>
            </a:solidFill>
          </a:ln>
        </p:spPr>
        <p:txBody>
          <a:bodyPr wrap="square" rtlCol="0" lIns="91440" tIns="91440" rIns="91440" bIns="91440">
            <a:spAutoFit/>
          </a:bodyPr>
          <a:p>
            <a:r>
              <a:rPr lang="zh-CN" altLang="en-US" sz="1400" b="1">
                <a:solidFill>
                  <a:srgbClr val="D35400"/>
                </a:solidFill>
              </a:rPr>
              <a:t>② 扩散机制抗噪增强</a:t>
            </a:r>
          </a:p>
          <a:p>
            <a:r>
              <a:rPr lang="zh-CN" altLang="en-US" sz="1200">
              </a:rPr>
              <a:t>对扩散矩阵引入粒球可信度权重：质量低（杂乱）的粒球传播权重衰减，高质量粒球间扩散为主，减少噪声节点对全局嵌入的干扰。</a:t>
            </a:r>
          </a:p>
          <a:p>
            <a:r>
              <a:rPr lang="zh-CN" altLang="en-US" sz="1200" b="1">
                <a:solidFill>
                  <a:srgbClr val="27AE60"/>
                </a:solidFill>
              </a:rPr>
              <a:t>效果：带噪声数据集 ACC 提升约 +2.3%</a:t>
            </a:r>
          </a:p>
        </p:txBody>
      </p:sp>
      <!-- Current challenge -->
      <p:sp>
        <p:nvSpPr>
          <p:cNvPr id="26" name="文本框 26"/>
          <p:cNvSpPr txBox="1"/>
          <p:nvPr/>
        </p:nvSpPr>
        <p:spPr>
          <a:xfrm>
            <a:off x="147955" y="5740000"/>
            <a:ext cx="8700000" cy="380000"/>
          </a:xfrm>
          <a:prstGeom prst="rect">
            <a:avLst/>
          </a:prstGeom>
          <a:noFill/>
        </p:spPr>
        <p:txBody>
          <a:bodyPr wrap="square" rtlCol="0">
            <a:spAutoFit/>
          </a:bodyPr>
          <a:p>
            <a:r>
              <a:rPr lang="zh-CN" altLang="en-US" sz="1300" b="1">
                <a:solidFill>
                  <a:srgbClr val="8E44AD"/>
                </a:solidFill>
              </a:rPr>
              <a:t>⚠ 当前挑战：</a:t>
            </a:r>
            <a:r>
              <a:rPr lang="zh-CN" altLang="en-US" sz="1300">
              </a:rPr>
              <a:t>引入特征判断和权重过滤后，训练时间有所增加；极端噪声场景下效果仍有下降，下一步重点优化计算效率与抗噪上限。</a:t>
            </a:r>
          </a:p>
        </p:txBody>
      </p:sp>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 Header bar -->
      <p:sp>
        <p:nvSpPr>
          <p:cNvPr id="9" name="单圆角矩形 8"/>
          <p:cNvSpPr/>
          <p:nvPr/>
        </p:nvSpPr>
        <p:spPr>
          <a:xfrm>
            <a:off x="0" y="314960"/>
            <a:ext cx="6316980" cy="530860"/>
          </a:xfrm>
          <a:prstGeom prst="round1Rect">
            <a:avLst/>
          </a:prstGeom>
          <a:noFill/>
          <a:ln>
            <a:noFill/>
          </a:ln>
          <a:extLst>
            <a:ext uri="{909E8E84-426E-40DD-AFC4-6F175D3DCCD1}">
              <a14:hiddenFill xmlns:a14="http://schemas.microsoft.com/office/drawing/2010/main">
                <a:solidFill>
                  <a:srgbClr val="4864FC"/>
                </a:solidFill>
              </a14:hiddenFill>
            </a:ext>
          </a:extLst>
        </p:spPr>
        <p:style>
          <a:lnRef idx="3">
            <a:schemeClr val="accent1"/>
          </a:lnRef>
          <a:fillRef idx="0">
            <a:srgbClr val="FFFFFF"/>
          </a:fillRef>
          <a:effectRef idx="0">
            <a:srgbClr val="FFFFFF"/>
          </a:effectRef>
          <a:fontRef idx="minor">
            <a:schemeClr val="tx1"/>
          </a:fontRef>
        </p:style>
        <p:txBody>
          <a:bodyPr/>
          <a:p>
            <a:pPr algn="l" defTabSz="914400">
              <a:lnSpc>
                <a:spcPct val="100000"/>
              </a:lnSpc>
              <a:buClrTx/>
              <a:buSzTx/>
              <a:buFontTx/>
            </a:pPr>
            <a:r>
              <a:rPr lang="zh-CN" altLang="en-US" sz="2400" b="1">
                <a:solidFill>
                  <a:srgbClr val="1F40B8"/>
                </a:solidFill>
                <a:latin typeface="微软雅黑" panose="020B0503020204020204" charset="-122"/>
                <a:ea typeface="微软雅黑" panose="020B0503020204020204" charset="-122"/>
                <a:cs typeface="微软雅黑" panose="020B0503020204020204" charset="-122"/>
              </a:rPr>
              <a:t>六、下一步安排</a:t>
            </a:r>
          </a:p>
        </p:txBody>
      </p:sp>
      <!-- Logo -->
      <p:pic>
        <p:nvPicPr>
          <p:cNvPr id="12" name="图片 11" descr="图片2.emf"/>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599696" y="315142"/>
            <a:ext cx="2308084" cy="543517"/>
          </a:xfrm>
          <a:prstGeom prst="rect">
            <a:avLst/>
          </a:prstGeom>
          <a:noFill/>
          <a:ln>
            <a:noFill/>
          </a:ln>
        </p:spPr>
      </p:pic>
      <!-- Item 1 -->
      <p:sp>
        <p:nvSpPr>
          <p:cNvPr id="3" name="文本框 2"/>
          <p:cNvSpPr txBox="1"/>
          <p:nvPr/>
        </p:nvSpPr>
        <p:spPr>
          <a:xfrm>
            <a:off x="147955" y="1000000"/>
            <a:ext cx="8700000" cy="960000"/>
          </a:xfrm>
          <a:prstGeom prst="rect">
            <a:avLst/>
          </a:prstGeom>
          <a:noFill/>
        </p:spPr>
        <p:txBody>
          <a:bodyPr wrap="square" rtlCol="0">
            <a:spAutoFit/>
          </a:bodyPr>
          <a:p>
            <a:r>
              <a:rPr lang="zh-CN" altLang="en-US" sz="1500" b="1">
                <a:latin typeface="+mj-ea"/>
                <a:ea typeface="+mj-ea"/>
                <a:cs typeface="+mj-cs"/>
              </a:rPr>
              <a:t>（1）计算效率优化</a:t>
            </a:r>
          </a:p>
          <a:p>
            <a:r>
              <a:rPr lang="zh-CN" altLang="en-US" sz="1300">
                <a:latin typeface="+mj-ea"/>
                <a:ea typeface="+mj-ea"/>
                <a:cs typeface="+mj-cs"/>
              </a:rPr>
              <a:t>针对引入特征相似度判断和权重过滤后训练时间增加的问题，探索近似算法或节点采样策略，以在不显著损失精度的前提下降低单轮训练时间，确保可在大规模图上实用。</a:t>
            </a:r>
          </a:p>
        </p:txBody>
      </p:sp>
      <!-- Item 2 -->
      <p:sp>
        <p:nvSpPr>
          <p:cNvPr id="4" name="文本框 3"/>
          <p:cNvSpPr txBox="1"/>
          <p:nvPr/>
        </p:nvSpPr>
        <p:spPr>
          <a:xfrm>
            <a:off x="147955" y="2060000"/>
            <a:ext cx="8700000" cy="960000"/>
          </a:xfrm>
          <a:prstGeom prst="rect">
            <a:avLst/>
          </a:prstGeom>
          <a:noFill/>
        </p:spPr>
        <p:txBody>
          <a:bodyPr wrap="square" rtlCol="0">
            <a:spAutoFit/>
          </a:bodyPr>
          <a:p>
            <a:r>
              <a:rPr lang="zh-CN" altLang="en-US" sz="1500" b="1">
                <a:latin typeface="+mj-ea"/>
                <a:ea typeface="+mj-ea"/>
                <a:cs typeface="+mj-cs"/>
              </a:rPr>
              <a:t>（2）系统性对比实验与消融实验</a:t>
            </a:r>
          </a:p>
          <a:p>
            <a:r>
              <a:rPr lang="zh-CN" altLang="en-US" sz="1300">
                <a:latin typeface="+mj-ea"/>
                <a:ea typeface="+mj-ea"/>
                <a:cs typeface="+mj-cs"/>
              </a:rPr>
              <a:t>在标准数据集（Cora, Citeseer, Pubmed）及异质性数据集上与 GraphCL、MVGRL、BGRL 等方法全面对比；对粒球构建、扩散机制、对比损失三大核心模块分别开展消融研究，量化各模块贡献。</a:t>
            </a:r>
          </a:p>
        </p:txBody>
      </p:sp>
      <!-- Item 3 -->
      <p:sp>
        <p:nvSpPr>
          <p:cNvPr id="5" name="文本框 4"/>
          <p:cNvSpPr txBox="1"/>
          <p:nvPr/>
        </p:nvSpPr>
        <p:spPr>
          <a:xfrm>
            <a:off x="147955" y="3120000"/>
            <a:ext cx="8700000" cy="960000"/>
          </a:xfrm>
          <a:prstGeom prst="rect">
            <a:avLst/>
          </a:prstGeom>
          <a:noFill/>
        </p:spPr>
        <p:txBody>
          <a:bodyPr wrap="square" rtlCol="0">
            <a:spAutoFit/>
          </a:bodyPr>
          <a:p>
            <a:r>
              <a:rPr lang="zh-CN" altLang="en-US" sz="1500" b="1">
                <a:latin typeface="+mj-ea"/>
                <a:ea typeface="+mj-ea"/>
                <a:cs typeface="+mj-cs"/>
              </a:rPr>
              <a:t>（3）抗噪能力进一步提升</a:t>
            </a:r>
          </a:p>
          <a:p>
            <a:r>
              <a:rPr lang="zh-CN" altLang="en-US" sz="1300">
                <a:latin typeface="+mj-ea"/>
                <a:ea typeface="+mj-ea"/>
                <a:cs typeface="+mj-cs"/>
              </a:rPr>
              <a:t>当前简单权重衰减在极端噪声场景仍有局限，探索自适应可信度评分机制或引入鲁棒性正则项，提升模型在高噪声图数据中的稳定性与泛化能力。</a:t>
            </a:r>
          </a:p>
        </p:txBody>
      </p:sp>
      <!-- Item 4 -->
      <p:sp>
        <p:nvSpPr>
          <p:cNvPr id="6" name="文本框 5"/>
          <p:cNvSpPr txBox="1"/>
          <p:nvPr/>
        </p:nvSpPr>
        <p:spPr>
          <a:xfrm>
            <a:off x="147955" y="4180000"/>
            <a:ext cx="8700000" cy="960000"/>
          </a:xfrm>
          <a:prstGeom prst="rect">
            <a:avLst/>
          </a:prstGeom>
          <a:noFill/>
        </p:spPr>
        <p:txBody>
          <a:bodyPr wrap="square" rtlCol="0">
            <a:spAutoFit/>
          </a:bodyPr>
          <a:p>
            <a:r>
              <a:rPr lang="zh-CN" altLang="en-US" sz="1500" b="1">
                <a:latin typeface="+mj-ea"/>
                <a:ea typeface="+mj-ea"/>
                <a:cs typeface="+mj-cs"/>
              </a:rPr>
              <a:t>（4）参数敏感性分析与可视化</a:t>
            </a:r>
          </a:p>
          <a:p>
            <a:r>
              <a:rPr lang="zh-CN" altLang="en-US" sz="1300">
                <a:latin typeface="+mj-ea"/>
                <a:ea typeface="+mj-ea"/>
                <a:cs typeface="+mj-cs"/>
              </a:rPr>
              <a:t>系统分析粒球粒度、扩散步数 K、回写权重 α、对比损失权重等关键超参对性能的影响；利用 t-SNE 对粒球分布及扩散过程可视化，增强模型可解释性。</a:t>
            </a:r>
          </a:p>
        </p:txBody>
      </p:sp>
      <!-- Item 5 -->
      <p:sp>
        <p:nvSpPr>
          <p:cNvPr id="7" name="文本框 6"/>
          <p:cNvSpPr txBox="1"/>
          <p:nvPr/>
        </p:nvSpPr>
        <p:spPr>
          <a:xfrm>
            <a:off x="147955" y="5240000"/>
            <a:ext cx="8700000" cy="900000"/>
          </a:xfrm>
          <a:prstGeom prst="rect">
            <a:avLst/>
          </a:prstGeom>
          <a:noFill/>
        </p:spPr>
        <p:txBody>
          <a:bodyPr wrap="square" rtlCol="0">
            <a:spAutoFit/>
          </a:bodyPr>
          <a:p>
            <a:r>
              <a:rPr lang="zh-CN" altLang="en-US" sz="1500" b="1">
                <a:latin typeface="+mj-ea"/>
                <a:ea typeface="+mj-ea"/>
                <a:cs typeface="+mj-cs"/>
              </a:rPr>
              <a:t>（5）论文初稿完善</a:t>
            </a:r>
          </a:p>
          <a:p>
            <a:r>
              <a:rPr lang="zh-CN" altLang="en-US" sz="1300">
                <a:latin typeface="+mj-ea"/>
                <a:ea typeface="+mj-ea"/>
                <a:cs typeface="+mj-cs"/>
              </a:rPr>
              <a:t>完善论文初稿的方法部分与实验部分，统一术语、公式编号和图表说明，补充与基线方法的全面对比章节。</a:t>
            </a:r>
          </a:p>
        </p:txBody>
      </p:sp>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 Header bar -->
      <p:sp>
        <p:nvSpPr>
          <p:cNvPr id="9" name="单圆角矩形 8"/>
          <p:cNvSpPr/>
          <p:nvPr/>
        </p:nvSpPr>
        <p:spPr>
          <a:xfrm>
            <a:off x="0" y="314960"/>
            <a:ext cx="6316980" cy="530860"/>
          </a:xfrm>
          <a:prstGeom prst="round1Rect">
            <a:avLst/>
          </a:prstGeom>
          <a:noFill/>
          <a:ln>
            <a:noFill/>
          </a:ln>
          <a:extLst>
            <a:ext uri="{909E8E84-426E-40DD-AFC4-6F175D3DCCD1}">
              <a14:hiddenFill xmlns:a14="http://schemas.microsoft.com/office/drawing/2010/main">
                <a:solidFill>
                  <a:srgbClr val="4864FC"/>
                </a:solidFill>
              </a14:hiddenFill>
            </a:ext>
          </a:extLst>
        </p:spPr>
        <p:style>
          <a:lnRef idx="3">
            <a:schemeClr val="accent1"/>
          </a:lnRef>
          <a:fillRef idx="0">
            <a:srgbClr val="FFFFFF"/>
          </a:fillRef>
          <a:effectRef idx="0">
            <a:srgbClr val="FFFFFF"/>
          </a:effectRef>
          <a:fontRef idx="minor">
            <a:schemeClr val="tx1"/>
          </a:fontRef>
        </p:style>
        <p:txBody>
          <a:bodyPr/>
          <a:p>
            <a:pPr algn="l" defTabSz="914400">
              <a:lnSpc>
                <a:spcPct val="100000"/>
              </a:lnSpc>
              <a:buClrTx/>
              <a:buSzTx/>
              <a:buFontTx/>
            </a:pPr>
            <a:r>
              <a:rPr lang="zh-CN" altLang="en-US" sz="2400" b="1">
                <a:solidFill>
                  <a:srgbClr val="1F40B8"/>
                </a:solidFill>
                <a:latin typeface="微软雅黑" panose="020B0503020204020204" charset="-122"/>
                <a:ea typeface="微软雅黑" panose="020B0503020204020204" charset="-122"/>
                <a:cs typeface="微软雅黑" panose="020B0503020204020204" charset="-122"/>
              </a:rPr>
              <a:t>附：近期工作回顾（3月20日 / 3月27日）</a:t>
            </a:r>
          </a:p>
        </p:txBody>
      </p:sp>
      <!-- Logo -->
      <p:pic>
        <p:nvPicPr>
          <p:cNvPr id="12" name="图片 11" descr="图片2.emf"/>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599696" y="315142"/>
            <a:ext cx="2308084" cy="543517"/>
          </a:xfrm>
          <a:prstGeom prst="rect">
            <a:avLst/>
          </a:prstGeom>
          <a:noFill/>
          <a:ln>
            <a:noFill/>
          </a:ln>
        </p:spPr>
      </p:pic>
      <!-- Left column: 3月20日 -->
      <p:sp>
        <p:nvSpPr>
          <p:cNvPr id="30" name="文本框 30"/>
          <p:cNvSpPr txBox="1"/>
          <p:nvPr/>
        </p:nvSpPr>
        <p:spPr>
          <a:xfrm>
            <a:off x="147955" y="1000000"/>
            <a:ext cx="4270000" cy="5400000"/>
          </a:xfrm>
          <a:prstGeom prst="rect">
            <a:avLst/>
          </a:prstGeom>
          <a:solidFill>
            <a:srgbClr val="F0F4FF"/>
          </a:solidFill>
          <a:ln w="12700">
            <a:solidFill>
              <a:srgbClr val="4864FC"/>
            </a:solidFill>
          </a:ln>
        </p:spPr>
        <p:txBody>
          <a:bodyPr wrap="square" rtlCol="0" lIns="91440" tIns="91440" rIns="91440" bIns="91440">
            <a:spAutoFit/>
          </a:bodyPr>
          <a:p>
            <a:r>
              <a:rPr lang="zh-CN" altLang="en-US" sz="1500" b="1">
                <a:solidFill>
                  <a:srgbClr val="1F40B8"/>
                </a:solidFill>
              </a:rPr>
              <a:t>2026年3月20日 汇报摘要</a:t>
            </a:r>
          </a:p>
          <a:p>
            <a:r>
              <a:rPr lang="zh-CN" altLang="en-US" sz="1300" b="1">
              </a:rPr>
              <a:t>▶ 论文初稿整理与方法定稿</a:t>
            </a:r>
          </a:p>
          <a:p>
            <a:r>
              <a:rPr lang="zh-CN" altLang="en-US" sz="1200">
              </a:rPr>
              <a:t>梳理 GCL 研究背景，分析现有方法在视图构造与结构建模上的不足（增强策略语义偏移 / 节点级建模缺失高阶结构）。确立核心思路：引入粒球作为中层结构单元，构建多尺度结构视图。</a:t>
            </a:r>
          </a:p>
          <a:p>
            <a:r>
              <a:rPr lang="zh-CN" altLang="en-US" sz="1300" b="1">
              </a:rPr>
              <a:t>▶ 方法框架初步设计</a:t>
            </a:r>
          </a:p>
          <a:p>
            <a:r>
              <a:rPr lang="zh-CN" altLang="en-US" sz="1200">
              </a:rPr>
              <a:t>完成四模块框架：「结构构建—扩散建模—视图生成—对比学习」。实现从节点级扩散向结构级扩散的初步转化。</a:t>
            </a:r>
          </a:p>
          <a:p>
            <a:r>
              <a:rPr lang="zh-CN" altLang="en-US" sz="1300" b="1">
              </a:rPr>
              <a:t>▶ 阶段性结论</a:t>
            </a:r>
          </a:p>
          <a:p>
            <a:r>
              <a:rPr lang="zh-CN" altLang="en-US" sz="1200">
              </a:rPr>
              <a:t>引入粒球后在同质性强 / 社区结构清晰的图数据中多尺度视图语义一致性提升；异质性强或高噪声场景下粒球划分稳定性仍有优化空间。</a:t>
            </a:r>
          </a:p>
        </p:txBody>
      </p:sp>
      <!-- Right column: 3月27日 -->
      <p:sp>
        <p:nvSpPr>
          <p:cNvPr id="31" name="文本框 31"/>
          <p:cNvSpPr txBox="1"/>
          <p:nvPr/>
        </p:nvSpPr>
        <p:spPr>
          <a:xfrm>
            <a:off x="4577955" y="1000000"/>
            <a:ext cx="4270000" cy="5400000"/>
          </a:xfrm>
          <a:prstGeom prst="rect">
            <a:avLst/>
          </a:prstGeom>
          <a:solidFill>
            <a:srgbClr val="FFF8F0"/>
          </a:solidFill>
          <a:ln w="12700">
            <a:solidFill>
              <a:srgbClr val="E67E22"/>
            </a:solidFill>
          </a:ln>
        </p:spPr>
        <p:txBody>
          <a:bodyPr wrap="square" rtlCol="0" lIns="91440" tIns="91440" rIns="91440" bIns="91440">
            <a:spAutoFit/>
          </a:bodyPr>
          <a:p>
            <a:r>
              <a:rPr lang="zh-CN" altLang="en-US" sz="1500" b="1">
                <a:solidFill>
                  <a:srgbClr val="D35400"/>
                </a:solidFill>
              </a:rPr>
              <a:t>2026年3月27日 汇报摘要</a:t>
            </a:r>
          </a:p>
          <a:p>
            <a:r>
              <a:rPr lang="zh-CN" altLang="en-US" sz="1300" b="1">
              </a:rPr>
              <a:t>▶ 粒球构建鲁棒性优化</a:t>
            </a:r>
          </a:p>
          <a:p>
            <a:r>
              <a:rPr lang="zh-CN" altLang="en-US" sz="1200">
              </a:rPr>
              <a:t>加入特征相似度辅助划分，节点分配兼顾拓扑连通性与嵌入语义相似性，减少异质节点强制聚合问题，粒球语义纯度提升。</a:t>
            </a:r>
          </a:p>
          <a:p>
            <a:r>
              <a:rPr lang="zh-CN" altLang="en-US" sz="1300" b="1">
              </a:rPr>
              <a:t>▶ 扩散机制抗噪增强</a:t>
            </a:r>
          </a:p>
          <a:p>
            <a:r>
              <a:rPr lang="zh-CN" altLang="en-US" sz="1200">
              </a:rPr>
              <a:t>在扩散矩阵中引入粒球质量权重，抑制低质量（杂乱）粒球的信息传播，减少噪声干扰，扩散过程更聚焦于高可信粒球。</a:t>
            </a:r>
          </a:p>
          <a:p>
            <a:r>
              <a:rPr lang="zh-CN" altLang="en-US" sz="1300" b="1">
                <a:solidFill>
                  <a:srgbClr val="27AE60"/>
                </a:solidFill>
              </a:rPr>
              <a:t>▶ 实验结果</a:t>
            </a:r>
          </a:p>
          <a:p>
            <a:r>
              <a:rPr lang="zh-CN" altLang="en-US" sz="1200">
              </a:rPr>
              <a:t>带噪声数据集 ACC 相比前一周提升约 +2.3%；可视化显示粒球边界更清晰，类别混入率下降。待进一步在计算效率和极端噪声场景下提升。</a:t>
            </a: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3"/>
  <p:tag name="KSO_WM_UNIT_LAYERLEVEL" val="1"/>
  <p:tag name="KSO_WM_TAG_VERSION" val="3.0"/>
  <p:tag name="KSO_WM_BEAUTIFY_FLAG" val="#wm#"/>
  <p:tag name="KSO_WM_UNIT_TYPE" val="i"/>
  <p:tag name="KSO_WM_UNIT_INDEX" val="3"/>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NOCLEAR" val="0"/>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5"/>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5"/>
  <p:tag name="KSO_WM_UNIT_TEXT_LAYER_COUNT" val="1"/>
</p:tagLst>
</file>

<file path=ppt/tags/tag1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307_2*l_h_i*1_1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343.45001220703125,&quot;left&quot;:35.82499389648437,&quot;top&quot;:128.09999389648436,&quot;width&quot;:869.35001220703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0"/>
</p:tagLst>
</file>

<file path=ppt/tags/tag14.xml><?xml version="1.0" encoding="utf-8"?>
<p:tagLst xmlns:p="http://schemas.openxmlformats.org/presentationml/2006/main">
  <p:tag name="KSO_WM_DIAGRAM_VIRTUALLY_FRAME" val="{&quot;height&quot;:343.45001220703125,&quot;left&quot;:35.82499389648437,&quot;top&quot;:128.09999389648436,&quot;width&quot;:869.3500122070312}"/>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307_2*l_h_f*1_1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117"/>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的观点。"/>
  <p:tag name="KSO_WM_UNIT_FILL_TYPE" val="1"/>
  <p:tag name="KSO_WM_UNIT_FILL_FORE_SCHEMECOLOR_INDEX" val="2"/>
  <p:tag name="KSO_WM_UNIT_FILL_FORE_SCHEMECOLOR_INDEX_BRIGHTNESS" val="0"/>
  <p:tag name="KSO_WM_UNIT_LINE_FORE_SCHEMECOLOR_INDEX" val="5"/>
  <p:tag name="KSO_WM_UNIT_TEXT_FILL_FORE_SCHEMECOLOR_INDEX" val="1"/>
  <p:tag name="KSO_WM_UNIT_TEXT_FILL_TYPE" val="1"/>
  <p:tag name="KSO_WM_UNIT_LINE_FILL_TYPE" val="2"/>
  <p:tag name="KSO_WM_UNIT_USESOURCEFORMAT_APPLY" val="0"/>
</p:tagLst>
</file>

<file path=ppt/tags/tag15.xml><?xml version="1.0" encoding="utf-8"?>
<p:tagLst xmlns:p="http://schemas.openxmlformats.org/presentationml/2006/main">
  <p:tag name="KSO_WM_DIAGRAM_VIRTUALLY_FRAME" val="{&quot;height&quot;:343.45001220703125,&quot;left&quot;:35.82499389648437,&quot;top&quot;:128.09999389648436,&quot;width&quot;:869.3500122070312}"/>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307_2*l_h_i*1_1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0"/>
</p:tagLst>
</file>

<file path=ppt/tags/tag1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307_2*l_h_i*1_2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343.45001220703125,&quot;left&quot;:35.82499389648437,&quot;top&quot;:128.09999389648436,&quot;width&quot;:869.3500122070312}"/>
  <p:tag name="KSO_WM_DIAGRAM_COLOR_MATCH_VALUE" val="{&quot;shape&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8"/>
  <p:tag name="KSO_WM_UNIT_FILL_FORE_SCHEMECOLOR_INDEX_BRIGHTNESS" val="0"/>
  <p:tag name="KSO_WM_UNIT_USESOURCEFORMAT_APPLY" val="0"/>
</p:tagLst>
</file>

<file path=ppt/tags/tag17.xml><?xml version="1.0" encoding="utf-8"?>
<p:tagLst xmlns:p="http://schemas.openxmlformats.org/presentationml/2006/main">
  <p:tag name="KSO_WM_DIAGRAM_VIRTUALLY_FRAME" val="{&quot;height&quot;:343.45001220703125,&quot;left&quot;:35.82499389648437,&quot;top&quot;:128.09999389648436,&quot;width&quot;:869.3500122070312}"/>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307_2*l_h_f*1_2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8,&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117"/>
  <p:tag name="KSO_WM_UNIT_PRESET_TEXT" val="单击此处添加文本具体内容，简明扼要地阐述您的观点。根据需要可酌情增减文字，以便观者准确地理解您传达的思想单击此处添加文本具体内容，简明扼要地阐述您的观点。以便观者准确地理解您传达的思想单击此处添加文本具体内容。"/>
  <p:tag name="KSO_WM_UNIT_LINE_FORE_SCHEMECOLOR_INDEX" val="8"/>
  <p:tag name="KSO_WM_UNIT_LINE_FILL_TYPE" val="2"/>
  <p:tag name="KSO_WM_UNIT_TEXT_FILL_FORE_SCHEMECOLOR_INDEX" val="13"/>
  <p:tag name="KSO_WM_UNIT_TEXT_FILL_TYPE" val="1"/>
  <p:tag name="KSO_WM_UNIT_USESOURCEFORMAT_APPLY" val="0"/>
</p:tagLst>
</file>

<file path=ppt/tags/tag18.xml><?xml version="1.0" encoding="utf-8"?>
<p:tagLst xmlns:p="http://schemas.openxmlformats.org/presentationml/2006/main">
  <p:tag name="KSO_WM_DIAGRAM_VIRTUALLY_FRAME" val="{&quot;height&quot;:343.45001220703125,&quot;left&quot;:35.82499389648437,&quot;top&quot;:128.09999389648436,&quot;width&quot;:869.3500122070312}"/>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307_2*l_h_i*1_2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8"/>
  <p:tag name="KSO_WM_UNIT_FILL_FORE_SCHEMECOLOR_INDEX_BRIGHTNESS" val="0"/>
  <p:tag name="KSO_WM_UNIT_USESOURCEFORMAT_APPLY" val="0"/>
</p:tagLst>
</file>

<file path=ppt/tags/tag1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1307_2*l_h_i*1_3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343.45001220703125,&quot;left&quot;:35.82499389648437,&quot;top&quot;:128.09999389648436,&quot;width&quot;:869.35001220703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0"/>
</p:tagLst>
</file>

<file path=ppt/tags/tag20.xml><?xml version="1.0" encoding="utf-8"?>
<p:tagLst xmlns:p="http://schemas.openxmlformats.org/presentationml/2006/main">
  <p:tag name="KSO_WM_DIAGRAM_VIRTUALLY_FRAME" val="{&quot;height&quot;:343.45001220703125,&quot;left&quot;:35.82499389648437,&quot;top&quot;:128.09999389648436,&quot;width&quot;:869.3500122070312}"/>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1307_2*l_h_f*1_3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117"/>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
  <p:tag name="KSO_WM_UNIT_LINE_FORE_SCHEMECOLOR_INDEX" val="5"/>
  <p:tag name="KSO_WM_UNIT_LINE_FILL_TYPE" val="2"/>
  <p:tag name="KSO_WM_UNIT_TEXT_FILL_FORE_SCHEMECOLOR_INDEX" val="13"/>
  <p:tag name="KSO_WM_UNIT_TEXT_FILL_TYPE" val="1"/>
  <p:tag name="KSO_WM_UNIT_USESOURCEFORMAT_APPLY" val="0"/>
</p:tagLst>
</file>

<file path=ppt/tags/tag21.xml><?xml version="1.0" encoding="utf-8"?>
<p:tagLst xmlns:p="http://schemas.openxmlformats.org/presentationml/2006/main">
  <p:tag name="KSO_WM_DIAGRAM_VIRTUALLY_FRAME" val="{&quot;height&quot;:343.45001220703125,&quot;left&quot;:35.82499389648437,&quot;top&quot;:128.09999389648436,&quot;width&quot;:869.3500122070312}"/>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1307_2*l_h_i*1_3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0"/>
</p:tagLst>
</file>

<file path=ppt/tags/tag22.xml><?xml version="1.0" encoding="utf-8"?>
<p:tagLst xmlns:p="http://schemas.openxmlformats.org/presentationml/2006/main">
  <p:tag name="KSO_WM_SLIDE_ID" val="diagram20231307_2"/>
  <p:tag name="KSO_WM_TEMPLATE_SUBCATEGORY" val="0"/>
  <p:tag name="KSO_WM_TEMPLATE_MASTER_TYPE" val="0"/>
  <p:tag name="KSO_WM_TEMPLATE_COLOR_TYPE" val="0"/>
  <p:tag name="KSO_WM_SLIDE_TYPE" val="text"/>
  <p:tag name="KSO_WM_SLIDE_SUBTYPE" val="diag"/>
  <p:tag name="KSO_WM_SLIDE_ITEM_CNT" val="3"/>
  <p:tag name="KSO_WM_SLIDE_INDEX" val="2"/>
  <p:tag name="KSO_WM_SLIDE_SIZE" val="853.3*343.45"/>
  <p:tag name="KSO_WM_SLIDE_POSITION" val="51.3*128.1"/>
  <p:tag name="KSO_WM_DIAGRAM_GROUP_CODE" val="l1-1"/>
  <p:tag name="KSO_WM_SLIDE_DIAGTYPE" val="l"/>
  <p:tag name="KSO_WM_TAG_VERSION" val="3.0"/>
  <p:tag name="KSO_WM_BEAUTIFY_FLAG" val="#wm#"/>
  <p:tag name="KSO_WM_TEMPLATE_CATEGORY" val="custom"/>
  <p:tag name="KSO_WM_TEMPLATE_INDEX" val="20233311"/>
  <p:tag name="KSO_WM_SLIDE_LAYOUT" val="a_l"/>
  <p:tag name="KSO_WM_SLIDE_LAYOUT_CNT" val="1_1"/>
</p:tagLst>
</file>

<file path=ppt/tags/tag23.xml><?xml version="1.0" encoding="utf-8"?>
<p:tagLst xmlns:p="http://schemas.openxmlformats.org/presentationml/2006/main">
  <p:tag name="KSO_WM_BEAUTIFY_FLAG" val="#wm#"/>
  <p:tag name="KSO_WM_TEMPLATE_CATEGORY" val="custom"/>
  <p:tag name="KSO_WM_TEMPLATE_INDEX" val="20233311"/>
  <p:tag name="KSO_WM_SLIDE_TYPE" val="text"/>
  <p:tag name="KSO_WM_SLIDE_ID" val="custom20233311_8"/>
  <p:tag name="KSO_WM_TEMPLATE_SUBCATEGORY" val="29"/>
  <p:tag name="KSO_WM_TEMPLATE_MASTER_TYPE" val="0"/>
  <p:tag name="KSO_WM_TEMPLATE_COLOR_TYPE" val="0"/>
  <p:tag name="KSO_WM_SLIDE_ITEM_CNT" val="0"/>
  <p:tag name="KSO_WM_SLIDE_INDEX" val="8"/>
  <p:tag name="KSO_WM_TAG_VERSION" val="3.0"/>
  <p:tag name="KSO_WM_SLIDE_SUBTYPE" val="pureTxt"/>
  <p:tag name="KSO_WM_SLIDE_SIZE" val="850*457"/>
  <p:tag name="KSO_WM_SLIDE_POSITION" val="54*28"/>
  <p:tag name="KSO_WM_SLIDE_LAYOUT" val="a_f"/>
  <p:tag name="KSO_WM_SLIDE_LAYOUT_CNT" val="1_1"/>
</p:tagLst>
</file>

<file path=ppt/tags/tag24.xml><?xml version="1.0" encoding="utf-8"?>
<p:tagLst xmlns:p="http://schemas.openxmlformats.org/presentationml/2006/main">
  <p:tag name="KSO_WM_BEAUTIFY_FLAG" val="#wm#"/>
  <p:tag name="KSO_WM_TEMPLATE_CATEGORY" val="custom"/>
  <p:tag name="KSO_WM_TEMPLATE_INDEX" val="20233311"/>
</p:tagLst>
</file>

<file path=ppt/tags/tag25.xml><?xml version="1.0" encoding="utf-8"?>
<p:tagLst xmlns:p="http://schemas.openxmlformats.org/presentationml/2006/main">
  <p:tag name="COMMONDATA" val="eyJoZGlkIjoiN2E0Njg1OTk4YmNmMWMxNTJhZjVjZDBmODUzN2VmOWU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2647</Words>
  <Application>WPS 演示</Application>
  <PresentationFormat>On-screen Show (4:3)</PresentationFormat>
  <Paragraphs>191</Paragraphs>
  <Slides>9</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9</vt:i4>
      </vt:variant>
    </vt:vector>
  </HeadingPairs>
  <TitlesOfParts>
    <vt:vector size="19" baseType="lpstr">
      <vt:lpstr>Arial</vt:lpstr>
      <vt:lpstr>宋体</vt:lpstr>
      <vt:lpstr>Wingdings</vt:lpstr>
      <vt:lpstr>Arial</vt:lpstr>
      <vt:lpstr>微软雅黑</vt:lpstr>
      <vt:lpstr>黑体</vt:lpstr>
      <vt:lpstr>Calibri</vt:lpstr>
      <vt:lpstr>Arial Unicode MS</vt:lpstr>
      <vt:lpstr>Times New Roman</vt:lpstr>
      <vt:lpstr>Office Theme</vt:lpstr>
      <vt:lpstr>基于粒球扩散机制的图对比学习研究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Fü</cp:lastModifiedBy>
  <cp:revision>19</cp:revision>
  <dcterms:created xsi:type="dcterms:W3CDTF">2013-01-27T09:14:00Z</dcterms:created>
  <dcterms:modified xsi:type="dcterms:W3CDTF">2026-01-09T01:36:39Z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747C7BA0336B45318F57CC6EE79903A7_13</vt:lpwstr>
  </property>
  <property fmtid="{D5CDD505-2E9C-101B-9397-08002B2CF9AE}" pid="3" name="KSOProductBuildVer">
    <vt:lpwstr>2052-12.1.0.19302</vt:lpwstr>
  </property>
</Properties>
</file>