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</a:rPr>
              <a:t>Input Graph 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G = (X, 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914400" cy="822960"/>
          </a:xfrm>
          <a:prstGeom prst="ellipse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GB₁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713232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658368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932688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914400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78596">
            <a:off x="530352" y="804672"/>
            <a:ext cx="279753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4042808">
            <a:off x="530352" y="804672"/>
            <a:ext cx="237744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658759">
            <a:off x="530352" y="804672"/>
            <a:ext cx="433545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7421404">
            <a:off x="804672" y="749808"/>
            <a:ext cx="329692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4008085">
            <a:off x="804672" y="749808"/>
            <a:ext cx="278555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214580">
            <a:off x="621792" y="1024128"/>
            <a:ext cx="293179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508760"/>
            <a:ext cx="1097280" cy="777240"/>
          </a:xfrm>
          <a:prstGeom prst="ellipse">
            <a:avLst/>
          </a:prstGeom>
          <a:solidFill>
            <a:srgbClr val="3498DB">
              <a:alpha val="15000"/>
            </a:srgbClr>
          </a:solidFill>
          <a:ln w="25400">
            <a:solidFill>
              <a:srgbClr val="3498D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1490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</a:rPr>
              <a:t>GB₂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1572768"/>
            <a:ext cx="182880" cy="1828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517904"/>
            <a:ext cx="182880" cy="1828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1810512"/>
            <a:ext cx="182880" cy="1828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1847088"/>
            <a:ext cx="182880" cy="1828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678596">
            <a:off x="640080" y="1664208"/>
            <a:ext cx="279753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136078">
            <a:off x="640080" y="1664208"/>
            <a:ext cx="238446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436078">
            <a:off x="640080" y="1664208"/>
            <a:ext cx="421518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7871156">
            <a:off x="914400" y="1609344"/>
            <a:ext cx="388808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4925570">
            <a:off x="914400" y="1609344"/>
            <a:ext cx="332344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414674">
            <a:off x="658368" y="1901952"/>
            <a:ext cx="303961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423160"/>
            <a:ext cx="777240" cy="914400"/>
          </a:xfrm>
          <a:prstGeom prst="ellipse">
            <a:avLst/>
          </a:prstGeom>
          <a:solidFill>
            <a:srgbClr val="27AE60">
              <a:alpha val="15000"/>
            </a:srgbClr>
          </a:solidFill>
          <a:ln w="25400">
            <a:solidFill>
              <a:srgbClr val="27AE6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20040" y="24048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GB₃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468880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2450592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2743200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2761488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214580">
            <a:off x="457200" y="2560320"/>
            <a:ext cx="293179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171156">
            <a:off x="457200" y="2560320"/>
            <a:ext cx="274929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546174">
            <a:off x="457200" y="2560320"/>
            <a:ext cx="433642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7989143">
            <a:off x="749808" y="2542032"/>
            <a:ext cx="401087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097453">
            <a:off x="749808" y="2542032"/>
            <a:ext cx="312104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08094">
            <a:off x="475488" y="2834640"/>
            <a:ext cx="302306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" y="2423160"/>
            <a:ext cx="777240" cy="914400"/>
          </a:xfrm>
          <a:prstGeom prst="ellipse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097280" y="24048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GB₄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43000" y="2450592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17320" y="246888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274320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17320" y="276148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28844">
            <a:off x="1234440" y="2542032"/>
            <a:ext cx="274929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1234440" y="2542032"/>
            <a:ext cx="292608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914580">
            <a:off x="1234440" y="2542032"/>
            <a:ext cx="414618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8100000">
            <a:off x="1508760" y="2560320"/>
            <a:ext cx="387947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1508760" y="2560320"/>
            <a:ext cx="292608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28844">
            <a:off x="1234440" y="2834640"/>
            <a:ext cx="274929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301805">
            <a:off x="621792" y="1024128"/>
            <a:ext cx="640341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4693903">
            <a:off x="914400" y="1005840"/>
            <a:ext cx="1569175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6065623">
            <a:off x="658368" y="1901952"/>
            <a:ext cx="950448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914580">
            <a:off x="960120" y="1938528"/>
            <a:ext cx="829235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137437">
            <a:off x="777240" y="2852928"/>
            <a:ext cx="457566" cy="0"/>
          </a:xfrm>
          <a:prstGeom prst="line">
            <a:avLst/>
          </a:prstGeom>
          <a:noFill/>
          <a:ln w="10160">
            <a:solidFill>
              <a:srgbClr val="7F8C8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505204">
            <a:off x="804672" y="749808"/>
            <a:ext cx="1793064" cy="0"/>
          </a:xfrm>
          <a:prstGeom prst="line">
            <a:avLst/>
          </a:prstGeom>
          <a:noFill/>
          <a:ln w="7620">
            <a:solidFill>
              <a:srgbClr val="7F8C8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0240" y="1828800"/>
            <a:ext cx="457200" cy="0"/>
          </a:xfrm>
          <a:prstGeom prst="line">
            <a:avLst/>
          </a:prstGeom>
          <a:noFill/>
          <a:ln w="19050">
            <a:solidFill>
              <a:srgbClr val="34495E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103120" y="1417320"/>
            <a:ext cx="1188720" cy="914400"/>
          </a:xfrm>
          <a:prstGeom prst="rect">
            <a:avLst/>
          </a:prstGeom>
          <a:solidFill>
            <a:srgbClr val="FEF9E7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194560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Build Granules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194560" y="1673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K-Means on embeddings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103120" y="23591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Clustering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383280" y="1828800"/>
            <a:ext cx="457200" cy="0"/>
          </a:xfrm>
          <a:prstGeom prst="line">
            <a:avLst/>
          </a:prstGeom>
          <a:noFill/>
          <a:ln w="19050">
            <a:solidFill>
              <a:srgbClr val="34495E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356616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2F"/>
                </a:solidFill>
              </a:rPr>
              <a:t>Ball Graph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611880" y="667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B₁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89120" y="1188720"/>
            <a:ext cx="457200" cy="45720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389120" y="1307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611880" y="1874520"/>
            <a:ext cx="457200" cy="4572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61188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B₃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389120" y="2514600"/>
            <a:ext cx="457200" cy="45720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38912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B₄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 rot="2368348">
            <a:off x="3840480" y="777240"/>
            <a:ext cx="1006879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400000">
            <a:off x="3840480" y="777240"/>
            <a:ext cx="132588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5400000">
            <a:off x="4617720" y="1417320"/>
            <a:ext cx="132588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368348">
            <a:off x="3840480" y="2103120"/>
            <a:ext cx="1006879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4105722">
            <a:off x="3840480" y="777240"/>
            <a:ext cx="2114025" cy="0"/>
          </a:xfrm>
          <a:prstGeom prst="line">
            <a:avLst/>
          </a:prstGeom>
          <a:noFill/>
          <a:ln w="15240">
            <a:solidFill>
              <a:srgbClr val="AAB7B8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rot="8314580">
            <a:off x="4617720" y="1417320"/>
            <a:ext cx="1036544" cy="0"/>
          </a:xfrm>
          <a:prstGeom prst="line">
            <a:avLst/>
          </a:prstGeom>
          <a:noFill/>
          <a:ln w="15240">
            <a:solidFill>
              <a:srgbClr val="AAB7B8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347472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W̃ = topo_w + center_sim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074920" y="1828800"/>
            <a:ext cx="502920" cy="0"/>
          </a:xfrm>
          <a:prstGeom prst="line">
            <a:avLst/>
          </a:prstGeom>
          <a:noFill/>
          <a:ln w="19050">
            <a:solidFill>
              <a:srgbClr val="34495E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5303520" y="1234440"/>
            <a:ext cx="1371600" cy="1280160"/>
          </a:xfrm>
          <a:prstGeom prst="rect">
            <a:avLst/>
          </a:prstGeom>
          <a:solidFill>
            <a:srgbClr val="FEF9E7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394960" y="1280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</a:rPr>
              <a:t>Ball Diffusion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394960" y="14904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K-step random walk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303520" y="20574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44AD"/>
                </a:solidFill>
              </a:rPr>
              <a:t>H^{t+1} = (1-β)H^t + β·P̃·H^t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303520" y="22128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K steps, β = 0.2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858000" y="274320"/>
            <a:ext cx="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6858000" y="137160"/>
            <a:ext cx="5029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58000" y="137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ONLINE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040880" y="502920"/>
            <a:ext cx="914400" cy="475488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7132320" y="548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f_θ(GCN)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046720" y="502920"/>
            <a:ext cx="914400" cy="475488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8138160" y="548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Predictor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9052560" y="502920"/>
            <a:ext cx="914400" cy="475488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9144000" y="548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Align Loss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9144000" y="758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BYOL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955280" y="740664"/>
            <a:ext cx="91440" cy="0"/>
          </a:xfrm>
          <a:prstGeom prst="line">
            <a:avLst/>
          </a:prstGeom>
          <a:noFill/>
          <a:ln w="1651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8961120" y="740664"/>
            <a:ext cx="91440" cy="0"/>
          </a:xfrm>
          <a:prstGeom prst="line">
            <a:avLst/>
          </a:prstGeom>
          <a:noFill/>
          <a:ln w="1651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rot="-4335320">
            <a:off x="6675120" y="1874520"/>
            <a:ext cx="1200096" cy="0"/>
          </a:xfrm>
          <a:prstGeom prst="line">
            <a:avLst/>
          </a:prstGeom>
          <a:noFill/>
          <a:ln w="1524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6858000" y="1143000"/>
            <a:ext cx="50292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58000" y="11430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040880" y="1508760"/>
            <a:ext cx="914400" cy="475488"/>
          </a:xfrm>
          <a:prstGeom prst="rect">
            <a:avLst/>
          </a:prstGeom>
          <a:solidFill>
            <a:srgbClr val="FEF9E7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13232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f_φ(GCN)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046720" y="1508760"/>
            <a:ext cx="914400" cy="475488"/>
          </a:xfrm>
          <a:prstGeom prst="rect">
            <a:avLst/>
          </a:prstGeom>
          <a:solidFill>
            <a:srgbClr val="FEF9E7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813816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EMA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052560" y="1508760"/>
            <a:ext cx="914400" cy="475488"/>
          </a:xfrm>
          <a:prstGeom prst="rect">
            <a:avLst/>
          </a:prstGeom>
          <a:solidFill>
            <a:srgbClr val="FEF9E7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914400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Scattering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9144000" y="17647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loss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7955280" y="1746504"/>
            <a:ext cx="91440" cy="0"/>
          </a:xfrm>
          <a:prstGeom prst="line">
            <a:avLst/>
          </a:prstGeom>
          <a:noFill/>
          <a:ln w="1651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8961120" y="1746504"/>
            <a:ext cx="91440" cy="0"/>
          </a:xfrm>
          <a:prstGeom prst="line">
            <a:avLst/>
          </a:prstGeom>
          <a:noFill/>
          <a:ln w="1651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 rot="-1233363">
            <a:off x="6675120" y="1874520"/>
            <a:ext cx="390632" cy="0"/>
          </a:xfrm>
          <a:prstGeom prst="line">
            <a:avLst/>
          </a:prstGeom>
          <a:noFill/>
          <a:ln w="1524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7315200" y="1051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F8C8D"/>
                </a:solidFill>
              </a:rPr>
              <a:t>Stop Gradient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772400" y="978408"/>
            <a:ext cx="0" cy="182880"/>
          </a:xfrm>
          <a:prstGeom prst="line">
            <a:avLst/>
          </a:prstGeom>
          <a:noFill/>
          <a:ln w="12700">
            <a:solidFill>
              <a:srgbClr val="7F8C8D"/>
            </a:solidFill>
            <a:prstDash val="dash"/>
            <a:tailEnd type="triangle"/>
          </a:ln>
        </p:spPr>
      </p:sp>
      <p:sp>
        <p:nvSpPr>
          <p:cNvPr id="113" name="Shape 111"/>
          <p:cNvSpPr/>
          <p:nvPr/>
        </p:nvSpPr>
        <p:spPr>
          <a:xfrm rot="3782869">
            <a:off x="9966960" y="740664"/>
            <a:ext cx="605233" cy="0"/>
          </a:xfrm>
          <a:prstGeom prst="line">
            <a:avLst/>
          </a:prstGeom>
          <a:noFill/>
          <a:ln w="1651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 rot="-1684349">
            <a:off x="9966960" y="1746504"/>
            <a:ext cx="310896" cy="0"/>
          </a:xfrm>
          <a:prstGeom prst="line">
            <a:avLst/>
          </a:prstGeom>
          <a:noFill/>
          <a:ln w="1651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10241280" y="868680"/>
            <a:ext cx="1005840" cy="1325880"/>
          </a:xfrm>
          <a:prstGeom prst="rect">
            <a:avLst/>
          </a:prstGeom>
          <a:solidFill>
            <a:srgbClr val="EBF5FB"/>
          </a:solidFill>
          <a:ln w="3175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10241280" y="8961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Total Loss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10314432" y="1188720"/>
            <a:ext cx="859536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314432" y="1188720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L_BYOL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0314432" y="1481328"/>
            <a:ext cx="859536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314432" y="1481328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L_Ball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0314432" y="1773936"/>
            <a:ext cx="859536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314432" y="1773936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L_Scatter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10314432" y="1417320"/>
            <a:ext cx="85953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</a:rPr>
              <a:t>+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10314432" y="1709928"/>
            <a:ext cx="85953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</a:rPr>
              <a:t>+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82880" y="3429000"/>
            <a:ext cx="1161288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dash"/>
          </a:ln>
        </p:spPr>
      </p:sp>
      <p:sp>
        <p:nvSpPr>
          <p:cNvPr id="126" name="Text 124"/>
          <p:cNvSpPr/>
          <p:nvPr/>
        </p:nvSpPr>
        <p:spPr>
          <a:xfrm>
            <a:off x="274320" y="3520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2F"/>
                </a:solidFill>
              </a:rPr>
              <a:t>Linear Probing (Downstream Task)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365760" y="3840480"/>
            <a:ext cx="2011680" cy="82296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36576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Linear Classifier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36576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Frozen embeddings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Node Classification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2377440" y="4251960"/>
            <a:ext cx="45720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2834640" y="3840480"/>
            <a:ext cx="1097280" cy="822960"/>
          </a:xfrm>
          <a:prstGeom prst="rect">
            <a:avLst/>
          </a:prstGeom>
          <a:solidFill>
            <a:srgbClr val="27AE60"/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2" name="Text 130"/>
          <p:cNvSpPr/>
          <p:nvPr/>
        </p:nvSpPr>
        <p:spPr>
          <a:xfrm>
            <a:off x="2834640" y="3977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Accuracy</a:t>
            </a:r>
            <a:endParaRPr lang="en-US" sz="1300" dirty="0"/>
          </a:p>
        </p:txBody>
      </p:sp>
      <p:sp>
        <p:nvSpPr>
          <p:cNvPr id="133" name="Text 131"/>
          <p:cNvSpPr/>
          <p:nvPr/>
        </p:nvSpPr>
        <p:spPr>
          <a:xfrm>
            <a:off x="283464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AF1"/>
                </a:solidFill>
              </a:rPr>
              <a:t>%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0" y="475488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52F"/>
                </a:solidFill>
              </a:rPr>
              <a:t>Figure 1: Overview of GBGCL</a:t>
            </a:r>
            <a:endParaRPr lang="en-US" sz="1600" dirty="0"/>
          </a:p>
        </p:txBody>
      </p:sp>
      <p:sp>
        <p:nvSpPr>
          <p:cNvPr id="135" name="Text 133"/>
          <p:cNvSpPr/>
          <p:nvPr/>
        </p:nvSpPr>
        <p:spPr>
          <a:xfrm>
            <a:off x="0" y="507492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Granular Ball Graph Contrastive Learning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1371600" y="5394960"/>
            <a:ext cx="228600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62763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GB₁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2377440" y="5394960"/>
            <a:ext cx="228600" cy="164592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63347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GB₂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3383280" y="5394960"/>
            <a:ext cx="22860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63931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GB₃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4389120" y="5394960"/>
            <a:ext cx="228600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64515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GB₄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5394960" y="5394960"/>
            <a:ext cx="228600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65099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Online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6400800" y="5394960"/>
            <a:ext cx="228600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5683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Target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7406640" y="5394960"/>
            <a:ext cx="228600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66267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Ball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8412480" y="5394960"/>
            <a:ext cx="228600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668512" y="53766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Loss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GBGCL Framework</dc:title>
  <dc:subject>PptxGenJS Presentation</dc:subject>
  <dc:creator>GBGCL</dc:creator>
  <cp:lastModifiedBy>GBGCL</cp:lastModifiedBy>
  <cp:revision>1</cp:revision>
  <dcterms:created xsi:type="dcterms:W3CDTF">2026-04-15T14:35:32Z</dcterms:created>
  <dcterms:modified xsi:type="dcterms:W3CDTF">2026-04-15T14:35:32Z</dcterms:modified>
</cp:coreProperties>
</file>