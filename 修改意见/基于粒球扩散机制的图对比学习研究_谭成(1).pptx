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4" r:id="rId9"/>
    <p:sldId id="261" r:id="rId10"/>
    <p:sldId id="262" r:id="rId11"/>
    <p:sldId id="263" r:id="rId1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tags" Target="../tags/tag20.xml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63.xml"/><Relationship Id="rId20" Type="http://schemas.openxmlformats.org/officeDocument/2006/relationships/tags" Target="../tags/tag62.xml"/><Relationship Id="rId2" Type="http://schemas.openxmlformats.org/officeDocument/2006/relationships/tags" Target="../tags/tag44.xml"/><Relationship Id="rId19" Type="http://schemas.openxmlformats.org/officeDocument/2006/relationships/tags" Target="../tags/tag61.xml"/><Relationship Id="rId18" Type="http://schemas.openxmlformats.org/officeDocument/2006/relationships/tags" Target="../tags/tag60.xml"/><Relationship Id="rId17" Type="http://schemas.openxmlformats.org/officeDocument/2006/relationships/tags" Target="../tags/tag59.xml"/><Relationship Id="rId16" Type="http://schemas.openxmlformats.org/officeDocument/2006/relationships/tags" Target="../tags/tag58.xml"/><Relationship Id="rId15" Type="http://schemas.openxmlformats.org/officeDocument/2006/relationships/tags" Target="../tags/tag57.xml"/><Relationship Id="rId14" Type="http://schemas.openxmlformats.org/officeDocument/2006/relationships/tags" Target="../tags/tag56.xml"/><Relationship Id="rId13" Type="http://schemas.openxmlformats.org/officeDocument/2006/relationships/tags" Target="../tags/tag55.xml"/><Relationship Id="rId12" Type="http://schemas.openxmlformats.org/officeDocument/2006/relationships/tags" Target="../tags/tag54.xml"/><Relationship Id="rId11" Type="http://schemas.openxmlformats.org/officeDocument/2006/relationships/tags" Target="../tags/tag53.xml"/><Relationship Id="rId10" Type="http://schemas.openxmlformats.org/officeDocument/2006/relationships/tags" Target="../tags/tag52.xml"/><Relationship Id="rId1" Type="http://schemas.openxmlformats.org/officeDocument/2006/relationships/tags" Target="../tags/tag4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6" Type="http://schemas.openxmlformats.org/officeDocument/2006/relationships/notesSlide" Target="../notesSlides/notesSlide8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6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7.xml"/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00.xml"/><Relationship Id="rId11" Type="http://schemas.openxmlformats.org/officeDocument/2006/relationships/tags" Target="../tags/tag99.xml"/><Relationship Id="rId10" Type="http://schemas.openxmlformats.org/officeDocument/2006/relationships/tags" Target="../tags/tag98.xml"/><Relationship Id="rId1" Type="http://schemas.openxmlformats.org/officeDocument/2006/relationships/tags" Target="../tags/tag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0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65615" y="-731520"/>
            <a:ext cx="4114800" cy="4114800"/>
          </a:xfrm>
          <a:prstGeom prst="ellipse">
            <a:avLst/>
          </a:prstGeom>
          <a:solidFill>
            <a:srgbClr val="2A4A72">
              <a:alpha val="40000"/>
            </a:srgbClr>
          </a:solidFill>
          <a:ln w="12700">
            <a:solidFill>
              <a:srgbClr val="2A4A7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895" y="45720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754880"/>
            <a:ext cx="12191695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基于粒球扩散机制的图对比学习研究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212848"/>
            <a:ext cx="1109441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Study on Graph Contrastive Learning Based on Granular-Ball Diffusion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26080"/>
            <a:ext cx="1109441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C4E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关键词：</a:t>
            </a: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  ·  粒球计算  ·  表示散射  ·  无增强学习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0" y="3827145"/>
            <a:ext cx="3657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谭成</a:t>
            </a:r>
            <a:endParaRPr lang="en-US" sz="15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" y="553212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12700"/>
            <a:ext cx="9144000" cy="8763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120" y="47117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一、研究背景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35280" y="56692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图对比学习（GCL）的发展现状与研究动机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120" y="914400"/>
            <a:ext cx="3892550" cy="374967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120" y="914400"/>
            <a:ext cx="3884930" cy="34734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8280" y="932561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基于数据增强的 GCL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2085" y="1274445"/>
            <a:ext cx="3733800" cy="3573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对原始图进行随机扰动，构造多个增强视图，在视图间进行对比学习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常见增强方式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节点/边删除 · 特征遮蔽 · 子图采样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DGI · GraphCL · InfoGraph · JAO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04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局限性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增强策略高度依赖人工经验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随机扰动可能破坏关键结构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不同数据集上表现不稳定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870450" y="2712720"/>
            <a:ext cx="594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62475" y="932815"/>
            <a:ext cx="4312285" cy="3728085"/>
          </a:xfrm>
          <a:prstGeom prst="rect">
            <a:avLst/>
          </a:prstGeom>
          <a:solidFill>
            <a:srgbClr val="E8F5FB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475" y="927100"/>
            <a:ext cx="4312285" cy="34734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250" y="926846"/>
            <a:ext cx="51206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无增强 / 结构建模的 GCL（近年热点）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99635" y="1488440"/>
            <a:ext cx="4234180" cy="314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核心思想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图结构本身蕴含足够对比信息，通过扩散或模型内部差异构造视图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代表方法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SGRL（表示散射，NeurIPS 2024）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GRAND（扩散与随机平滑）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子图级对比方法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C040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现有不足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仅在节点级进行扩散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缺乏对高阶结构语义的组织能力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视图差异往往是隐式的，缺乏中层结构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72085" y="4935220"/>
            <a:ext cx="8971915" cy="241935"/>
          </a:xfrm>
          <a:prstGeom prst="roundRect">
            <a:avLst>
              <a:gd name="adj" fmla="val 13158"/>
            </a:avLst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5280" y="4907280"/>
            <a:ext cx="8433435" cy="29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GCL 发展趋势：从「增强设计」转向「结构过程建模」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900" y="33782"/>
            <a:ext cx="914400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二、问题分析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现有无增强 GCL 方法的核心局限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411787" y="1416685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35166" y="1527726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535166" y="1527726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152061" y="1527726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缺乏结构容器</a:t>
            </a:r>
            <a:endParaRPr lang="en-US" sz="17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1152061" y="1799160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152061" y="1836174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节点扩散是「局部连续」的，缺乏结构重组能力。散射现象存在，但缺乏「结构容器」来承载和传递语义。</a:t>
            </a:r>
            <a:endParaRPr lang="en-US" sz="125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411787" y="2539434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535166" y="2650475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535166" y="2650475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1152061" y="2650475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高阶语义表达不足</a:t>
            </a:r>
            <a:endParaRPr lang="en-US" sz="17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1152061" y="2921909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152061" y="2958923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节点级扩散难以显式刻画社区结构、高阶语义区域与图的宏观组织形态，视图差异隐式且不可控。</a:t>
            </a:r>
            <a:endParaRPr lang="en-US" sz="12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411787" y="3662184"/>
            <a:ext cx="7731548" cy="987032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535166" y="3773225"/>
            <a:ext cx="462671" cy="462671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535166" y="3773225"/>
            <a:ext cx="462671" cy="46267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152061" y="3773225"/>
            <a:ext cx="6477400" cy="259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视图生成不显式</a:t>
            </a:r>
            <a:endParaRPr lang="en-US" sz="170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1152061" y="4044659"/>
            <a:ext cx="6477400" cy="15422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152061" y="4081672"/>
            <a:ext cx="6477400" cy="4935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无增强方法通过隐式扩散构造视图，缺乏中层结构组织，可解释性不足，难以稳定地刻画多尺度信息。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6327648"/>
            <a:ext cx="11460175" cy="438912"/>
          </a:xfrm>
          <a:prstGeom prst="roundRect">
            <a:avLst>
              <a:gd name="adj" fmla="val 12500"/>
            </a:avLst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327648"/>
            <a:ext cx="11460175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💡 解决思路：引入「粒球」作为中层结构单元，实现从节点扩散到结构扩散的范式转变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8120" y="10998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三、核心方法框架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51765" y="66725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基于粒球扩散的图对比学习（GBGCL）</a:t>
            </a:r>
            <a:endParaRPr lang="en-US" sz="1300" b="1" i="1" dirty="0"/>
          </a:p>
        </p:txBody>
      </p:sp>
      <p:sp>
        <p:nvSpPr>
          <p:cNvPr id="5" name="Text 3"/>
          <p:cNvSpPr/>
          <p:nvPr/>
        </p:nvSpPr>
        <p:spPr>
          <a:xfrm>
            <a:off x="174625" y="510540"/>
            <a:ext cx="6317615" cy="16567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在传统图对比学习的「节点—图」两层结构之间，引入粒球（Granular Ball）作为中层结构单元，以构建一种多粒度、结构感知的图对比学习框架。粒球通过分裂与扩散机制形成由粗到细的多尺度结构表达，具有天然的区域建模与多粒度表达能力。</a:t>
            </a:r>
            <a:endParaRPr lang="en-US" sz="125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168110" y="1803273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168110" y="1803273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>
            <p:custDataLst>
              <p:tags r:id="rId3"/>
            </p:custDataLst>
          </p:nvPr>
        </p:nvSpPr>
        <p:spPr>
          <a:xfrm>
            <a:off x="288174" y="1893321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>
            <p:custDataLst>
              <p:tags r:id="rId4"/>
            </p:custDataLst>
          </p:nvPr>
        </p:nvSpPr>
        <p:spPr>
          <a:xfrm>
            <a:off x="288174" y="1893321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M1</a:t>
            </a:r>
            <a:endParaRPr lang="en-US" sz="1000" dirty="0"/>
          </a:p>
        </p:txBody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768429" y="1893321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粒球构建</a:t>
            </a:r>
            <a:endParaRPr lang="en-US" sz="15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318190" y="2163465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以节点嵌入为基础构建图粒球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每个粒球表示结构与语义一致的节点集合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支持自适应分裂形成多粒度层级</a:t>
            </a:r>
            <a:endParaRPr lang="en-US" sz="115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070185" y="1803273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4070185" y="1803273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4190249" y="1893321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190249" y="1893321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M2</a:t>
            </a:r>
            <a:endParaRPr lang="en-US" sz="10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670504" y="1893321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粒球图扩散</a:t>
            </a:r>
            <a:endParaRPr lang="en-US" sz="15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4220265" y="2163465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在粒球层面构建粒球—粒球关系图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 K 步随机游走扩散机制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通过扩散步数自然形成多尺度视图</a:t>
            </a:r>
            <a:endParaRPr lang="en-US" sz="115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168110" y="3424135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>
            <p:custDataLst>
              <p:tags r:id="rId14"/>
            </p:custDataLst>
          </p:nvPr>
        </p:nvSpPr>
        <p:spPr>
          <a:xfrm>
            <a:off x="168110" y="3424135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>
            <p:custDataLst>
              <p:tags r:id="rId15"/>
            </p:custDataLst>
          </p:nvPr>
        </p:nvSpPr>
        <p:spPr>
          <a:xfrm>
            <a:off x="288174" y="3514183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6"/>
            </p:custDataLst>
          </p:nvPr>
        </p:nvSpPr>
        <p:spPr>
          <a:xfrm>
            <a:off x="288174" y="3514183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M3</a:t>
            </a:r>
            <a:endParaRPr lang="en-US" sz="1000" dirty="0"/>
          </a:p>
        </p:txBody>
      </p:sp>
      <p:sp>
        <p:nvSpPr>
          <p:cNvPr id="22" name="Text 20"/>
          <p:cNvSpPr/>
          <p:nvPr>
            <p:custDataLst>
              <p:tags r:id="rId17"/>
            </p:custDataLst>
          </p:nvPr>
        </p:nvSpPr>
        <p:spPr>
          <a:xfrm>
            <a:off x="768429" y="3514183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结构感知编码</a:t>
            </a:r>
            <a:endParaRPr lang="en-US" sz="1500" dirty="0"/>
          </a:p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318190" y="3784326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将扩散后的球心信息回写到节点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结合节点级与球级双重表示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增强对高阶语义区域的刻画能力</a:t>
            </a:r>
            <a:endParaRPr lang="en-US" sz="1150" dirty="0"/>
          </a:p>
        </p:txBody>
      </p:sp>
      <p:sp>
        <p:nvSpPr>
          <p:cNvPr id="24" name="Shape 22"/>
          <p:cNvSpPr/>
          <p:nvPr>
            <p:custDataLst>
              <p:tags r:id="rId19"/>
            </p:custDataLst>
          </p:nvPr>
        </p:nvSpPr>
        <p:spPr>
          <a:xfrm>
            <a:off x="4070185" y="3424135"/>
            <a:ext cx="3631931" cy="1500798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>
            <p:custDataLst>
              <p:tags r:id="rId20"/>
            </p:custDataLst>
          </p:nvPr>
        </p:nvSpPr>
        <p:spPr>
          <a:xfrm>
            <a:off x="4070185" y="3424135"/>
            <a:ext cx="48026" cy="150079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4190249" y="3514183"/>
            <a:ext cx="390207" cy="180096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2"/>
            </p:custDataLst>
          </p:nvPr>
        </p:nvSpPr>
        <p:spPr>
          <a:xfrm>
            <a:off x="4190249" y="3514183"/>
            <a:ext cx="390207" cy="1800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M4</a:t>
            </a:r>
            <a:endParaRPr lang="en-US" sz="1000" dirty="0"/>
          </a:p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4670504" y="3514183"/>
            <a:ext cx="2701437" cy="210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粒球级对比学习</a:t>
            </a:r>
            <a:endParaRPr lang="en-US" sz="1500" dirty="0"/>
          </a:p>
        </p:txBody>
      </p:sp>
      <p:sp>
        <p:nvSpPr>
          <p:cNvPr id="29" name="Text 27"/>
          <p:cNvSpPr/>
          <p:nvPr>
            <p:custDataLst>
              <p:tags r:id="rId24"/>
            </p:custDataLst>
          </p:nvPr>
        </p:nvSpPr>
        <p:spPr>
          <a:xfrm>
            <a:off x="4220265" y="3784326"/>
            <a:ext cx="3301756" cy="10505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设计球级散射损失（RSM）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引入球级 InfoNCE + 匈牙利匹配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粒球级与节点级协同优化目标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四、粒球核心设计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4124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三大关键创新机制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13055" y="1146810"/>
            <a:ext cx="6797040" cy="106362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  <p:txBody>
          <a:bodyPr/>
          <a:p>
            <a:endParaRPr lang="zh-CN" altLang="en-US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313055" y="1160145"/>
            <a:ext cx="353060" cy="105029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313009" y="1160147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728980" y="1160780"/>
            <a:ext cx="4338320" cy="283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语义增强的粒球构建</a:t>
            </a:r>
            <a:endParaRPr lang="en-US" sz="15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5450840" y="1160780"/>
            <a:ext cx="1659255" cy="161290"/>
          </a:xfrm>
          <a:prstGeom prst="roundRect">
            <a:avLst>
              <a:gd name="adj" fmla="val 14286"/>
            </a:avLst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5450840" y="1160780"/>
            <a:ext cx="1659255" cy="1612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拓扑 + 语义双重感知</a:t>
            </a:r>
            <a:endParaRPr lang="en-US" sz="950" dirty="0"/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729814" y="1560932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结合图拓扑结构与节点嵌入质量函数自适应生成粒球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引入同质性度量，防止特征差异大的节点被强行归入同一粒球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分裂阈值设计：</a:t>
            </a: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父质量 &gt; 子质量均值 × 2.5 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时停止分裂，保证粒球内部语义一致性</a:t>
            </a:r>
            <a:endParaRPr lang="en-US" sz="1150" dirty="0"/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313055" y="2392045"/>
            <a:ext cx="6797040" cy="102679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313055" y="2392045"/>
            <a:ext cx="353060" cy="102679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313009" y="2391784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728544" y="2445150"/>
            <a:ext cx="4338576" cy="185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球图扩散与抗噪机制</a:t>
            </a:r>
            <a:endParaRPr lang="en-US" sz="1500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5450840" y="2407920"/>
            <a:ext cx="1659255" cy="161290"/>
          </a:xfrm>
          <a:prstGeom prst="roundRect">
            <a:avLst>
              <a:gd name="adj" fmla="val 1428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>
            <p:custDataLst>
              <p:tags r:id="rId13"/>
            </p:custDataLst>
          </p:nvPr>
        </p:nvSpPr>
        <p:spPr>
          <a:xfrm>
            <a:off x="5450840" y="2407920"/>
            <a:ext cx="1659255" cy="161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可信度感知的结构传播</a:t>
            </a:r>
            <a:endParaRPr lang="en-US" sz="950" dirty="0"/>
          </a:p>
        </p:txBody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729179" y="2766612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在粒球层面构建球—球邻接矩阵（融合拓扑权重 + 语义相似度）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 </a:t>
            </a: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KNN 稀疏化 + 自环增强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，减少远距球干扰与噪声传播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对低可信度粒球在扩散矩阵中调低传播权重，实现隐式噪声门控</a:t>
            </a:r>
            <a:endParaRPr lang="en-US" sz="1150" dirty="0"/>
          </a:p>
        </p:txBody>
      </p:sp>
      <p:sp>
        <p:nvSpPr>
          <p:cNvPr id="21" name="Shape 19"/>
          <p:cNvSpPr/>
          <p:nvPr>
            <p:custDataLst>
              <p:tags r:id="rId15"/>
            </p:custDataLst>
          </p:nvPr>
        </p:nvSpPr>
        <p:spPr>
          <a:xfrm>
            <a:off x="313055" y="3780790"/>
            <a:ext cx="6797040" cy="995680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313055" y="3780790"/>
            <a:ext cx="353060" cy="979805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313009" y="3780997"/>
            <a:ext cx="353002" cy="88790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800" dirty="0"/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729814" y="3835649"/>
            <a:ext cx="4338576" cy="1856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粒球级与节点级联合对比</a:t>
            </a:r>
            <a:endParaRPr lang="en-US" sz="1500" dirty="0"/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5450840" y="3788410"/>
            <a:ext cx="1659255" cy="161290"/>
          </a:xfrm>
          <a:prstGeom prst="roundRect">
            <a:avLst>
              <a:gd name="adj" fmla="val 14286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5450840" y="3788410"/>
            <a:ext cx="1659255" cy="1612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6A9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多尺度协同优化</a:t>
            </a:r>
            <a:endParaRPr lang="en-US" sz="950" dirty="0"/>
          </a:p>
        </p:txBody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728563" y="4162100"/>
            <a:ext cx="5965946" cy="512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b="1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球级散射损失（RSM）</a:t>
            </a: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：约束不同粒球间角度分离 + 均匀分布正则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球级 InfoNCE：匈牙利匹配建立 Online/Target 视图正样本对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残差融合回写：z_new = α·h + (1-α)·H_K，平衡原始嵌入与扩散信息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9080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四、粒球核心设计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4990" y="1188593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300" dirty="0"/>
              <a:t>GBGCL</a:t>
            </a:r>
            <a:r>
              <a:rPr lang="zh-CN" altLang="en-US" sz="1300" dirty="0"/>
              <a:t>核心</a:t>
            </a:r>
            <a:r>
              <a:rPr lang="zh-CN" altLang="en-US" sz="1300" dirty="0"/>
              <a:t>框架图</a:t>
            </a:r>
            <a:endParaRPr lang="zh-CN" altLang="en-US" sz="13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990" y="1629410"/>
            <a:ext cx="8394065" cy="1969135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2193290" y="358394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600" b="1" dirty="0">
                <a:solidFill>
                  <a:srgbClr val="1A252F"/>
                </a:solidFill>
                <a:sym typeface="+mn-ea"/>
              </a:rPr>
              <a:t>Figure 1: Overview of GBGCL</a:t>
            </a:r>
            <a:endParaRPr lang="en-US" altLang="en-US" sz="1600" b="1" dirty="0">
              <a:solidFill>
                <a:srgbClr val="1A252F"/>
              </a:solidFill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146935" y="3921125"/>
            <a:ext cx="457200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buNone/>
            </a:pPr>
            <a:r>
              <a:rPr lang="en-US" sz="1000" i="1" dirty="0">
                <a:solidFill>
                  <a:srgbClr val="7F8C8D"/>
                </a:solidFill>
                <a:sym typeface="+mn-ea"/>
              </a:rPr>
              <a:t>Granular Ball Graph Contrastive Learning</a:t>
            </a:r>
            <a:endParaRPr lang="en-US" altLang="en-US" sz="1000" i="1" dirty="0">
              <a:solidFill>
                <a:srgbClr val="7F8C8D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365" cy="12573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74752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五、实验结果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30123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Amazon 共购图与学术合作图上的节点分类性能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59104"/>
            <a:ext cx="11460175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实验设置：基于 SGRL 官方代码框架，使用 LogisticRegression + GridSearchCV 进行线性探测评估（3 次随机划分取均值）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65760" y="1352550"/>
          <a:ext cx="7642860" cy="1508760"/>
        </p:xfrm>
        <a:graphic>
          <a:graphicData uri="http://schemas.openxmlformats.org/drawingml/2006/table">
            <a:tbl>
              <a:tblPr/>
              <a:tblGrid>
                <a:gridCol w="924560"/>
                <a:gridCol w="1540510"/>
                <a:gridCol w="1541145"/>
                <a:gridCol w="3636645"/>
              </a:tblGrid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数据集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SGRL（原文）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SGRL+GB（ Ours）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最优参数配置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4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93.95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94.28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detach / dot / α=0.3 / β=0.3 / K=5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Physics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96.23 ± 0.01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7A1A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96.21 ± 0.01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detach / dot / α=0.3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Photo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93.95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B451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93.87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homo / cos / α=0.3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Computers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90.23 ± 0.03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8B4513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89.70 ± 0.02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A2F4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homo / dot / α=0.7 / β=0.2 / K=10</a:t>
                      </a:r>
                      <a:endParaRPr lang="en-US" sz="115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365760" y="2843403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关键发现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 flipV="1">
            <a:off x="319405" y="3115310"/>
            <a:ext cx="7689215" cy="111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9405" y="3298825"/>
            <a:ext cx="7658735" cy="26733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9405" y="329882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285" y="329882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CS 数据集引入粒球后准确率提升约 +0.33%，说明粒球结构对学术合作网络的社区结构刻画更为有效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19405" y="3774440"/>
            <a:ext cx="7658735" cy="267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9405" y="3774440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285" y="3774440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alpha=0.3 在多数数据集上最优，表明更多粒球扩散信息（1-α=0.7）回写有助于表示学习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19405" y="4250055"/>
            <a:ext cx="7658735" cy="267335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19405" y="425005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285" y="425005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topo+center 融合模式（拓扑权重 + 语义相似度）整体更稳定，兼具结构与语义的粒球图构建效果更好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19405" y="4725035"/>
            <a:ext cx="7658735" cy="267335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19405" y="4725035"/>
            <a:ext cx="76200" cy="267335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285" y="4725035"/>
            <a:ext cx="7506335" cy="2673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homo 同质性度量在密集图（Photo/Computers）上优于 detach，适合高连通密度的 Amazon 共购网络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28397"/>
            <a:ext cx="11368735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六、下一步计划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636778"/>
            <a:ext cx="1136873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围绕方法完善与系统评估的四个方向</a:t>
            </a:r>
            <a:endParaRPr lang="en-US" sz="1300" dirty="0"/>
          </a:p>
        </p:txBody>
      </p:sp>
      <p:sp>
        <p:nvSpPr>
          <p:cNvPr id="5" name="Shape 3"/>
          <p:cNvSpPr/>
          <p:nvPr>
            <p:custDataLst>
              <p:tags r:id="rId1"/>
            </p:custDataLst>
          </p:nvPr>
        </p:nvSpPr>
        <p:spPr>
          <a:xfrm>
            <a:off x="328036" y="1078992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461364" y="1265651"/>
            <a:ext cx="466647" cy="466647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>
            <p:custDataLst>
              <p:tags r:id="rId3"/>
            </p:custDataLst>
          </p:nvPr>
        </p:nvSpPr>
        <p:spPr>
          <a:xfrm>
            <a:off x="461364" y="1265651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>
            <p:custDataLst>
              <p:tags r:id="rId4"/>
            </p:custDataLst>
          </p:nvPr>
        </p:nvSpPr>
        <p:spPr>
          <a:xfrm>
            <a:off x="1061339" y="1158989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计算效率优化</a:t>
            </a:r>
            <a:endParaRPr lang="en-US" sz="1500" dirty="0"/>
          </a:p>
        </p:txBody>
      </p:sp>
      <p:sp>
        <p:nvSpPr>
          <p:cNvPr id="9" name="Shape 7"/>
          <p:cNvSpPr/>
          <p:nvPr>
            <p:custDataLst>
              <p:tags r:id="rId5"/>
            </p:custDataLst>
          </p:nvPr>
        </p:nvSpPr>
        <p:spPr>
          <a:xfrm>
            <a:off x="1061339" y="1425644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6"/>
            </p:custDataLst>
          </p:nvPr>
        </p:nvSpPr>
        <p:spPr>
          <a:xfrm>
            <a:off x="1061339" y="1478975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针对当前粒球构建与扩散过程的计算开销，探索近似算法与采样策略，在保持精度的前提下降低训练时间。重点方向：GPU 并行化构球 / 自适应 KNN 稀疏化。</a:t>
            </a:r>
            <a:endParaRPr lang="en-US" sz="1150" dirty="0"/>
          </a:p>
        </p:txBody>
      </p:sp>
      <p:sp>
        <p:nvSpPr>
          <p:cNvPr id="11" name="Shape 9"/>
          <p:cNvSpPr/>
          <p:nvPr>
            <p:custDataLst>
              <p:tags r:id="rId7"/>
            </p:custDataLst>
          </p:nvPr>
        </p:nvSpPr>
        <p:spPr>
          <a:xfrm>
            <a:off x="328036" y="2052284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>
            <p:custDataLst>
              <p:tags r:id="rId8"/>
            </p:custDataLst>
          </p:nvPr>
        </p:nvSpPr>
        <p:spPr>
          <a:xfrm>
            <a:off x="461364" y="2238943"/>
            <a:ext cx="466647" cy="466647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9"/>
            </p:custDataLst>
          </p:nvPr>
        </p:nvSpPr>
        <p:spPr>
          <a:xfrm>
            <a:off x="461364" y="2238943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②</a:t>
            </a:r>
            <a:endParaRPr lang="en-US" sz="1600" dirty="0"/>
          </a:p>
        </p:txBody>
      </p:sp>
      <p:sp>
        <p:nvSpPr>
          <p:cNvPr id="14" name="Text 12"/>
          <p:cNvSpPr/>
          <p:nvPr>
            <p:custDataLst>
              <p:tags r:id="rId10"/>
            </p:custDataLst>
          </p:nvPr>
        </p:nvSpPr>
        <p:spPr>
          <a:xfrm>
            <a:off x="1061339" y="2132281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系统性对比实验</a:t>
            </a:r>
            <a:endParaRPr lang="en-US" sz="1500" dirty="0"/>
          </a:p>
        </p:txBody>
      </p:sp>
      <p:sp>
        <p:nvSpPr>
          <p:cNvPr id="15" name="Shape 13"/>
          <p:cNvSpPr/>
          <p:nvPr>
            <p:custDataLst>
              <p:tags r:id="rId11"/>
            </p:custDataLst>
          </p:nvPr>
        </p:nvSpPr>
        <p:spPr>
          <a:xfrm>
            <a:off x="1061339" y="2398936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2"/>
            </p:custDataLst>
          </p:nvPr>
        </p:nvSpPr>
        <p:spPr>
          <a:xfrm>
            <a:off x="1061339" y="2452268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在标准数据集（Cora, CiteSeer, PubMed）及异质性数据集上，与主流 GCL 方法（GraphCL, MVGRL, BGRL 等）进行全面对比，覆盖节点分类与链路预测任务。</a:t>
            </a:r>
            <a:endParaRPr lang="en-US" sz="1150" dirty="0"/>
          </a:p>
        </p:txBody>
      </p:sp>
      <p:sp>
        <p:nvSpPr>
          <p:cNvPr id="17" name="Shape 15"/>
          <p:cNvSpPr/>
          <p:nvPr>
            <p:custDataLst>
              <p:tags r:id="rId13"/>
            </p:custDataLst>
          </p:nvPr>
        </p:nvSpPr>
        <p:spPr>
          <a:xfrm>
            <a:off x="328036" y="3025577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>
            <p:custDataLst>
              <p:tags r:id="rId14"/>
            </p:custDataLst>
          </p:nvPr>
        </p:nvSpPr>
        <p:spPr>
          <a:xfrm>
            <a:off x="461364" y="3212236"/>
            <a:ext cx="466647" cy="466647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5"/>
            </p:custDataLst>
          </p:nvPr>
        </p:nvSpPr>
        <p:spPr>
          <a:xfrm>
            <a:off x="461364" y="3212236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1061339" y="3105573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消融研究与参数敏感性分析</a:t>
            </a:r>
            <a:endParaRPr lang="en-US" sz="1500" dirty="0"/>
          </a:p>
        </p:txBody>
      </p:sp>
      <p:sp>
        <p:nvSpPr>
          <p:cNvPr id="21" name="Shape 19"/>
          <p:cNvSpPr/>
          <p:nvPr>
            <p:custDataLst>
              <p:tags r:id="rId17"/>
            </p:custDataLst>
          </p:nvPr>
        </p:nvSpPr>
        <p:spPr>
          <a:xfrm>
            <a:off x="1061339" y="3372229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8"/>
            </p:custDataLst>
          </p:nvPr>
        </p:nvSpPr>
        <p:spPr>
          <a:xfrm>
            <a:off x="1061339" y="3425560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对「粒球构建」「扩散机制」「球级对比损失」三大核心模块逐一消融，量化各模块对最终性能的贡献，并系统分析关键参数（K, β, α, 损失权重）的敏感性。</a:t>
            </a:r>
            <a:endParaRPr lang="en-US" sz="1150" dirty="0"/>
          </a:p>
        </p:txBody>
      </p:sp>
      <p:sp>
        <p:nvSpPr>
          <p:cNvPr id="23" name="Shape 21"/>
          <p:cNvSpPr/>
          <p:nvPr>
            <p:custDataLst>
              <p:tags r:id="rId19"/>
            </p:custDataLst>
          </p:nvPr>
        </p:nvSpPr>
        <p:spPr>
          <a:xfrm>
            <a:off x="328036" y="3998869"/>
            <a:ext cx="8354981" cy="879963"/>
          </a:xfrm>
          <a:prstGeom prst="rect">
            <a:avLst/>
          </a:prstGeom>
          <a:solidFill>
            <a:srgbClr val="EBF4FA"/>
          </a:solidFill>
          <a:ln w="12700">
            <a:solidFill>
              <a:srgbClr val="D0DCE8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>
            <p:custDataLst>
              <p:tags r:id="rId20"/>
            </p:custDataLst>
          </p:nvPr>
        </p:nvSpPr>
        <p:spPr>
          <a:xfrm>
            <a:off x="461364" y="4185528"/>
            <a:ext cx="466647" cy="466647"/>
          </a:xfrm>
          <a:prstGeom prst="ellipse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21"/>
            </p:custDataLst>
          </p:nvPr>
        </p:nvSpPr>
        <p:spPr>
          <a:xfrm>
            <a:off x="461364" y="4185528"/>
            <a:ext cx="466647" cy="46664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④</a:t>
            </a:r>
            <a:endParaRPr lang="en-US" sz="1600" dirty="0"/>
          </a:p>
        </p:txBody>
      </p:sp>
      <p:sp>
        <p:nvSpPr>
          <p:cNvPr id="26" name="Text 24"/>
          <p:cNvSpPr/>
          <p:nvPr>
            <p:custDataLst>
              <p:tags r:id="rId22"/>
            </p:custDataLst>
          </p:nvPr>
        </p:nvSpPr>
        <p:spPr>
          <a:xfrm>
            <a:off x="1061339" y="4078866"/>
            <a:ext cx="6999705" cy="25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F4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可视化与结构解释性分析</a:t>
            </a:r>
            <a:endParaRPr lang="en-US" sz="1500" dirty="0"/>
          </a:p>
        </p:txBody>
      </p:sp>
      <p:sp>
        <p:nvSpPr>
          <p:cNvPr id="27" name="Shape 25"/>
          <p:cNvSpPr/>
          <p:nvPr>
            <p:custDataLst>
              <p:tags r:id="rId23"/>
            </p:custDataLst>
          </p:nvPr>
        </p:nvSpPr>
        <p:spPr>
          <a:xfrm>
            <a:off x="1061339" y="4345521"/>
            <a:ext cx="6999705" cy="13333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4"/>
            </p:custDataLst>
          </p:nvPr>
        </p:nvSpPr>
        <p:spPr>
          <a:xfrm>
            <a:off x="1061339" y="4398852"/>
            <a:ext cx="6999705" cy="4333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t-SNE 可视化粒球分布，结合扩散过程的结构演化图，定性分析粒球在图对比学习中的结构组织作用，为模型可解释性提供直观支持。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607435"/>
            <a:ext cx="3657600" cy="3657600"/>
          </a:xfrm>
          <a:prstGeom prst="ellipse">
            <a:avLst/>
          </a:prstGeom>
          <a:solidFill>
            <a:srgbClr val="2A4A72">
              <a:alpha val="40000"/>
            </a:srgbClr>
          </a:solidFill>
          <a:ln w="12700">
            <a:solidFill>
              <a:srgbClr val="2A4A72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2895" y="-45720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371600" cy="292608"/>
          </a:xfrm>
          <a:prstGeom prst="roundRect">
            <a:avLst>
              <a:gd name="adj" fmla="val 1562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11185855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从「节点扩散」到「结构扩散」的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图对比学习范式转变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2286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>
            <p:custDataLst>
              <p:tags r:id="rId1"/>
            </p:custDataLst>
          </p:nvPr>
        </p:nvSpPr>
        <p:spPr>
          <a:xfrm>
            <a:off x="682510" y="2794879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2"/>
            </p:custDataLst>
          </p:nvPr>
        </p:nvSpPr>
        <p:spPr>
          <a:xfrm>
            <a:off x="682510" y="2794879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问题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1395658" y="2752090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现有无增强 GCL 仅在节点级扩散，缺乏结构容器与高阶语义组织能力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4"/>
            </p:custDataLst>
          </p:nvPr>
        </p:nvSpPr>
        <p:spPr>
          <a:xfrm>
            <a:off x="682510" y="3522291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682510" y="3522291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方法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4" name="Text 12"/>
          <p:cNvSpPr/>
          <p:nvPr>
            <p:custDataLst>
              <p:tags r:id="rId6"/>
            </p:custDataLst>
          </p:nvPr>
        </p:nvSpPr>
        <p:spPr>
          <a:xfrm>
            <a:off x="1395658" y="3479502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引入粒球作为中层结构单元，构建粒球—粒球关系图并执行扩散，生成多尺度结构视图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Shape 13"/>
          <p:cNvSpPr/>
          <p:nvPr>
            <p:custDataLst>
              <p:tags r:id="rId7"/>
            </p:custDataLst>
          </p:nvPr>
        </p:nvSpPr>
        <p:spPr>
          <a:xfrm>
            <a:off x="682510" y="4249702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682510" y="4249702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创新</a:t>
            </a:r>
            <a:endParaRPr lang="en-US" sz="140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1395658" y="4206913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语义增强的粒球构建 + 可信度感知的扩散抗噪 + 粒球级与节点级联合对比学习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682510" y="4977114"/>
            <a:ext cx="606176" cy="213945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682510" y="4977114"/>
            <a:ext cx="606176" cy="213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endParaRPr lang="en-US" sz="14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1395658" y="4934325"/>
            <a:ext cx="8010799" cy="5134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8D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 CS 数据集上准确率提升至 94.28%，验证了粒球结构对学术网络的社区刻画有效性</a:t>
            </a:r>
            <a:endParaRPr lang="en-US" sz="1600" dirty="0">
              <a:solidFill>
                <a:srgbClr val="B8C8D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6199632"/>
            <a:ext cx="11185855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基于粒球扩散机制的图对比学习研究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2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3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4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5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6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7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8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9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0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1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2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3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4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5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6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7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8.xml><?xml version="1.0" encoding="utf-8"?>
<p:tagLst xmlns:p="http://schemas.openxmlformats.org/presentationml/2006/main">
  <p:tag name="KSO_WM_DIAGRAM_VIRTUALLY_FRAME" val="{&quot;height&quot;:254.53000000000043,&quot;left&quot;:-99.75,&quot;top&quot;:127.8,&quot;width&quot;:734.0759842519685}"/>
</p:tagLst>
</file>

<file path=ppt/tags/tag1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3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4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5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6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7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8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2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3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4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5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6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7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8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39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0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1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2.xml><?xml version="1.0" encoding="utf-8"?>
<p:tagLst xmlns:p="http://schemas.openxmlformats.org/presentationml/2006/main">
  <p:tag name="KSO_WM_DIAGRAM_VIRTUALLY_FRAME" val="{&quot;height&quot;:245.80000000000018,&quot;left&quot;:-78.1,&quot;top&quot;:141.98999999999995,&quot;width&quot;:713.6500000000003}"/>
</p:tagLst>
</file>

<file path=ppt/tags/tag4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7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4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2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4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5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6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7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8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59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0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1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2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3.xml><?xml version="1.0" encoding="utf-8"?>
<p:tagLst xmlns:p="http://schemas.openxmlformats.org/presentationml/2006/main">
  <p:tag name="KSO_WM_DIAGRAM_VIRTUALLY_FRAME" val="{&quot;height&quot;:327.156561922366,&quot;left&quot;:-44,&quot;top&quot;:86.09343807763409,&quot;width&quot;:619.25}"/>
</p:tagLst>
</file>

<file path=ppt/tags/tag64.xml><?xml version="1.0" encoding="utf-8"?>
<p:tagLst xmlns:p="http://schemas.openxmlformats.org/presentationml/2006/main">
  <p:tag name="TABLE_ENDDRAG_ORIGIN_RECT" val="601*114"/>
  <p:tag name="TABLE_ENDDRAG_RECT" val="28*106*601*114"/>
</p:tagLst>
</file>

<file path=ppt/tags/tag65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66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6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6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69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0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1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2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3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4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5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6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79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0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1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2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3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4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5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6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7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8.xml><?xml version="1.0" encoding="utf-8"?>
<p:tagLst xmlns:p="http://schemas.openxmlformats.org/presentationml/2006/main">
  <p:tag name="KSO_WM_DIAGRAM_VIRTUALLY_FRAME" val="{&quot;height&quot;:299.2000000000002,&quot;left&quot;:-68.8,&quot;top&quot;:84.96,&quot;width&quot;:752.5021611333672}"/>
</p:tagLst>
</file>

<file path=ppt/tags/tag89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0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1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2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3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4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5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6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7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8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99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ags/tag100.xml><?xml version="1.0" encoding="utf-8"?>
<p:tagLst xmlns:p="http://schemas.openxmlformats.org/presentationml/2006/main">
  <p:tag name="KSO_WM_DIAGRAM_VIRTUALLY_FRAME" val="{&quot;height&quot;:212.26000000000013,&quot;left&quot;:-121.65,&quot;top&quot;:216.7,&quot;width&quot;:876.425984251968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2680</Words>
  <Application>WPS 演示</Application>
  <PresentationFormat>On-screen Show (16:9)</PresentationFormat>
  <Paragraphs>258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微软雅黑</vt:lpstr>
      <vt:lpstr>Arial</vt:lpstr>
      <vt:lpstr>Arial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基于粒球扩散机制的图对比学习研究</dc:title>
  <dc:creator>谭成</dc:creator>
  <dc:subject>工作进展汇报</dc:subject>
  <cp:lastModifiedBy>Fü</cp:lastModifiedBy>
  <cp:revision>4</cp:revision>
  <dcterms:created xsi:type="dcterms:W3CDTF">2026-04-14T17:01:00Z</dcterms:created>
  <dcterms:modified xsi:type="dcterms:W3CDTF">2026-04-15T14:54:59Z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621F305958924F6DA423FD57C36161ED_13</vt:lpwstr>
  </property>
</Properties>
</file>