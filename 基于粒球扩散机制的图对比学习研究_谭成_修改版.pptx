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5" r:id="rId9"/>
    <p:sldId id="267" r:id="rId10"/>
    <p:sldId id="266" r:id="rId11"/>
    <p:sldId id="268" r:id="rId12"/>
    <p:sldId id="269" r:id="rId13"/>
    <p:sldId id="264" r:id="rId14"/>
    <p:sldId id="261" r:id="rId15"/>
    <p:sldId id="262" r:id="rId16"/>
    <p:sldId id="263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5" Type="http://schemas.openxmlformats.org/officeDocument/2006/relationships/notesSlide" Target="../notesSlides/notesSlide5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.png"/><Relationship Id="rId22" Type="http://schemas.openxmlformats.org/officeDocument/2006/relationships/tags" Target="../tags/tag64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../media/image3.png"/><Relationship Id="rId7" Type="http://schemas.openxmlformats.org/officeDocument/2006/relationships/tags" Target="../tags/tag70.xml"/><Relationship Id="rId6" Type="http://schemas.openxmlformats.org/officeDocument/2006/relationships/image" Target="../media/image2.png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.png"/><Relationship Id="rId11" Type="http://schemas.openxmlformats.org/officeDocument/2006/relationships/tags" Target="../tags/tag72.xml"/><Relationship Id="rId10" Type="http://schemas.openxmlformats.org/officeDocument/2006/relationships/image" Target="../media/image4.png"/><Relationship Id="rId1" Type="http://schemas.openxmlformats.org/officeDocument/2006/relationships/tags" Target="../tags/tag65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tags" Target="../tags/tag82.xml"/><Relationship Id="rId5" Type="http://schemas.openxmlformats.org/officeDocument/2006/relationships/image" Target="../media/image6.png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tags" Target="../tags/tag88.xml"/><Relationship Id="rId5" Type="http://schemas.openxmlformats.org/officeDocument/2006/relationships/image" Target="../media/image9.png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tags" Target="../tags/tag95.xml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6" Type="http://schemas.openxmlformats.org/officeDocument/2006/relationships/notesSlide" Target="../notesSlides/notesSlide1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20.xml"/><Relationship Id="rId23" Type="http://schemas.openxmlformats.org/officeDocument/2006/relationships/tags" Target="../tags/tag119.xml"/><Relationship Id="rId22" Type="http://schemas.openxmlformats.org/officeDocument/2006/relationships/tags" Target="../tags/tag118.xml"/><Relationship Id="rId21" Type="http://schemas.openxmlformats.org/officeDocument/2006/relationships/tags" Target="../tags/tag117.xml"/><Relationship Id="rId20" Type="http://schemas.openxmlformats.org/officeDocument/2006/relationships/tags" Target="../tags/tag116.xml"/><Relationship Id="rId2" Type="http://schemas.openxmlformats.org/officeDocument/2006/relationships/tags" Target="../tags/tag98.xml"/><Relationship Id="rId19" Type="http://schemas.openxmlformats.org/officeDocument/2006/relationships/tags" Target="../tags/tag115.xml"/><Relationship Id="rId18" Type="http://schemas.openxmlformats.org/officeDocument/2006/relationships/tags" Target="../tags/tag114.xml"/><Relationship Id="rId17" Type="http://schemas.openxmlformats.org/officeDocument/2006/relationships/tags" Target="../tags/tag113.xml"/><Relationship Id="rId16" Type="http://schemas.openxmlformats.org/officeDocument/2006/relationships/tags" Target="../tags/tag112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9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731520"/>
            <a:ext cx="4114800" cy="4114800"/>
          </a:xfrm>
          <a:prstGeom prst="ellipse">
            <a:avLst/>
          </a:prstGeom>
          <a:solidFill>
            <a:srgbClr val="2A4A72">
              <a:alpha val="40000"/>
            </a:srgbClr>
          </a:solidFill>
          <a:ln w="12700">
            <a:solidFill>
              <a:srgbClr val="2A4A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457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基于粒球扩散机制的图对比学习研究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Study on Graph Contrastive Learning Based on Granular-Ball Diffusion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1109441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4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关键词：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  ·  粒球计算  ·  表示散射  ·  无增强学习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3827145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谭成</a:t>
            </a:r>
            <a:endParaRPr 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5532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12700"/>
            <a:ext cx="9144000" cy="8763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20" y="47117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一、研究背景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35280" y="56692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图对比学习（GCL）的发展现状与研究动机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120" y="914400"/>
            <a:ext cx="3892550" cy="374967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120" y="914400"/>
            <a:ext cx="3884930" cy="3473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280" y="932561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基于数据增强的 GCL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2085" y="1274445"/>
            <a:ext cx="3733800" cy="3573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对原始图进行随机扰动，构造多个增强视图，在视图间进行对比学习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常见增强方式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节点/边删除 · 特征遮蔽 · 子图采样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DGI · GraphCL · InfoGraph · JAO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4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局限性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增强策略高度依赖人工经验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随机扰动可能破坏关键结构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不同数据集上表现不稳定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70450" y="271272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62475" y="932815"/>
            <a:ext cx="4312285" cy="3728085"/>
          </a:xfrm>
          <a:prstGeom prst="rect">
            <a:avLst/>
          </a:prstGeom>
          <a:solidFill>
            <a:srgbClr val="E8F5FB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475" y="927100"/>
            <a:ext cx="4312285" cy="34734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250" y="926846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无增强 / 结构建模的 GCL（近年热点）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9635" y="1488440"/>
            <a:ext cx="4234180" cy="314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图结构本身蕴含足够对比信息，通过扩散或模型内部差异构造视图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SGRL（表示散射，NeurIPS 2024）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GRAND（扩散与随机平滑）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子图级对比方法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4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现有不足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仅在节点级进行扩散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缺乏对高阶结构语义的组织能力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视图差异往往是隐式的，缺乏中层结构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2085" y="4935220"/>
            <a:ext cx="8971915" cy="241935"/>
          </a:xfrm>
          <a:prstGeom prst="roundRect">
            <a:avLst>
              <a:gd name="adj" fmla="val 13158"/>
            </a:avLst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80" y="4907280"/>
            <a:ext cx="843343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GCL 发展趋势：从「增强设计」转向「结构过程建模」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900" y="33782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二、问题分析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现有无增强 GCL 方法的核心局限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11787" y="1416685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35166" y="1527726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35166" y="1527726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52061" y="1527726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缺乏结构容器</a:t>
            </a:r>
            <a:endParaRPr lang="en-US" sz="17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152061" y="1799160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152061" y="1836174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节点扩散是「局部连续」的，缺乏结构重组能力。散射现象存在，但缺乏「结构容器」来承载和传递语义。</a:t>
            </a:r>
            <a:endParaRPr lang="en-US" sz="125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11787" y="2539434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535166" y="2650475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35166" y="2650475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152061" y="2650475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高阶语义表达不足</a:t>
            </a:r>
            <a:endParaRPr lang="en-US" sz="17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1152061" y="2921909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152061" y="2958923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节点级扩散难以显式刻画社区结构、高阶语义区域与图的宏观组织形态，视图差异隐式且不可控。</a:t>
            </a:r>
            <a:endParaRPr lang="en-US" sz="12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11787" y="3662184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535166" y="3773225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535166" y="3773225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152061" y="3773225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视图生成不显式</a:t>
            </a:r>
            <a:endParaRPr lang="en-US" sz="17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1152061" y="4044659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152061" y="4081672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无增强方法通过隐式扩散构造视图，缺乏中层结构组织，可解释性不足，难以稳定地刻画多尺度信息。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6327648"/>
            <a:ext cx="11460175" cy="438912"/>
          </a:xfrm>
          <a:prstGeom prst="roundRect">
            <a:avLst>
              <a:gd name="adj" fmla="val 12500"/>
            </a:avLst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327648"/>
            <a:ext cx="11460175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解决思路：引入「粒球」作为中层结构单元，实现从节点扩散到结构扩散的范式转变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8120" y="10998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三、核心方法框架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1765" y="66725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基于粒球扩散的图对比学习（GBGCL）</a:t>
            </a:r>
            <a:endParaRPr lang="en-US" sz="1300" b="1" i="1" dirty="0"/>
          </a:p>
        </p:txBody>
      </p:sp>
      <p:sp>
        <p:nvSpPr>
          <p:cNvPr id="5" name="Text 3"/>
          <p:cNvSpPr/>
          <p:nvPr/>
        </p:nvSpPr>
        <p:spPr>
          <a:xfrm>
            <a:off x="174625" y="510540"/>
            <a:ext cx="6317615" cy="1656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在传统图对比学习的「节点—图」两层结构之间，引入粒球（Granular Ball）作为中层结构单元，以构建一种多粒度、结构感知的图对比学习框架。粒球通过分裂与扩散机制形成由粗到细的多尺度结构表达，具有天然的区域建模与多粒度表达能力。</a:t>
            </a:r>
            <a:endParaRPr lang="en-US" sz="12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68110" y="1803273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68110" y="1803273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288174" y="1893321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88174" y="1893321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768429" y="1893321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粒球构建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18190" y="2163465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以节点嵌入为基础构建图粒球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每个粒球表示结构与语义一致的节点集合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支持自适应分裂形成多粒度层级</a:t>
            </a:r>
            <a:endParaRPr lang="en-US" sz="115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070185" y="1803273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4070185" y="1803273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190249" y="1893321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190249" y="1893321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0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670504" y="1893321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粒球图扩散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220265" y="2163465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在粒球层面构建粒球—粒球关系图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K 步随机游走扩散机制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通过扩散步数自然形成多尺度视图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168110" y="3424135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168110" y="3424135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288174" y="3514183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288174" y="3514183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M3</a:t>
            </a:r>
            <a:endParaRPr lang="en-US" sz="1000" dirty="0"/>
          </a:p>
        </p:txBody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768429" y="3514183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结构感知编码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318190" y="3784326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将扩散后的球心信息回写到节点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结合节点级与球级双重表示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增强对高阶语义区域的刻画能力</a:t>
            </a:r>
            <a:endParaRPr lang="en-US" sz="1150" dirty="0"/>
          </a:p>
        </p:txBody>
      </p:sp>
      <p:sp>
        <p:nvSpPr>
          <p:cNvPr id="24" name="Shape 22"/>
          <p:cNvSpPr/>
          <p:nvPr>
            <p:custDataLst>
              <p:tags r:id="rId19"/>
            </p:custDataLst>
          </p:nvPr>
        </p:nvSpPr>
        <p:spPr>
          <a:xfrm>
            <a:off x="4070185" y="3424135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4070185" y="3424135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4190249" y="3514183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4190249" y="3514183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M4</a:t>
            </a:r>
            <a:endParaRPr lang="en-US" sz="1000" dirty="0"/>
          </a:p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4670504" y="3514183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粒球级对比学习</a:t>
            </a:r>
            <a:endParaRPr lang="en-US" sz="15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4220265" y="3784326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设计球级散射损失（RSM）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引入球级 InfoNCE + 匈牙利匹配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粒球级与节点级协同优化目标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四、粒球核心设计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三大关键创新机制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13055" y="1146810"/>
            <a:ext cx="6797040" cy="106362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13055" y="1160145"/>
            <a:ext cx="353060" cy="105029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313009" y="1160147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28980" y="1160780"/>
            <a:ext cx="4338320" cy="28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语义增强的粒球构建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5450840" y="1160780"/>
            <a:ext cx="1659255" cy="161290"/>
          </a:xfrm>
          <a:prstGeom prst="roundRect">
            <a:avLst>
              <a:gd name="adj" fmla="val 14286"/>
            </a:avLst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5450840" y="1160780"/>
            <a:ext cx="1659255" cy="161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拓扑 + 语义双重感知</a:t>
            </a:r>
            <a:endParaRPr lang="en-US" sz="95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729814" y="1560932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结合图拓扑结构与节点嵌入质量函数自适应生成粒球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引入同质性度量，防止特征差异大的节点被强行归入同一粒球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分裂阈值设计：</a:t>
            </a: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                             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时停止分裂，保证粒球内部语义一致性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313055" y="2392045"/>
            <a:ext cx="6797040" cy="102679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313055" y="2392045"/>
            <a:ext cx="353060" cy="102679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13009" y="2391784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728544" y="2445150"/>
            <a:ext cx="4338576" cy="185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球图扩散与抗噪机制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5450840" y="2407920"/>
            <a:ext cx="1659255" cy="161290"/>
          </a:xfrm>
          <a:prstGeom prst="roundRect">
            <a:avLst>
              <a:gd name="adj" fmla="val 1428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5450840" y="2407920"/>
            <a:ext cx="1659255" cy="161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可信度感知的结构传播</a:t>
            </a:r>
            <a:endParaRPr lang="en-US" sz="95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729179" y="2766612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在粒球层面构建球—球邻接矩阵（融合拓扑权重 + 语义相似度）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</a:t>
            </a: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KNN 稀疏化 + 自环增强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，减少远距球干扰与噪声传播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对低可信度粒球在扩散矩阵中调低传播权重，实现隐式噪声门控</a:t>
            </a:r>
            <a:endParaRPr lang="en-US" sz="1150" dirty="0"/>
          </a:p>
        </p:txBody>
      </p:sp>
      <p:sp>
        <p:nvSpPr>
          <p:cNvPr id="21" name="Shape 19"/>
          <p:cNvSpPr/>
          <p:nvPr>
            <p:custDataLst>
              <p:tags r:id="rId15"/>
            </p:custDataLst>
          </p:nvPr>
        </p:nvSpPr>
        <p:spPr>
          <a:xfrm>
            <a:off x="313055" y="3780790"/>
            <a:ext cx="6797040" cy="995680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313055" y="3780790"/>
            <a:ext cx="353060" cy="97980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313009" y="3780997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729814" y="3835649"/>
            <a:ext cx="4338576" cy="185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粒球级与节点级联合对比</a:t>
            </a:r>
            <a:endParaRPr lang="en-US" sz="1500" dirty="0"/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5450840" y="3788410"/>
            <a:ext cx="1659255" cy="161290"/>
          </a:xfrm>
          <a:prstGeom prst="roundRect">
            <a:avLst>
              <a:gd name="adj" fmla="val 1428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5450840" y="3788410"/>
            <a:ext cx="1659255" cy="161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多尺度协同优化</a:t>
            </a:r>
            <a:endParaRPr lang="en-US" sz="950" dirty="0"/>
          </a:p>
        </p:txBody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728563" y="4162100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球级散射损失（RSM）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：约束不同粒球间角度分离 + 均匀分布正则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球级 InfoNCE：匈牙利匹配建立 Online/Target 视图正样本对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残差融合回写：z_new = α·h + (1-α)·H_K，平衡原始嵌入与扩散信息</a:t>
            </a:r>
            <a:endParaRPr lang="en-US" sz="1150" dirty="0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2103755" y="1902460"/>
            <a:ext cx="1463675" cy="307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570" y="43180"/>
            <a:ext cx="11369040" cy="54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</a:t>
            </a:r>
            <a:endParaRPr lang="zh-CN" altLang="en-US" sz="30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05435" y="583565"/>
            <a:ext cx="8709025" cy="450151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42570" y="582930"/>
            <a:ext cx="424180" cy="11220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42570" y="582930"/>
            <a:ext cx="424180" cy="948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65175" y="583565"/>
            <a:ext cx="5213985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质量函数定义</a:t>
            </a:r>
            <a:endParaRPr 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5"/>
            </p:custDataLst>
          </p:nvPr>
        </p:nvSpPr>
        <p:spPr>
          <a:xfrm>
            <a:off x="765175" y="1086485"/>
            <a:ext cx="7169785" cy="548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>
              <a:spcAft>
                <a:spcPts val="500"/>
              </a:spcAft>
              <a:buSzPct val="100000"/>
              <a:buNone/>
            </a:pPr>
            <a:r>
              <a:rPr lang="en-US" altLang="zh-CN" sz="1600" b="1" dirty="0"/>
              <a:t>1.(detach) — </a:t>
            </a:r>
            <a:r>
              <a:rPr lang="zh-CN" altLang="en-US" sz="1600" b="1" dirty="0"/>
              <a:t>默认质量函数</a:t>
            </a:r>
            <a:endParaRPr lang="zh-CN" altLang="en-US" sz="1600" b="1" dirty="0"/>
          </a:p>
          <a:p>
            <a:pPr indent="0">
              <a:spcAft>
                <a:spcPts val="500"/>
              </a:spcAft>
              <a:buSzPct val="100000"/>
              <a:buNone/>
            </a:pPr>
            <a:r>
              <a:rPr lang="zh-CN" altLang="en-US" sz="1200" b="1" dirty="0"/>
              <a:t>该公式衡量子图的嵌入紧密程度超过随机期望的程度：</a:t>
            </a:r>
            <a:endParaRPr lang="en-US" altLang="zh-CN" sz="1200" b="1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zh-CN" altLang="en-US" sz="1200" b="1" dirty="0"/>
              <a:t>值越大 → 子图内部嵌入一致性越高、结构越紧密</a:t>
            </a:r>
            <a:endParaRPr lang="zh-CN" altLang="en-US" sz="1200" b="1" dirty="0"/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zh-CN" altLang="en-US" sz="1200" b="1" dirty="0"/>
              <a:t>值越小 → 子图可能包含语义不一致的节点</a:t>
            </a:r>
            <a:endParaRPr lang="zh-CN" altLang="en-US" sz="1200" b="1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450" y="886460"/>
            <a:ext cx="2836545" cy="913765"/>
          </a:xfrm>
          <a:prstGeom prst="rect">
            <a:avLst/>
          </a:prstGeom>
        </p:spPr>
      </p:pic>
      <p:sp>
        <p:nvSpPr>
          <p:cNvPr id="29" name="Text 18"/>
          <p:cNvSpPr/>
          <p:nvPr>
            <p:custDataLst>
              <p:tags r:id="rId7"/>
            </p:custDataLst>
          </p:nvPr>
        </p:nvSpPr>
        <p:spPr>
          <a:xfrm>
            <a:off x="1494155" y="2080260"/>
            <a:ext cx="7169785" cy="548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r">
              <a:spcAft>
                <a:spcPts val="500"/>
              </a:spcAft>
              <a:buSzPct val="100000"/>
              <a:buNone/>
            </a:pPr>
            <a:r>
              <a:rPr lang="en-US" altLang="zh-CN" sz="1600" b="1" dirty="0"/>
              <a:t>2.(homo) — </a:t>
            </a:r>
            <a:r>
              <a:rPr lang="zh-CN" altLang="en-US" sz="1600" b="1" dirty="0"/>
              <a:t>同质性质量函数</a:t>
            </a:r>
            <a:endParaRPr lang="zh-CN" altLang="en-US" sz="1600" b="1" dirty="0"/>
          </a:p>
          <a:p>
            <a:pPr indent="0" algn="r">
              <a:spcAft>
                <a:spcPts val="500"/>
              </a:spcAft>
              <a:buSzPct val="100000"/>
              <a:buNone/>
            </a:pPr>
            <a:r>
              <a:rPr lang="zh-CN" altLang="en-US" sz="1200" b="1" dirty="0"/>
              <a:t>衡量"物以类聚"的程度：</a:t>
            </a:r>
            <a:endParaRPr lang="en-US" altLang="zh-CN" sz="1200" b="1" dirty="0"/>
          </a:p>
          <a:p>
            <a:pPr marL="342900" indent="-342900" algn="r">
              <a:spcAft>
                <a:spcPts val="500"/>
              </a:spcAft>
              <a:buSzPct val="100000"/>
              <a:buChar char="•"/>
            </a:pPr>
            <a:r>
              <a:rPr lang="zh-CN" altLang="en-US" sz="1200" b="1" dirty="0"/>
              <a:t>如果同质性高，说明边连接的都是语义相似的节点</a:t>
            </a:r>
            <a:endParaRPr lang="zh-CN" altLang="en-US" sz="1200" b="1" dirty="0"/>
          </a:p>
          <a:p>
            <a:pPr marL="342900" indent="-342900" algn="r">
              <a:spcAft>
                <a:spcPts val="500"/>
              </a:spcAft>
              <a:buSzPct val="100000"/>
              <a:buChar char="•"/>
            </a:pPr>
            <a:r>
              <a:rPr lang="zh-CN" altLang="en-US" sz="1200" b="1" dirty="0"/>
              <a:t>适合用于社区结构明显的数据集（如 </a:t>
            </a:r>
            <a:r>
              <a:rPr lang="en-US" altLang="zh-CN" sz="1200" b="1" dirty="0"/>
              <a:t>CS、Physics）</a:t>
            </a:r>
            <a:endParaRPr lang="en-US" altLang="zh-CN" sz="1200" b="1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340" y="2009775"/>
            <a:ext cx="3157220" cy="924560"/>
          </a:xfrm>
          <a:prstGeom prst="rect">
            <a:avLst/>
          </a:prstGeom>
        </p:spPr>
      </p:pic>
      <p:sp>
        <p:nvSpPr>
          <p:cNvPr id="31" name="Text 18"/>
          <p:cNvSpPr/>
          <p:nvPr>
            <p:custDataLst>
              <p:tags r:id="rId9"/>
            </p:custDataLst>
          </p:nvPr>
        </p:nvSpPr>
        <p:spPr>
          <a:xfrm>
            <a:off x="411480" y="2955925"/>
            <a:ext cx="7169785" cy="955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>
              <a:spcAft>
                <a:spcPts val="500"/>
              </a:spcAft>
              <a:buSzPct val="100000"/>
              <a:buNone/>
            </a:pPr>
            <a:r>
              <a:rPr lang="en-US" altLang="zh-CN" sz="1600" b="1" dirty="0"/>
              <a:t>3.(edges) — </a:t>
            </a:r>
            <a:r>
              <a:rPr lang="zh-CN" altLang="en-US" sz="1600" b="1" dirty="0"/>
              <a:t>边密度质量函数</a:t>
            </a:r>
            <a:endParaRPr lang="zh-CN" altLang="en-US" sz="1600" b="1" dirty="0"/>
          </a:p>
          <a:p>
            <a:pPr indent="0">
              <a:spcAft>
                <a:spcPts val="500"/>
              </a:spcAft>
              <a:buSzPct val="100000"/>
              <a:buNone/>
            </a:pPr>
            <a:r>
              <a:rPr lang="zh-CN" altLang="en-US" sz="1200" b="1" dirty="0"/>
              <a:t>该公式衡量衡量子图的边密度超过随机期望的程度：</a:t>
            </a:r>
            <a:endParaRPr lang="en-US" altLang="zh-CN" sz="1200" b="1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 dirty="0"/>
              <a:t>值越大 → 子图内部连接比随机情况更紧密（存在社区结构）</a:t>
            </a:r>
            <a:endParaRPr lang="zh-CN" altLang="en-US" sz="1200" b="1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 dirty="0"/>
              <a:t>适合用于噪声边较多的数据集（如 </a:t>
            </a:r>
            <a:r>
              <a:rPr lang="en-US" altLang="zh-CN" sz="1200" b="1" dirty="0"/>
              <a:t>Computers、Photo）</a:t>
            </a:r>
            <a:r>
              <a:rPr lang="zh-CN" altLang="en-US" sz="1200" b="1" dirty="0"/>
              <a:t>点</a:t>
            </a:r>
            <a:endParaRPr lang="zh-CN" altLang="en-US" sz="1200" b="1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8455" y="3004820"/>
            <a:ext cx="3009900" cy="906780"/>
          </a:xfrm>
          <a:prstGeom prst="rect">
            <a:avLst/>
          </a:prstGeom>
        </p:spPr>
      </p:pic>
      <p:sp>
        <p:nvSpPr>
          <p:cNvPr id="33" name="右箭头 32"/>
          <p:cNvSpPr/>
          <p:nvPr/>
        </p:nvSpPr>
        <p:spPr>
          <a:xfrm>
            <a:off x="4783455" y="1188720"/>
            <a:ext cx="602615" cy="219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右箭头 33"/>
          <p:cNvSpPr/>
          <p:nvPr/>
        </p:nvSpPr>
        <p:spPr>
          <a:xfrm>
            <a:off x="4706620" y="3519805"/>
            <a:ext cx="391795" cy="2190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 rot="10800000">
            <a:off x="4314825" y="2505710"/>
            <a:ext cx="563880" cy="21907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Text 18"/>
          <p:cNvSpPr/>
          <p:nvPr>
            <p:custDataLst>
              <p:tags r:id="rId11"/>
            </p:custDataLst>
          </p:nvPr>
        </p:nvSpPr>
        <p:spPr>
          <a:xfrm>
            <a:off x="1566545" y="4169410"/>
            <a:ext cx="7169785" cy="548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algn="r">
              <a:spcAft>
                <a:spcPts val="500"/>
              </a:spcAft>
              <a:buSzPct val="100000"/>
              <a:buNone/>
            </a:pPr>
            <a:r>
              <a:rPr lang="en-US" altLang="zh-CN" sz="1600" b="1" dirty="0"/>
              <a:t>4.(deg) — </a:t>
            </a:r>
            <a:r>
              <a:rPr lang="zh-CN" altLang="en-US" sz="1600" b="1" dirty="0"/>
              <a:t>度数质量函数</a:t>
            </a:r>
            <a:endParaRPr lang="zh-CN" altLang="en-US" sz="1600" b="1" dirty="0"/>
          </a:p>
          <a:p>
            <a:pPr indent="0" algn="r">
              <a:spcAft>
                <a:spcPts val="500"/>
              </a:spcAft>
              <a:buSzPct val="100000"/>
              <a:buNone/>
            </a:pPr>
            <a:r>
              <a:rPr lang="zh-CN" altLang="en-US" sz="1200" b="1" dirty="0"/>
              <a:t>最简单直观的连通性度量——子图的平均度：</a:t>
            </a:r>
            <a:endParaRPr lang="en-US" altLang="zh-CN" sz="1200" b="1" dirty="0"/>
          </a:p>
          <a:p>
            <a:pPr marL="171450" indent="-171450" algn="r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 dirty="0"/>
              <a:t>值越大 → 子图越稠密</a:t>
            </a:r>
            <a:endParaRPr lang="zh-CN" altLang="en-US" sz="1200" b="1" dirty="0"/>
          </a:p>
          <a:p>
            <a:pPr marL="171450" indent="-171450" algn="r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zh-CN" altLang="en-US" sz="1200" b="1" dirty="0"/>
              <a:t>适合快速测试或简单场景</a:t>
            </a:r>
            <a:r>
              <a:rPr lang="en-US" altLang="zh-CN" sz="1200" b="1" dirty="0"/>
              <a:t>）</a:t>
            </a:r>
            <a:endParaRPr lang="en-US" altLang="zh-CN" sz="1200" b="1" dirty="0"/>
          </a:p>
        </p:txBody>
      </p:sp>
      <p:sp>
        <p:nvSpPr>
          <p:cNvPr id="37" name="右箭头 36"/>
          <p:cNvSpPr/>
          <p:nvPr/>
        </p:nvSpPr>
        <p:spPr>
          <a:xfrm rot="10800000">
            <a:off x="4706620" y="4498340"/>
            <a:ext cx="767715" cy="21907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92605" y="4041775"/>
            <a:ext cx="2705100" cy="861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570" y="43180"/>
            <a:ext cx="11369040" cy="54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</a:t>
            </a:r>
            <a:endParaRPr lang="zh-CN" altLang="en-US" sz="30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05435" y="583565"/>
            <a:ext cx="8709025" cy="450151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42570" y="582930"/>
            <a:ext cx="424180" cy="11220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42570" y="582930"/>
            <a:ext cx="424180" cy="948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2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65175" y="583565"/>
            <a:ext cx="5213985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质量函数</a:t>
            </a: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指南</a:t>
            </a:r>
            <a:endParaRPr lang="zh-CN" alt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5"/>
            </p:custDataLst>
          </p:nvPr>
        </p:nvGraphicFramePr>
        <p:xfrm>
          <a:off x="1026795" y="1188720"/>
          <a:ext cx="677608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695"/>
                <a:gridCol w="2258695"/>
                <a:gridCol w="2258695"/>
              </a:tblGrid>
              <a:tr h="320040">
                <a:tc>
                  <a:txBody>
                    <a:bodyPr/>
                    <a:p>
                      <a:pPr algn="l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数据集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推荐质量函数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 algn="l"/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原因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76517" marR="76517" marT="38417" marB="38417" anchor="ctr" anchorCtr="0"/>
                </a:tc>
              </a:tr>
              <a:tr h="807720"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CS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>
                        <a:lnSpc>
                          <a:spcPts val="1425"/>
                        </a:lnSpc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detach </a:t>
                      </a: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或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 homo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学术合作网络，社区结构清晰，边都是同领域合作关系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76517" marR="76517" marT="38417" marB="38417" anchor="ctr" anchorCtr="0"/>
                </a:tc>
              </a:tr>
              <a:tr h="563880"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Physics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>
                        <a:lnSpc>
                          <a:spcPts val="1425"/>
                        </a:lnSpc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detach </a:t>
                      </a:r>
                      <a:r>
                        <a:rPr lang="zh-CN" altLang="en-US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或</a:t>
                      </a: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黑体" panose="02010609060101010101" charset="-122"/>
                        </a:rPr>
                        <a:t> homo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  <a:cs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同样是学术网络，社区结构明显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76517" marR="76517" marT="38417" marB="38417" anchor="ctr" anchorCtr="0"/>
                </a:tc>
              </a:tr>
              <a:tr h="807720"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Photo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>
                        <a:lnSpc>
                          <a:spcPts val="1425"/>
                        </a:lnSpc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edges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亚马逊商品图，跨品类噪声边较多，需要边密度判别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76517" marR="76517" marT="38417" marB="38417" anchor="ctr" anchorCtr="0"/>
                </a:tc>
              </a:tr>
              <a:tr h="563880">
                <a:tc>
                  <a:txBody>
                    <a:bodyPr/>
                    <a:p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Computers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pPr>
                        <a:lnSpc>
                          <a:spcPts val="1425"/>
                        </a:lnSpc>
                      </a:pPr>
                      <a:r>
                        <a:rPr lang="en-US" altLang="zh-CN" sz="1800" b="0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edges</a:t>
                      </a:r>
                      <a:endParaRPr lang="en-US" altLang="zh-CN" sz="1800" b="0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76517" marR="76517" marT="38417" marB="38417" anchor="ctr" anchorCtr="0"/>
                </a:tc>
                <a:tc>
                  <a:txBody>
                    <a:bodyPr/>
                    <a:p>
                      <a:r>
                        <a:rPr lang="zh-CN" altLang="en-US" sz="1600" b="0" i="0">
                          <a:solidFill>
                            <a:schemeClr val="tx1"/>
                          </a:solidFill>
                          <a:latin typeface="-apple-system"/>
                          <a:ea typeface="-apple-system"/>
                        </a:rPr>
                        <a:t>同上，商品共购关系复杂，噪声边多</a:t>
                      </a:r>
                      <a:endParaRPr lang="zh-CN" altLang="en-US" sz="1600" b="0" i="0">
                        <a:solidFill>
                          <a:schemeClr val="tx1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76517" marR="76517" marT="38417" marB="384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570" y="66040"/>
            <a:ext cx="11369040" cy="54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分裂条件</a:t>
            </a:r>
            <a:endParaRPr lang="zh-CN" altLang="en-US" sz="30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34340" y="582930"/>
            <a:ext cx="8709025" cy="450151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42570" y="582930"/>
            <a:ext cx="424180" cy="11220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42570" y="582930"/>
            <a:ext cx="424180" cy="948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3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65175" y="583565"/>
            <a:ext cx="1873885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分裂算法流程</a:t>
            </a:r>
            <a:endParaRPr lang="zh-CN" alt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75" y="886460"/>
            <a:ext cx="2684145" cy="2929890"/>
          </a:xfrm>
          <a:prstGeom prst="rect">
            <a:avLst/>
          </a:prstGeom>
        </p:spPr>
      </p:pic>
      <p:sp>
        <p:nvSpPr>
          <p:cNvPr id="11" name="Text 6"/>
          <p:cNvSpPr/>
          <p:nvPr>
            <p:custDataLst>
              <p:tags r:id="rId6"/>
            </p:custDataLst>
          </p:nvPr>
        </p:nvSpPr>
        <p:spPr>
          <a:xfrm>
            <a:off x="3635375" y="583565"/>
            <a:ext cx="1873885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分裂判断公式</a:t>
            </a:r>
            <a:endParaRPr lang="zh-CN" alt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5375" y="912495"/>
            <a:ext cx="3276600" cy="7924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5375" y="1731010"/>
            <a:ext cx="3114675" cy="9194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654425" y="2762250"/>
            <a:ext cx="52533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/>
              <a:t>物理意义：</a:t>
            </a:r>
            <a:endParaRPr lang="en-US" altLang="zh-CN" sz="12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分裂阈值：只有当父球质量超过子球平均质量的 2.5 倍 时，才停止分裂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反向思考：如果分裂后质量下降超过 60%（即子球质量不足父球的 40%），则分裂得不偿失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这是一个贪心策略：保证每次分裂都有收益</a:t>
            </a:r>
            <a:endParaRPr lang="zh-CN" altLang="en-US" sz="1200"/>
          </a:p>
        </p:txBody>
      </p:sp>
      <p:sp>
        <p:nvSpPr>
          <p:cNvPr id="17" name="Text 6"/>
          <p:cNvSpPr/>
          <p:nvPr>
            <p:custDataLst>
              <p:tags r:id="rId9"/>
            </p:custDataLst>
          </p:nvPr>
        </p:nvSpPr>
        <p:spPr>
          <a:xfrm>
            <a:off x="666750" y="3996055"/>
            <a:ext cx="1873885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阈值</a:t>
            </a: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</a:t>
            </a:r>
            <a:endParaRPr lang="zh-CN" alt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6750" y="4290695"/>
            <a:ext cx="5010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阈值太大（如 3.0）→ 分裂困难，粒球少且大，粒度过粗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阈值太小（如 1.5）→ 过度分裂，粒球多且小，粒度过细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当前值 2.5 → 平衡粒度和质量的经验值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570" y="66040"/>
            <a:ext cx="11369040" cy="54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减少远距球与噪声传播的机制</a:t>
            </a:r>
            <a:endParaRPr lang="zh-CN" altLang="en-US" sz="30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34340" y="606425"/>
            <a:ext cx="8521700" cy="450151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42570" y="582930"/>
            <a:ext cx="424180" cy="11220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42570" y="582930"/>
            <a:ext cx="424180" cy="948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4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65175" y="583565"/>
            <a:ext cx="3002280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机制一：</a:t>
            </a:r>
            <a:r>
              <a:rPr lang="en-US" altLang="zh-CN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KNN </a:t>
            </a: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稀疏化（球图构建）</a:t>
            </a:r>
            <a:endParaRPr lang="zh-CN" alt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75" y="886460"/>
            <a:ext cx="2807970" cy="13131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66490" y="942340"/>
            <a:ext cx="5143500" cy="1009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：每个球只与最相似的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个球建立连接，阻断远距球之间的信息传播。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参数：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knn = 5, 10, 20（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sweepX.py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中搜索）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越小越稀疏，越能阻断远距传播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 6"/>
          <p:cNvSpPr/>
          <p:nvPr>
            <p:custDataLst>
              <p:tags r:id="rId6"/>
            </p:custDataLst>
          </p:nvPr>
        </p:nvSpPr>
        <p:spPr>
          <a:xfrm>
            <a:off x="666750" y="2740660"/>
            <a:ext cx="3500120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机制二：拓扑 + 语义融合（</a:t>
            </a:r>
            <a:r>
              <a:rPr lang="en-US" altLang="zh-CN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w_mode）</a:t>
            </a:r>
            <a:endParaRPr lang="en-US" altLang="zh-CN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032000" y="24031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40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F8F8F2"/>
                </a:solidFill>
                <a:latin typeface="-apple-system"/>
                <a:ea typeface="-apple-system"/>
              </a:rPr>
              <a:t>四：</a:t>
            </a:r>
            <a:r>
              <a:rPr lang="en-US" altLang="zh-CN" sz="1600" b="0" i="0">
                <a:solidFill>
                  <a:srgbClr val="F8F8F2"/>
                </a:solidFill>
                <a:latin typeface="-apple-system"/>
                <a:ea typeface="-apple-system"/>
              </a:rPr>
              <a:t>α </a:t>
            </a:r>
            <a:r>
              <a:rPr lang="zh-CN" altLang="en-US" sz="1600" b="0" i="0">
                <a:solidFill>
                  <a:srgbClr val="F8F8F2"/>
                </a:solidFill>
                <a:latin typeface="-apple-system"/>
                <a:ea typeface="-apple-system"/>
              </a:rPr>
              <a:t>控制回写比例</a:t>
            </a:r>
            <a:endParaRPr lang="zh-CN" altLang="en-US" sz="1600" b="0" i="0">
              <a:solidFill>
                <a:srgbClr val="F8F8F2"/>
              </a:solidFill>
              <a:latin typeface="-apple-system"/>
              <a:ea typeface="-apple-system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032000" y="24031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400"/>
              </a:spcBef>
              <a:spcAft>
                <a:spcPts val="900"/>
              </a:spcAft>
            </a:pPr>
            <a:r>
              <a:rPr lang="zh-CN" altLang="en-US" sz="1600" b="0" i="0">
                <a:solidFill>
                  <a:srgbClr val="F8F8F2"/>
                </a:solidFill>
                <a:latin typeface="-apple-system"/>
                <a:ea typeface="-apple-system"/>
              </a:rPr>
              <a:t>四：</a:t>
            </a:r>
            <a:r>
              <a:rPr lang="en-US" altLang="zh-CN" sz="1600" b="0" i="0">
                <a:solidFill>
                  <a:srgbClr val="F8F8F2"/>
                </a:solidFill>
                <a:latin typeface="-apple-system"/>
                <a:ea typeface="-apple-system"/>
              </a:rPr>
              <a:t>α </a:t>
            </a:r>
            <a:r>
              <a:rPr lang="zh-CN" altLang="en-US" sz="1600" b="0" i="0">
                <a:solidFill>
                  <a:srgbClr val="F8F8F2"/>
                </a:solidFill>
                <a:latin typeface="-apple-system"/>
                <a:ea typeface="-apple-system"/>
              </a:rPr>
              <a:t>控制回写比例</a:t>
            </a:r>
            <a:endParaRPr lang="zh-CN" altLang="en-US" sz="1600" b="0" i="0">
              <a:solidFill>
                <a:srgbClr val="F8F8F2"/>
              </a:solidFill>
              <a:latin typeface="-apple-system"/>
              <a:ea typeface="-apple-system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192780"/>
            <a:ext cx="3487420" cy="177927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4675" y="2403475"/>
            <a:ext cx="3085465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2570" y="66040"/>
            <a:ext cx="11369040" cy="540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减少远距球与噪声传播的机制</a:t>
            </a:r>
            <a:endParaRPr lang="zh-CN" altLang="en-US" sz="30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34340" y="606425"/>
            <a:ext cx="8521700" cy="450151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242570" y="582930"/>
            <a:ext cx="424180" cy="11220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242570" y="582930"/>
            <a:ext cx="424180" cy="948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4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0" name="Text 6"/>
          <p:cNvSpPr/>
          <p:nvPr>
            <p:custDataLst>
              <p:tags r:id="rId4"/>
            </p:custDataLst>
          </p:nvPr>
        </p:nvSpPr>
        <p:spPr>
          <a:xfrm>
            <a:off x="849630" y="863600"/>
            <a:ext cx="3500120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</a:t>
            </a: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三：</a:t>
            </a:r>
            <a:r>
              <a:rPr lang="en-US" altLang="zh-CN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β </a:t>
            </a: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控制扩散强度</a:t>
            </a:r>
            <a:endParaRPr lang="zh-CN" alt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6"/>
          <p:cNvSpPr/>
          <p:nvPr>
            <p:custDataLst>
              <p:tags r:id="rId5"/>
            </p:custDataLst>
          </p:nvPr>
        </p:nvSpPr>
        <p:spPr>
          <a:xfrm>
            <a:off x="758190" y="3234690"/>
            <a:ext cx="3500120" cy="30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机制四：</a:t>
            </a:r>
            <a:r>
              <a:rPr lang="en-US" altLang="zh-CN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α </a:t>
            </a:r>
            <a:r>
              <a:rPr lang="zh-CN" alt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控制回写比例</a:t>
            </a:r>
            <a:endParaRPr lang="zh-CN" altLang="en-US" sz="15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7110" y="1423670"/>
            <a:ext cx="3502660" cy="9480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4870" y="805180"/>
            <a:ext cx="3497580" cy="6858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4870" y="1605915"/>
            <a:ext cx="3147060" cy="14046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58190" y="3704590"/>
            <a:ext cx="3848100" cy="9982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0125" y="3234690"/>
            <a:ext cx="2875915" cy="184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四、粒球核心设计</a:t>
            </a:r>
            <a:r>
              <a:rPr lang="zh-CN" alt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框架图</a:t>
            </a:r>
            <a:endParaRPr lang="zh-CN" altLang="en-US" sz="3000" b="1" dirty="0">
              <a:solidFill>
                <a:srgbClr val="1A2F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4990" y="1188593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300" dirty="0"/>
              <a:t>GBGCL</a:t>
            </a:r>
            <a:r>
              <a:rPr lang="zh-CN" altLang="en-US" sz="1300" dirty="0"/>
              <a:t>核心</a:t>
            </a:r>
            <a:r>
              <a:rPr lang="zh-CN" altLang="en-US" sz="1300" dirty="0"/>
              <a:t>框架图</a:t>
            </a:r>
            <a:endParaRPr lang="zh-CN" altLang="en-US" sz="13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90" y="1629410"/>
            <a:ext cx="8394065" cy="196913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193290" y="358394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600" b="1" dirty="0">
                <a:solidFill>
                  <a:srgbClr val="1A252F"/>
                </a:solidFill>
                <a:sym typeface="+mn-ea"/>
              </a:rPr>
              <a:t>Figure 1: Overview of GBGCL</a:t>
            </a:r>
            <a:endParaRPr lang="en-US" altLang="en-US" sz="1600" b="1" dirty="0">
              <a:solidFill>
                <a:srgbClr val="1A252F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146935" y="3921125"/>
            <a:ext cx="457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sym typeface="+mn-ea"/>
              </a:rPr>
              <a:t>Granular Ball Graph Contrastive Learning</a:t>
            </a:r>
            <a:endParaRPr lang="en-US" altLang="en-US" sz="1000" i="1" dirty="0">
              <a:solidFill>
                <a:srgbClr val="7F8C8D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12573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475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五、实验结果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30123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Amazon 共购图与学术合作图上的节点分类性能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59104"/>
            <a:ext cx="1146017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实验设置：基于 SGRL 官方代码框架，使用 LogisticRegression + GridSearchCV 进行线性探测评估（3 次随机划分取均值）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5760" y="1352550"/>
          <a:ext cx="7642860" cy="1508760"/>
        </p:xfrm>
        <a:graphic>
          <a:graphicData uri="http://schemas.openxmlformats.org/drawingml/2006/table">
            <a:tbl>
              <a:tblPr/>
              <a:tblGrid>
                <a:gridCol w="924560"/>
                <a:gridCol w="1540510"/>
                <a:gridCol w="1541145"/>
                <a:gridCol w="3636645"/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数据集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SGRL（原文）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SGRL+GB（ Ours）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最优参数配置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93.95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94.28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detach / dot / α=0.3 / β=0.3 / K=5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Physics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96.23 ± 0.01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96.21 ± 0.01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detach / dot / α=0.3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Photo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93.95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B451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93.87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homo / cos / α=0.3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Computers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90.23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B451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89.70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homo / dot / α=0.7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365760" y="284340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关键发现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V="1">
            <a:off x="319405" y="3115310"/>
            <a:ext cx="7689215" cy="111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9405" y="3298825"/>
            <a:ext cx="7658735" cy="26733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9405" y="329882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285" y="329882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 数据集引入粒球后准确率提升约 +0.33%，说明粒球结构对学术合作网络的社区结构刻画更为有效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9405" y="3774440"/>
            <a:ext cx="7658735" cy="267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9405" y="3774440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285" y="3774440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alpha=0.3 在多数数据集上最优，表明更多粒球扩散信息（1-α=0.7）回写有助于表示学习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9405" y="4250055"/>
            <a:ext cx="7658735" cy="26733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9405" y="425005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285" y="425005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topo+center 融合模式（拓扑权重 + 语义相似度）整体更稳定，兼具结构与语义的粒球图构建效果更好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19405" y="4725035"/>
            <a:ext cx="7658735" cy="267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9405" y="472503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285" y="472503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homo 同质性度量在密集图（Photo/Computers）上优于 detach，适合高连通密度的 Amazon 共购网络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397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六、下一步计划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3677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围绕方法完善与系统评估的四个方向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28036" y="1078992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61364" y="1265651"/>
            <a:ext cx="466647" cy="466647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61364" y="1265651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61339" y="1158989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计算效率优化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061339" y="1425644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061339" y="1478975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针对当前粒球构建与扩散过程的计算开销，探索近似算法与采样策略，在保持精度的前提下降低训练时间。重点方向：GPU 并行化构球 / 自适应 KNN 稀疏化。</a:t>
            </a:r>
            <a:endParaRPr lang="en-US" sz="115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28036" y="2052284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461364" y="2238943"/>
            <a:ext cx="466647" cy="466647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61364" y="2238943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061339" y="2132281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系统性对比实验</a:t>
            </a:r>
            <a:endParaRPr lang="en-US" sz="15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1061339" y="2398936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061339" y="2452268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在标准数据集（Cora, CiteSeer, PubMed）及异质性数据集上，与主流 GCL 方法（GraphCL, MVGRL, BGRL 等）进行全面对比，覆盖节点分类与链路预测任务。</a:t>
            </a:r>
            <a:endParaRPr lang="en-US" sz="11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328036" y="3025577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461364" y="3212236"/>
            <a:ext cx="466647" cy="466647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61364" y="3212236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061339" y="3105573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消融研究与参数敏感性分析</a:t>
            </a:r>
            <a:endParaRPr lang="en-US" sz="15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1061339" y="3372229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061339" y="3425560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对「粒球构建」「扩散机制」「球级对比损失」三大核心模块逐一消融，量化各模块对最终性能的贡献，并系统分析关键参数（K, β, α, 损失权重）的敏感性。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328036" y="3998869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461364" y="4185528"/>
            <a:ext cx="466647" cy="466647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461364" y="4185528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1061339" y="4078866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可视化与结构解释性分析</a:t>
            </a:r>
            <a:endParaRPr lang="en-US" sz="1500" dirty="0"/>
          </a:p>
        </p:txBody>
      </p:sp>
      <p:sp>
        <p:nvSpPr>
          <p:cNvPr id="27" name="Shape 25"/>
          <p:cNvSpPr/>
          <p:nvPr>
            <p:custDataLst>
              <p:tags r:id="rId23"/>
            </p:custDataLst>
          </p:nvPr>
        </p:nvSpPr>
        <p:spPr>
          <a:xfrm>
            <a:off x="1061339" y="4345521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1061339" y="4398852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t-SNE 可视化粒球分布，结合扩散过程的结构演化图，定性分析粒球在图对比学习中的结构组织作用，为模型可解释性提供直观支持。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07435"/>
            <a:ext cx="3657600" cy="3657600"/>
          </a:xfrm>
          <a:prstGeom prst="ellipse">
            <a:avLst/>
          </a:prstGeom>
          <a:solidFill>
            <a:srgbClr val="2A4A72">
              <a:alpha val="40000"/>
            </a:srgbClr>
          </a:solidFill>
          <a:ln w="12700">
            <a:solidFill>
              <a:srgbClr val="2A4A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-4572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1185855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从「节点扩散」到「结构扩散」的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图对比学习范式转变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682510" y="2794879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682510" y="2794879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1395658" y="2752090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现有无增强 GCL 仅在节点级扩散，缺乏结构容器与高阶语义组织能力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682510" y="3522291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682510" y="3522291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1395658" y="3479502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引入粒球作为中层结构单元，构建粒球—粒球关系图并执行扩散，生成多尺度结构视图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682510" y="4249702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682510" y="4249702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1395658" y="4206913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语义增强的粒球构建 + 可信度感知的扩散抗噪 + 粒球级与节点级联合对比学习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682510" y="4977114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682510" y="4977114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1395658" y="4934325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CS 数据集上准确率提升至 94.28%，验证了粒球结构对学术网络的社区刻画有效性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118585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基于粒球扩散机制的图对比学习研究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2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3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4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5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6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7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8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9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0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1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2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3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4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5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6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7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8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3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4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5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6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7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8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3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4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5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6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7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8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7.xml><?xml version="1.0" encoding="utf-8"?>
<p:tagLst xmlns:p="http://schemas.openxmlformats.org/presentationml/2006/main">
  <p:tag name="TABLE_ENDDRAG_ORIGIN_RECT" val="535*207"/>
  <p:tag name="TABLE_ENDDRAG_RECT" val="80*93*535*207"/>
</p:tagLst>
</file>

<file path=ppt/tags/tag7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7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8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9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9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92.xml><?xml version="1.0" encoding="utf-8"?>
<p:tagLst xmlns:p="http://schemas.openxmlformats.org/presentationml/2006/main">
  <p:tag name="KSO_WM_DIAGRAM_VIRTUALLY_FRAME" val="{&quot;height&quot;:363.7000000000001,&quot;left&quot;:-44,&quot;top&quot;:49.55,&quot;width&quot;:619.25}"/>
</p:tagLst>
</file>

<file path=ppt/tags/tag93.xml><?xml version="1.0" encoding="utf-8"?>
<p:tagLst xmlns:p="http://schemas.openxmlformats.org/presentationml/2006/main">
  <p:tag name="KSO_WM_DIAGRAM_VIRTUALLY_FRAME" val="{&quot;height&quot;:363.7000000000001,&quot;left&quot;:-44,&quot;top&quot;:49.55,&quot;width&quot;:619.25}"/>
</p:tagLst>
</file>

<file path=ppt/tags/tag94.xml><?xml version="1.0" encoding="utf-8"?>
<p:tagLst xmlns:p="http://schemas.openxmlformats.org/presentationml/2006/main">
  <p:tag name="KSO_WM_DIAGRAM_VIRTUALLY_FRAME" val="{&quot;height&quot;:363.7000000000001,&quot;left&quot;:-44,&quot;top&quot;:49.55,&quot;width&quot;:619.25}"/>
</p:tagLst>
</file>

<file path=ppt/tags/tag95.xml><?xml version="1.0" encoding="utf-8"?>
<p:tagLst xmlns:p="http://schemas.openxmlformats.org/presentationml/2006/main">
  <p:tag name="KSO_WM_DIAGRAM_VIRTUALLY_FRAME" val="{&quot;height&quot;:363.7000000000001,&quot;left&quot;:-44,&quot;top&quot;:49.55,&quot;width&quot;:619.25}"/>
</p:tagLst>
</file>

<file path=ppt/tags/tag96.xml><?xml version="1.0" encoding="utf-8"?>
<p:tagLst xmlns:p="http://schemas.openxmlformats.org/presentationml/2006/main">
  <p:tag name="TABLE_ENDDRAG_ORIGIN_RECT" val="601*114"/>
  <p:tag name="TABLE_ENDDRAG_RECT" val="28*106*601*114"/>
</p:tagLst>
</file>

<file path=ppt/tags/tag9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9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99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0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1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2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3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4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09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0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1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2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3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4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19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20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121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2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3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4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5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6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7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8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29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30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31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32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3615</Words>
  <Application>WPS 演示</Application>
  <PresentationFormat>On-screen Show (16:9)</PresentationFormat>
  <Paragraphs>375</Paragraphs>
  <Slides>14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-apple-system</vt:lpstr>
      <vt:lpstr>katex_main</vt:lpstr>
      <vt:lpstr>KaTeX_Math</vt:lpstr>
      <vt:lpstr>ESRI AMFM Electric</vt:lpstr>
      <vt:lpstr>Consolas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基于粒球扩散机制的图对比学习研究</dc:title>
  <dc:creator>谭成</dc:creator>
  <dc:subject>工作进展汇报</dc:subject>
  <cp:lastModifiedBy>Fü</cp:lastModifiedBy>
  <cp:revision>6</cp:revision>
  <dcterms:created xsi:type="dcterms:W3CDTF">2026-04-14T17:01:00Z</dcterms:created>
  <dcterms:modified xsi:type="dcterms:W3CDTF">2026-04-21T16:58:02Z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0F2E1FC22F504B3D94DFF574D0D5FF89_13</vt:lpwstr>
  </property>
</Properties>
</file>