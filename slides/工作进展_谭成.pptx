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3"/>
    <p:sldId id="267" r:id="rId4"/>
    <p:sldId id="278" r:id="rId5"/>
    <p:sldId id="268" r:id="rId6"/>
    <p:sldId id="279" r:id="rId7"/>
    <p:sldId id="281" r:id="rId8"/>
    <p:sldId id="283" r:id="rId9"/>
    <p:sldId id="288" r:id="rId10"/>
    <p:sldId id="289" r:id="rId11"/>
  </p:sldIdLst>
  <p:sldSz cx="9144000" cy="6858000" type="screen4x3"/>
  <p:notesSz cx="6858000" cy="91440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 id="225411578" name="Fü" initials="F" lastIdx="1" clrIdx="1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9FBF8"/>
    <a:srgbClr val="0000FF"/>
    <a:srgbClr val="1F40B8"/>
    <a:srgbClr val="4864FC"/>
    <a:srgbClr val="6C5EDE"/>
    <a:srgbClr val="4545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24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25.xml"/><Relationship Id="rId16" Type="http://schemas.openxmlformats.org/officeDocument/2006/relationships/commentAuthors" Target="commen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22000" y="1151974"/>
            <a:ext cx="8100000" cy="529200"/>
          </a:xfrm>
        </p:spPr>
        <p:txBody>
          <a:bodyPr wrap="square">
            <a:normAutofit/>
          </a:bodyPr>
          <a:lstStyle>
            <a:lvl1pPr algn="ctr">
              <a:defRPr sz="3200">
                <a:solidFill>
                  <a:schemeClr val="tx1"/>
                </a:solidFill>
                <a:latin typeface="+mj-ea"/>
                <a:ea typeface="+mj-ea"/>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wrap="square">
            <a:normAutofit/>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Rectangle 41696_#color-2179&amp;9267"/>
          <p:cNvSpPr/>
          <p:nvPr userDrawn="1">
            <p:custDataLst>
              <p:tags r:id="rId2"/>
            </p:custDataLst>
          </p:nvPr>
        </p:nvSpPr>
        <p:spPr>
          <a:xfrm>
            <a:off x="0" y="0"/>
            <a:ext cx="9144000" cy="6858000"/>
          </a:xfrm>
          <a:prstGeom prst="rect">
            <a:avLst/>
          </a:prstGeom>
          <a:solidFill>
            <a:schemeClr val="accent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sp>
      <p:sp>
        <p:nvSpPr>
          <p:cNvPr id="8" name="Rectangle 41707 (Stroke)_#color-2217&amp;9583"/>
          <p:cNvSpPr/>
          <p:nvPr userDrawn="1">
            <p:custDataLst>
              <p:tags r:id="rId3"/>
            </p:custDataLst>
          </p:nvPr>
        </p:nvSpPr>
        <p:spPr>
          <a:xfrm>
            <a:off x="1885950" y="0"/>
            <a:ext cx="7258050" cy="5791200"/>
          </a:xfrm>
          <a:custGeom>
            <a:avLst/>
            <a:gdLst/>
            <a:ahLst/>
            <a:cxnLst/>
            <a:rect l="l" t="t" r="r" b="b"/>
            <a:pathLst>
              <a:path w="9677400" h="5791200">
                <a:moveTo>
                  <a:pt x="25400" y="0"/>
                </a:moveTo>
                <a:lnTo>
                  <a:pt x="0" y="0"/>
                </a:lnTo>
                <a:lnTo>
                  <a:pt x="0" y="5791200"/>
                </a:lnTo>
                <a:lnTo>
                  <a:pt x="9677400" y="5791200"/>
                </a:lnTo>
                <a:lnTo>
                  <a:pt x="9677400" y="5765800"/>
                </a:lnTo>
                <a:lnTo>
                  <a:pt x="25400" y="5765800"/>
                </a:lnTo>
                <a:lnTo>
                  <a:pt x="25400" y="0"/>
                </a:lnTo>
              </a:path>
            </a:pathLst>
          </a:custGeom>
          <a:solidFill>
            <a:schemeClr val="accent1">
              <a:lumMod val="20000"/>
              <a:lumOff val="80000"/>
              <a:alpha val="30000"/>
            </a:schemeClr>
          </a:solidFill>
        </p:spPr>
      </p:sp>
      <p:sp>
        <p:nvSpPr>
          <p:cNvPr id="9" name="Rectangle 41706 (Stroke)_#color-2217&amp;9586"/>
          <p:cNvSpPr/>
          <p:nvPr userDrawn="1">
            <p:custDataLst>
              <p:tags r:id="rId4"/>
            </p:custDataLst>
          </p:nvPr>
        </p:nvSpPr>
        <p:spPr>
          <a:xfrm>
            <a:off x="0" y="4521200"/>
            <a:ext cx="3276600" cy="2336800"/>
          </a:xfrm>
          <a:custGeom>
            <a:avLst/>
            <a:gdLst/>
            <a:ahLst/>
            <a:cxnLst/>
            <a:rect l="l" t="t" r="r" b="b"/>
            <a:pathLst>
              <a:path w="4368800" h="2336800">
                <a:moveTo>
                  <a:pt x="4368800" y="2336800"/>
                </a:moveTo>
                <a:lnTo>
                  <a:pt x="4368800" y="0"/>
                </a:lnTo>
                <a:lnTo>
                  <a:pt x="0" y="0"/>
                </a:lnTo>
                <a:lnTo>
                  <a:pt x="0" y="25400"/>
                </a:lnTo>
                <a:lnTo>
                  <a:pt x="4343400" y="25400"/>
                </a:lnTo>
                <a:lnTo>
                  <a:pt x="4343400" y="2336800"/>
                </a:lnTo>
                <a:lnTo>
                  <a:pt x="4368800" y="2336800"/>
                </a:lnTo>
              </a:path>
            </a:pathLst>
          </a:custGeom>
          <a:solidFill>
            <a:schemeClr val="accent2"/>
          </a:solidFill>
        </p:spPr>
      </p:sp>
      <p:sp>
        <p:nvSpPr>
          <p:cNvPr id="2" name="标题 1"/>
          <p:cNvSpPr>
            <a:spLocks noGrp="1"/>
          </p:cNvSpPr>
          <p:nvPr>
            <p:ph type="ctrTitle" hasCustomPrompt="1"/>
            <p:custDataLst>
              <p:tags r:id="rId5"/>
            </p:custDataLst>
          </p:nvPr>
        </p:nvSpPr>
        <p:spPr>
          <a:xfrm>
            <a:off x="3476625" y="406400"/>
            <a:ext cx="5476875" cy="2768150"/>
          </a:xfrm>
        </p:spPr>
        <p:txBody>
          <a:bodyPr wrap="square" anchor="b">
            <a:normAutofit/>
          </a:bodyPr>
          <a:lstStyle>
            <a:lvl1pPr algn="l">
              <a:lnSpc>
                <a:spcPct val="100000"/>
              </a:lnSpc>
              <a:defRPr sz="5250">
                <a:solidFill>
                  <a:schemeClr val="lt1">
                    <a:lumMod val="100000"/>
                  </a:schemeClr>
                </a:solidFill>
                <a:latin typeface="+mj-ea"/>
                <a:ea typeface="+mj-ea"/>
                <a:cs typeface="+mj-ea"/>
                <a:sym typeface="+mj-ea"/>
              </a:defRPr>
            </a:lvl1pPr>
          </a:lstStyle>
          <a:p>
            <a:r>
              <a:rPr lang="zh-CN" altLang="en-US"/>
              <a:t>编辑母版标题</a:t>
            </a:r>
            <a:endParaRPr lang="zh-CN" altLang="en-US" dirty="0"/>
          </a:p>
        </p:txBody>
      </p:sp>
      <p:sp>
        <p:nvSpPr>
          <p:cNvPr id="4" name="日期占位符 3"/>
          <p:cNvSpPr>
            <a:spLocks noGrp="1"/>
          </p:cNvSpPr>
          <p:nvPr>
            <p:ph type="dt" sz="half" idx="10"/>
            <p:custDataLst>
              <p:tags r:id="rId6"/>
            </p:custDataLst>
          </p:nvPr>
        </p:nvSpPr>
        <p:spPr/>
        <p:txBody>
          <a:bodyPr wrap="square">
            <a:normAutofit/>
          </a:bodyPr>
          <a:lstStyle>
            <a:lvl1pPr>
              <a:defRPr>
                <a:latin typeface="+mn-ea"/>
                <a:ea typeface="+mn-ea"/>
                <a:cs typeface="+mn-ea"/>
                <a:sym typeface="+mn-ea"/>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a:xfrm>
            <a:off x="6457950" y="6356350"/>
            <a:ext cx="2057400" cy="365125"/>
          </a:xfrm>
        </p:spPr>
        <p:txBody>
          <a:bodyPr wrap="square">
            <a:normAutofit/>
          </a:bodyPr>
          <a:lstStyle>
            <a:lvl1pPr>
              <a:defRPr>
                <a:latin typeface="+mn-ea"/>
                <a:ea typeface="+mn-ea"/>
                <a:cs typeface="+mn-ea"/>
                <a:sym typeface="+mn-ea"/>
              </a:defRPr>
            </a:lvl1p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9"/>
            </p:custDataLst>
          </p:nvPr>
        </p:nvSpPr>
        <p:spPr>
          <a:xfrm>
            <a:off x="3476625" y="3576600"/>
            <a:ext cx="5476875" cy="2062200"/>
          </a:xfrm>
        </p:spPr>
        <p:txBody>
          <a:bodyPr wrap="square" anchor="t">
            <a:normAutofit/>
          </a:bodyPr>
          <a:lstStyle>
            <a:lvl1pPr marL="0" indent="0" algn="l">
              <a:lnSpc>
                <a:spcPct val="100000"/>
              </a:lnSpc>
              <a:buNone/>
              <a:defRPr sz="1800">
                <a:solidFill>
                  <a:schemeClr val="accent1">
                    <a:lumMod val="20000"/>
                    <a:lumOff val="80000"/>
                  </a:schemeClr>
                </a:solidFill>
                <a:latin typeface="+mn-ea"/>
                <a:ea typeface="+mn-ea"/>
                <a:cs typeface="+mn-ea"/>
                <a:sym typeface="+mn-ea"/>
              </a:defRPr>
            </a:lvl1pPr>
          </a:lstStyle>
          <a:p>
            <a:pPr lvl="0"/>
            <a:r>
              <a:rPr lang="zh-CN" altLang="en-US"/>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e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em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em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emf"/></Relationships>
</file>

<file path=ppt/slides/_rels/slide7.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2" Type="http://schemas.openxmlformats.org/officeDocument/2006/relationships/slideLayout" Target="../slideLayouts/slideLayout12.xml"/><Relationship Id="rId11" Type="http://schemas.openxmlformats.org/officeDocument/2006/relationships/tags" Target="../tags/tag22.xml"/><Relationship Id="rId10" Type="http://schemas.openxmlformats.org/officeDocument/2006/relationships/image" Target="../media/image1.emf"/><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23.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e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4.xml"/><Relationship Id="rId1"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0" y="1637665"/>
            <a:ext cx="9143365" cy="2000885"/>
          </a:xfrm>
          <a:solidFill>
            <a:srgbClr val="4864FC"/>
          </a:solidFill>
        </p:spPr>
        <p:style>
          <a:lnRef idx="0">
            <a:srgbClr val="FFFFFF"/>
          </a:lnRef>
          <a:fillRef idx="1">
            <a:schemeClr val="accent5"/>
          </a:fillRef>
          <a:effectRef idx="1">
            <a:schemeClr val="accent5"/>
          </a:effectRef>
          <a:fontRef idx="minor">
            <a:schemeClr val="lt1"/>
          </a:fontRef>
        </p:style>
        <p:txBody>
          <a:bodyPr/>
          <a:lstStyle/>
          <a:p>
            <a:r>
              <a:rPr lang="zh-CN" altLang="en-US">
                <a:latin typeface="微软雅黑" panose="020B0503020204020204" charset="-122"/>
                <a:ea typeface="微软雅黑" panose="020B0503020204020204" charset="-122"/>
              </a:rPr>
              <a:t>基于粒球扩散机制的图对比学习研究</a:t>
            </a:r>
            <a:endParaRPr lang="zh-CN" altLang="en-US">
              <a:latin typeface="微软雅黑" panose="020B0503020204020204" charset="-122"/>
              <a:ea typeface="微软雅黑" panose="020B0503020204020204" charset="-122"/>
            </a:endParaRPr>
          </a:p>
        </p:txBody>
      </p:sp>
      <p:sp>
        <p:nvSpPr>
          <p:cNvPr id="3" name="Subtitle 2"/>
          <p:cNvSpPr>
            <a:spLocks noGrp="1"/>
          </p:cNvSpPr>
          <p:nvPr>
            <p:ph type="subTitle" idx="1"/>
          </p:nvPr>
        </p:nvSpPr>
        <p:spPr>
          <a:xfrm>
            <a:off x="1371600" y="3806825"/>
            <a:ext cx="6400800" cy="1752600"/>
          </a:xfrm>
        </p:spPr>
        <p:txBody>
          <a:bodyPr/>
          <a:lstStyle/>
          <a:p>
            <a:r>
              <a:rPr lang="en-US" altLang="zh-CN"/>
              <a:t>A Study on Graph Contrastive Learning Based on a Granular-Ball Diffusion Mechanism</a:t>
            </a:r>
            <a:endParaRPr lang="en-US" altLang="zh-CN"/>
          </a:p>
        </p:txBody>
      </p:sp>
      <p:pic>
        <p:nvPicPr>
          <p:cNvPr id="4"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6971665" y="5934710"/>
            <a:ext cx="2281555" cy="645160"/>
          </a:xfrm>
          <a:prstGeom prst="rect">
            <a:avLst/>
          </a:prstGeom>
          <a:noFill/>
        </p:spPr>
        <p:txBody>
          <a:bodyPr wrap="square" rtlCol="0">
            <a:spAutoFit/>
          </a:bodyPr>
          <a:p>
            <a:r>
              <a:rPr lang="zh-CN" altLang="en-US">
                <a:latin typeface="黑体" panose="02010609060101010101" charset="-122"/>
                <a:ea typeface="黑体" panose="02010609060101010101" charset="-122"/>
              </a:rPr>
              <a:t>答辩人：谭成</a:t>
            </a:r>
            <a:endParaRPr lang="zh-CN" altLang="en-US">
              <a:latin typeface="黑体" panose="02010609060101010101" charset="-122"/>
              <a:ea typeface="黑体" panose="02010609060101010101" charset="-122"/>
            </a:endParaRPr>
          </a:p>
          <a:p>
            <a:endParaRPr lang="zh-CN" altLang="en-US">
              <a:latin typeface="黑体" panose="02010609060101010101" charset="-122"/>
              <a:ea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0965" y="1156335"/>
            <a:ext cx="2853690" cy="4816475"/>
          </a:xfrm>
          <a:solidFill>
            <a:schemeClr val="bg1">
              <a:lumMod val="95000"/>
            </a:schemeClr>
          </a:solidFill>
          <a:ln>
            <a:solidFill>
              <a:schemeClr val="bg2"/>
            </a:solidFill>
          </a:ln>
        </p:spPr>
        <p:txBody>
          <a:bodyPr>
            <a:normAutofit fontScale="90000" lnSpcReduction="10000"/>
          </a:bodyPr>
          <a:lstStyle/>
          <a:p>
            <a:pPr marL="0" indent="0" algn="ctr">
              <a:lnSpc>
                <a:spcPct val="110000"/>
              </a:lnSpc>
              <a:buNone/>
            </a:pPr>
            <a:r>
              <a:rPr lang="en-US" altLang="zh-CN" sz="2000" b="1">
                <a:solidFill>
                  <a:srgbClr val="0000FF"/>
                </a:solidFill>
              </a:rPr>
              <a:t>  </a:t>
            </a:r>
            <a:r>
              <a:rPr lang="zh-CN" sz="2000" b="1">
                <a:solidFill>
                  <a:srgbClr val="0000FF"/>
                </a:solidFill>
              </a:rPr>
              <a:t>基于数据增强的 GCL</a:t>
            </a:r>
            <a:endParaRPr lang="zh-CN" sz="2000" b="1">
              <a:solidFill>
                <a:srgbClr val="0000FF"/>
              </a:solidFill>
            </a:endParaRPr>
          </a:p>
          <a:p>
            <a:pPr marL="0" indent="0" algn="l">
              <a:lnSpc>
                <a:spcPct val="110000"/>
              </a:lnSpc>
              <a:buNone/>
            </a:pPr>
            <a:r>
              <a:rPr lang="zh-CN" altLang="en-US" sz="1400" b="1"/>
              <a:t>核心思想：</a:t>
            </a:r>
            <a:endParaRPr lang="zh-CN" altLang="en-US" sz="1600" b="1"/>
          </a:p>
          <a:p>
            <a:pPr algn="l">
              <a:lnSpc>
                <a:spcPct val="130000"/>
              </a:lnSpc>
            </a:pPr>
            <a:r>
              <a:rPr lang="zh-CN" altLang="en-US" sz="1200"/>
              <a:t>对原始图进行随机扰动</a:t>
            </a:r>
            <a:endParaRPr lang="zh-CN" altLang="en-US" sz="1200"/>
          </a:p>
          <a:p>
            <a:pPr algn="l">
              <a:lnSpc>
                <a:spcPct val="130000"/>
              </a:lnSpc>
            </a:pPr>
            <a:r>
              <a:rPr lang="zh-CN" altLang="en-US" sz="1200"/>
              <a:t>构造多个增强视图</a:t>
            </a:r>
            <a:endParaRPr lang="zh-CN" altLang="en-US" sz="1200"/>
          </a:p>
          <a:p>
            <a:pPr algn="l">
              <a:lnSpc>
                <a:spcPct val="130000"/>
              </a:lnSpc>
            </a:pPr>
            <a:r>
              <a:rPr lang="zh-CN" altLang="en-US" sz="1200"/>
              <a:t>在这些视图之间进行对比学习</a:t>
            </a:r>
            <a:endParaRPr lang="zh-CN" altLang="en-US" sz="1200"/>
          </a:p>
          <a:p>
            <a:pPr algn="l">
              <a:lnSpc>
                <a:spcPct val="110000"/>
              </a:lnSpc>
            </a:pPr>
            <a:endParaRPr lang="zh-CN" altLang="en-US" sz="1400"/>
          </a:p>
          <a:p>
            <a:pPr marL="0" indent="0" algn="l">
              <a:lnSpc>
                <a:spcPct val="110000"/>
              </a:lnSpc>
              <a:buNone/>
            </a:pPr>
            <a:r>
              <a:rPr lang="zh-CN" altLang="en-US" sz="1400" b="1"/>
              <a:t>常见增强方式：</a:t>
            </a:r>
            <a:endParaRPr lang="zh-CN" altLang="en-US" sz="1400" b="1"/>
          </a:p>
          <a:p>
            <a:pPr algn="l">
              <a:lnSpc>
                <a:spcPct val="130000"/>
              </a:lnSpc>
              <a:buClrTx/>
              <a:buSzTx/>
            </a:pPr>
            <a:r>
              <a:rPr lang="zh-CN" altLang="en-US" sz="1200"/>
              <a:t>节点/边删除</a:t>
            </a:r>
            <a:endParaRPr lang="zh-CN" altLang="en-US" sz="1200"/>
          </a:p>
          <a:p>
            <a:pPr algn="l">
              <a:lnSpc>
                <a:spcPct val="130000"/>
              </a:lnSpc>
              <a:buClrTx/>
              <a:buSzTx/>
            </a:pPr>
            <a:r>
              <a:rPr lang="zh-CN" altLang="en-US" sz="1200"/>
              <a:t>特征遮蔽</a:t>
            </a:r>
            <a:endParaRPr lang="zh-CN" altLang="en-US" sz="1200"/>
          </a:p>
          <a:p>
            <a:pPr algn="l">
              <a:lnSpc>
                <a:spcPct val="130000"/>
              </a:lnSpc>
              <a:buClrTx/>
              <a:buSzTx/>
            </a:pPr>
            <a:r>
              <a:rPr lang="zh-CN" altLang="en-US" sz="1200"/>
              <a:t>子图采样</a:t>
            </a:r>
            <a:endParaRPr lang="zh-CN" altLang="en-US" sz="1200"/>
          </a:p>
          <a:p>
            <a:pPr algn="l">
              <a:lnSpc>
                <a:spcPct val="110000"/>
              </a:lnSpc>
              <a:buClrTx/>
              <a:buSzTx/>
            </a:pPr>
            <a:endParaRPr lang="zh-CN" altLang="en-US" sz="1200"/>
          </a:p>
          <a:p>
            <a:pPr marL="0" algn="l">
              <a:lnSpc>
                <a:spcPct val="110000"/>
              </a:lnSpc>
              <a:buClrTx/>
              <a:buSzTx/>
              <a:buNone/>
            </a:pPr>
            <a:r>
              <a:rPr lang="zh-CN" altLang="en-US" sz="1400" b="1"/>
              <a:t>代表性方法：</a:t>
            </a:r>
            <a:endParaRPr lang="zh-CN" altLang="en-US" sz="1400" b="1"/>
          </a:p>
          <a:p>
            <a:pPr algn="l">
              <a:lnSpc>
                <a:spcPct val="130000"/>
              </a:lnSpc>
              <a:buClrTx/>
              <a:buSzTx/>
            </a:pPr>
            <a:r>
              <a:rPr lang="zh-CN" altLang="en-US" sz="1200"/>
              <a:t>DGI、GraphCL、InfoGraph</a:t>
            </a:r>
            <a:endParaRPr lang="zh-CN" altLang="en-US" sz="1200"/>
          </a:p>
          <a:p>
            <a:pPr algn="l">
              <a:lnSpc>
                <a:spcPct val="130000"/>
              </a:lnSpc>
              <a:buClrTx/>
              <a:buSzTx/>
            </a:pPr>
            <a:r>
              <a:rPr lang="zh-CN" altLang="en-US" sz="1200"/>
              <a:t>JOAO、GCC（增强自动化）</a:t>
            </a:r>
            <a:endParaRPr lang="zh-CN" altLang="en-US" sz="1200"/>
          </a:p>
          <a:p>
            <a:pPr algn="l">
              <a:lnSpc>
                <a:spcPct val="110000"/>
              </a:lnSpc>
              <a:buClrTx/>
              <a:buSzTx/>
            </a:pPr>
            <a:endParaRPr lang="zh-CN" altLang="en-US" sz="1200"/>
          </a:p>
          <a:p>
            <a:pPr marL="0" indent="0" algn="l">
              <a:lnSpc>
                <a:spcPct val="110000"/>
              </a:lnSpc>
              <a:buClrTx/>
              <a:buSzTx/>
              <a:buNone/>
            </a:pPr>
            <a:r>
              <a:rPr lang="zh-CN" altLang="en-US" sz="1600" b="1"/>
              <a:t>局限性：</a:t>
            </a:r>
            <a:endParaRPr lang="zh-CN" altLang="en-US" sz="1600" b="1"/>
          </a:p>
          <a:p>
            <a:pPr algn="l">
              <a:lnSpc>
                <a:spcPct val="130000"/>
              </a:lnSpc>
              <a:buClrTx/>
              <a:buSzTx/>
            </a:pPr>
            <a:r>
              <a:rPr lang="zh-CN" altLang="en-US" sz="1200"/>
              <a:t>增强策略高度依赖人工经验</a:t>
            </a:r>
            <a:endParaRPr lang="zh-CN" altLang="en-US" sz="1200"/>
          </a:p>
          <a:p>
            <a:pPr algn="l">
              <a:lnSpc>
                <a:spcPct val="130000"/>
              </a:lnSpc>
              <a:buClrTx/>
              <a:buSzTx/>
            </a:pPr>
            <a:r>
              <a:rPr lang="zh-CN" altLang="en-US" sz="1200"/>
              <a:t>随机扰动可能破坏关键结构</a:t>
            </a:r>
            <a:endParaRPr lang="zh-CN" altLang="en-US" sz="1200"/>
          </a:p>
          <a:p>
            <a:pPr algn="l">
              <a:lnSpc>
                <a:spcPct val="130000"/>
              </a:lnSpc>
              <a:buClrTx/>
              <a:buSzTx/>
            </a:pPr>
            <a:r>
              <a:rPr lang="zh-CN" altLang="en-US" sz="1200"/>
              <a:t>在不同图数据集上表现不稳定</a:t>
            </a:r>
            <a:endParaRPr lang="zh-CN" altLang="en-US" sz="1200"/>
          </a:p>
          <a:p>
            <a:pPr marL="0" indent="0" algn="l">
              <a:lnSpc>
                <a:spcPct val="110000"/>
              </a:lnSpc>
              <a:buClrTx/>
              <a:buSzTx/>
              <a:buNone/>
            </a:pPr>
            <a:endParaRPr lang="zh-CN" altLang="en-US" sz="1600" b="1"/>
          </a:p>
        </p:txBody>
      </p:sp>
      <p:pic>
        <p:nvPicPr>
          <p:cNvPr id="2"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单圆角矩形 6"/>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一、研究现状：GCL的应用现状</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endParaRPr>
          </a:p>
        </p:txBody>
      </p:sp>
      <p:sp>
        <p:nvSpPr>
          <p:cNvPr id="4" name="Content Placeholder 2"/>
          <p:cNvSpPr>
            <a:spLocks noGrp="1"/>
          </p:cNvSpPr>
          <p:nvPr/>
        </p:nvSpPr>
        <p:spPr>
          <a:xfrm>
            <a:off x="3081655" y="1193165"/>
            <a:ext cx="2853690" cy="3435985"/>
          </a:xfrm>
          <a:prstGeom prst="rect">
            <a:avLst/>
          </a:prstGeom>
          <a:solidFill>
            <a:schemeClr val="bg1">
              <a:lumMod val="95000"/>
            </a:schemeClr>
          </a:solidFill>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lnSpc>
                <a:spcPct val="110000"/>
              </a:lnSpc>
              <a:buNone/>
            </a:pPr>
            <a:r>
              <a:rPr lang="en-US" altLang="zh-CN" sz="2000" b="1">
                <a:solidFill>
                  <a:srgbClr val="0000FF"/>
                </a:solidFill>
              </a:rPr>
              <a:t>  </a:t>
            </a:r>
            <a:r>
              <a:rPr lang="zh-CN" sz="2000" b="1">
                <a:solidFill>
                  <a:srgbClr val="0000FF"/>
                </a:solidFill>
              </a:rPr>
              <a:t>基于</a:t>
            </a:r>
            <a:r>
              <a:rPr lang="zh-CN" altLang="en-US" sz="2000" b="1">
                <a:solidFill>
                  <a:srgbClr val="0000FF"/>
                </a:solidFill>
              </a:rPr>
              <a:t>模型结构的</a:t>
            </a:r>
            <a:r>
              <a:rPr lang="en-US" altLang="zh-CN" sz="2000" b="1">
                <a:solidFill>
                  <a:srgbClr val="0000FF"/>
                </a:solidFill>
              </a:rPr>
              <a:t>GCL</a:t>
            </a:r>
            <a:endParaRPr lang="zh-CN" sz="2000" b="1">
              <a:solidFill>
                <a:srgbClr val="0000FF"/>
              </a:solidFill>
            </a:endParaRPr>
          </a:p>
          <a:p>
            <a:pPr marL="0" indent="0" algn="l">
              <a:lnSpc>
                <a:spcPct val="110000"/>
              </a:lnSpc>
              <a:buNone/>
            </a:pPr>
            <a:r>
              <a:rPr lang="zh-CN" altLang="en-US" sz="1400" b="1"/>
              <a:t>核心思想：</a:t>
            </a:r>
            <a:endParaRPr lang="zh-CN" altLang="en-US" sz="1600" b="1"/>
          </a:p>
          <a:p>
            <a:pPr algn="l">
              <a:lnSpc>
                <a:spcPct val="130000"/>
              </a:lnSpc>
            </a:pPr>
            <a:r>
              <a:rPr lang="zh-CN" altLang="en-US" sz="1200"/>
              <a:t>通过模型内部差异构造视图，而非显式增强构造多个增强视图</a:t>
            </a:r>
            <a:endParaRPr lang="zh-CN" altLang="en-US" sz="1200"/>
          </a:p>
          <a:p>
            <a:pPr algn="l">
              <a:lnSpc>
                <a:spcPct val="110000"/>
              </a:lnSpc>
            </a:pPr>
            <a:endParaRPr lang="zh-CN" altLang="en-US" sz="1200"/>
          </a:p>
          <a:p>
            <a:pPr marL="0" indent="0" algn="l">
              <a:lnSpc>
                <a:spcPct val="110000"/>
              </a:lnSpc>
              <a:buNone/>
            </a:pPr>
            <a:r>
              <a:rPr lang="zh-CN" altLang="en-US" sz="1400" b="1"/>
              <a:t>常见增强方式：</a:t>
            </a:r>
            <a:endParaRPr lang="zh-CN" altLang="en-US" sz="1400" b="1"/>
          </a:p>
          <a:p>
            <a:pPr algn="l">
              <a:lnSpc>
                <a:spcPct val="130000"/>
              </a:lnSpc>
              <a:buClrTx/>
              <a:buSzTx/>
            </a:pPr>
            <a:r>
              <a:rPr lang="zh-CN" altLang="en-US" sz="1200"/>
              <a:t>不同</a:t>
            </a:r>
            <a:r>
              <a:rPr lang="en-US" altLang="zh-CN" sz="1200"/>
              <a:t> GNN </a:t>
            </a:r>
            <a:r>
              <a:rPr lang="zh-CN" altLang="en-US" sz="1200"/>
              <a:t>层输出作为多尺度视图</a:t>
            </a:r>
            <a:endParaRPr lang="en-US" altLang="zh-CN" sz="1200"/>
          </a:p>
          <a:p>
            <a:pPr algn="l">
              <a:lnSpc>
                <a:spcPct val="130000"/>
              </a:lnSpc>
              <a:buClrTx/>
              <a:buSzTx/>
            </a:pPr>
            <a:r>
              <a:rPr lang="zh-CN" altLang="en-US" sz="1200"/>
              <a:t>多通路编码结构</a:t>
            </a:r>
            <a:endParaRPr lang="zh-CN" altLang="en-US" sz="1200"/>
          </a:p>
          <a:p>
            <a:pPr algn="l">
              <a:lnSpc>
                <a:spcPct val="130000"/>
              </a:lnSpc>
              <a:buClrTx/>
              <a:buSzTx/>
            </a:pPr>
            <a:r>
              <a:rPr lang="zh-CN" altLang="en-US" sz="1200"/>
              <a:t>引入平滑性、均匀性正则项</a:t>
            </a:r>
            <a:endParaRPr lang="zh-CN" altLang="en-US" sz="1200"/>
          </a:p>
          <a:p>
            <a:pPr algn="l">
              <a:lnSpc>
                <a:spcPct val="110000"/>
              </a:lnSpc>
              <a:buClrTx/>
              <a:buSzTx/>
            </a:pPr>
            <a:endParaRPr lang="zh-CN" altLang="en-US" sz="1200"/>
          </a:p>
          <a:p>
            <a:pPr marL="0" indent="0" algn="l">
              <a:lnSpc>
                <a:spcPct val="110000"/>
              </a:lnSpc>
              <a:buClrTx/>
              <a:buSzTx/>
              <a:buNone/>
            </a:pPr>
            <a:r>
              <a:rPr lang="zh-CN" altLang="en-US" sz="1600" b="1"/>
              <a:t>局限性：</a:t>
            </a:r>
            <a:endParaRPr lang="zh-CN" altLang="en-US" sz="1600" b="1"/>
          </a:p>
          <a:p>
            <a:pPr algn="l">
              <a:lnSpc>
                <a:spcPct val="130000"/>
              </a:lnSpc>
              <a:buClrTx/>
              <a:buSzTx/>
            </a:pPr>
            <a:r>
              <a:rPr lang="zh-CN" altLang="en-US" sz="1200"/>
              <a:t>模型设计复杂</a:t>
            </a:r>
            <a:endParaRPr lang="zh-CN" altLang="en-US" sz="1200"/>
          </a:p>
          <a:p>
            <a:pPr algn="l">
              <a:lnSpc>
                <a:spcPct val="130000"/>
              </a:lnSpc>
              <a:buClrTx/>
              <a:buSzTx/>
            </a:pPr>
            <a:r>
              <a:rPr lang="zh-CN" altLang="en-US" sz="1200"/>
              <a:t>缺乏统一理论框架</a:t>
            </a:r>
            <a:endParaRPr lang="zh-CN" altLang="en-US" sz="1200"/>
          </a:p>
        </p:txBody>
      </p:sp>
      <p:sp>
        <p:nvSpPr>
          <p:cNvPr id="6" name="Content Placeholder 2"/>
          <p:cNvSpPr>
            <a:spLocks noGrp="1"/>
          </p:cNvSpPr>
          <p:nvPr/>
        </p:nvSpPr>
        <p:spPr>
          <a:xfrm>
            <a:off x="6062345" y="1193165"/>
            <a:ext cx="2853690" cy="3167380"/>
          </a:xfrm>
          <a:prstGeom prst="rect">
            <a:avLst/>
          </a:prstGeom>
          <a:solidFill>
            <a:schemeClr val="bg1">
              <a:lumMod val="95000"/>
            </a:schemeClr>
          </a:solidFill>
        </p:spPr>
        <p:txBody>
          <a:bodyPr vert="horz" lIns="91440" tIns="45720" rIns="91440" bIns="45720" rtlCol="0">
            <a:normAutofit lnSpcReduction="2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lnSpc>
                <a:spcPct val="110000"/>
              </a:lnSpc>
              <a:buNone/>
            </a:pPr>
            <a:r>
              <a:rPr lang="en-US" altLang="zh-CN" sz="2000" b="1">
                <a:solidFill>
                  <a:srgbClr val="0000FF"/>
                </a:solidFill>
              </a:rPr>
              <a:t>  </a:t>
            </a:r>
            <a:r>
              <a:rPr lang="zh-CN" altLang="en-US" sz="2000" b="1">
                <a:solidFill>
                  <a:srgbClr val="0000FF"/>
                </a:solidFill>
              </a:rPr>
              <a:t>无增强的</a:t>
            </a:r>
            <a:r>
              <a:rPr lang="en-US" altLang="zh-CN" sz="2000" b="1">
                <a:solidFill>
                  <a:srgbClr val="0000FF"/>
                </a:solidFill>
              </a:rPr>
              <a:t>GCL</a:t>
            </a:r>
            <a:endParaRPr lang="zh-CN" sz="2000" b="1">
              <a:solidFill>
                <a:srgbClr val="0000FF"/>
              </a:solidFill>
            </a:endParaRPr>
          </a:p>
          <a:p>
            <a:pPr marL="0" indent="0" algn="l">
              <a:lnSpc>
                <a:spcPct val="110000"/>
              </a:lnSpc>
              <a:buNone/>
            </a:pPr>
            <a:r>
              <a:rPr lang="zh-CN" altLang="en-US" sz="1400" b="1"/>
              <a:t>近年来的研究热点</a:t>
            </a:r>
            <a:endParaRPr lang="zh-CN" altLang="en-US" sz="1400" b="1"/>
          </a:p>
          <a:p>
            <a:pPr marL="0" indent="0" algn="l">
              <a:lnSpc>
                <a:spcPct val="110000"/>
              </a:lnSpc>
              <a:buNone/>
            </a:pPr>
            <a:endParaRPr lang="zh-CN" altLang="en-US" sz="1400" b="1"/>
          </a:p>
          <a:p>
            <a:pPr marL="0" indent="0" algn="l">
              <a:lnSpc>
                <a:spcPct val="110000"/>
              </a:lnSpc>
              <a:buNone/>
            </a:pPr>
            <a:r>
              <a:rPr lang="zh-CN" altLang="en-US" sz="1400" b="1"/>
              <a:t>核心思想：</a:t>
            </a:r>
            <a:endParaRPr lang="zh-CN" altLang="en-US" sz="1600" b="1"/>
          </a:p>
          <a:p>
            <a:pPr algn="l">
              <a:lnSpc>
                <a:spcPct val="130000"/>
              </a:lnSpc>
            </a:pPr>
            <a:r>
              <a:rPr lang="zh-CN" altLang="en-US" sz="1200"/>
              <a:t>图结构本身蕴含足够对比信息</a:t>
            </a:r>
            <a:endParaRPr lang="zh-CN" altLang="en-US" sz="1200"/>
          </a:p>
          <a:p>
            <a:pPr algn="l">
              <a:lnSpc>
                <a:spcPct val="130000"/>
              </a:lnSpc>
            </a:pPr>
            <a:endParaRPr lang="zh-CN" altLang="en-US" sz="1200"/>
          </a:p>
          <a:p>
            <a:pPr marL="0" indent="0" algn="l">
              <a:lnSpc>
                <a:spcPct val="110000"/>
              </a:lnSpc>
              <a:buNone/>
            </a:pPr>
            <a:r>
              <a:rPr lang="zh-CN" altLang="en-US" sz="1400" b="1"/>
              <a:t>代表方法：</a:t>
            </a:r>
            <a:endParaRPr lang="zh-CN" altLang="en-US" sz="1400" b="1"/>
          </a:p>
          <a:p>
            <a:pPr algn="l">
              <a:lnSpc>
                <a:spcPct val="130000"/>
              </a:lnSpc>
              <a:buClrTx/>
              <a:buSzTx/>
            </a:pPr>
            <a:r>
              <a:rPr lang="en-US" altLang="zh-CN" sz="1200"/>
              <a:t>SGRL</a:t>
            </a:r>
            <a:r>
              <a:rPr lang="zh-CN" altLang="en-US" sz="1200"/>
              <a:t>（表示散射）</a:t>
            </a:r>
            <a:endParaRPr lang="en-US" altLang="zh-CN" sz="1200"/>
          </a:p>
          <a:p>
            <a:pPr algn="l">
              <a:lnSpc>
                <a:spcPct val="130000"/>
              </a:lnSpc>
              <a:buClrTx/>
              <a:buSzTx/>
            </a:pPr>
            <a:r>
              <a:rPr lang="en-US" altLang="zh-CN" sz="1200"/>
              <a:t>GRAND</a:t>
            </a:r>
            <a:r>
              <a:rPr lang="zh-CN" altLang="en-US" sz="1200"/>
              <a:t>（扩散与随机平滑）</a:t>
            </a:r>
            <a:endParaRPr lang="en-US" altLang="zh-CN" sz="1200"/>
          </a:p>
          <a:p>
            <a:pPr algn="l">
              <a:lnSpc>
                <a:spcPct val="130000"/>
              </a:lnSpc>
              <a:buClrTx/>
              <a:buSzTx/>
            </a:pPr>
            <a:r>
              <a:rPr lang="zh-CN" altLang="en-US" sz="1200"/>
              <a:t>子图级对比方法</a:t>
            </a:r>
            <a:endParaRPr lang="zh-CN" altLang="en-US" sz="1200"/>
          </a:p>
          <a:p>
            <a:pPr marL="0" indent="0" algn="l">
              <a:lnSpc>
                <a:spcPct val="130000"/>
              </a:lnSpc>
              <a:buClrTx/>
              <a:buSzTx/>
              <a:buNone/>
            </a:pPr>
            <a:r>
              <a:rPr lang="zh-CN" altLang="en-US" sz="1200" b="1">
                <a:solidFill>
                  <a:srgbClr val="4864FC"/>
                </a:solidFill>
                <a:sym typeface="+mn-ea"/>
              </a:rPr>
              <a:t>👉</a:t>
            </a:r>
            <a:r>
              <a:rPr lang="en-US" altLang="zh-CN" sz="1200" b="1">
                <a:solidFill>
                  <a:srgbClr val="4864FC"/>
                </a:solidFill>
                <a:sym typeface="+mn-ea"/>
              </a:rPr>
              <a:t> </a:t>
            </a:r>
            <a:r>
              <a:rPr lang="zh-CN" altLang="en-US" sz="1200"/>
              <a:t>GCL 正在从“增强设计”转向“结构过程建模”</a:t>
            </a:r>
            <a:endParaRPr lang="zh-CN" alt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单圆角矩形 6"/>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二、研究现状：现有方法</a:t>
            </a: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不足</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491490" y="1395095"/>
            <a:ext cx="8228965" cy="368300"/>
          </a:xfrm>
          <a:prstGeom prst="rect">
            <a:avLst/>
          </a:prstGeom>
          <a:noFill/>
        </p:spPr>
        <p:txBody>
          <a:bodyPr wrap="square" rtlCol="0">
            <a:spAutoFit/>
          </a:bodyPr>
          <a:p>
            <a:r>
              <a:rPr lang="zh-CN" altLang="en-US"/>
              <a:t>现有的</a:t>
            </a:r>
            <a:r>
              <a:rPr lang="en-US" altLang="zh-CN"/>
              <a:t>GCL</a:t>
            </a:r>
            <a:r>
              <a:rPr lang="zh-CN" altLang="en-US"/>
              <a:t>方法主要集中于：</a:t>
            </a:r>
            <a:r>
              <a:rPr lang="zh-CN" altLang="en-US" b="1"/>
              <a:t>节点级、边级、局部领域级</a:t>
            </a:r>
            <a:r>
              <a:rPr lang="zh-CN" altLang="en-US"/>
              <a:t>。但仍存在一些问题：</a:t>
            </a:r>
            <a:endParaRPr lang="zh-CN" altLang="en-US"/>
          </a:p>
        </p:txBody>
      </p:sp>
      <p:sp>
        <p:nvSpPr>
          <p:cNvPr id="9" name="文本框 8"/>
          <p:cNvSpPr txBox="1"/>
          <p:nvPr/>
        </p:nvSpPr>
        <p:spPr>
          <a:xfrm>
            <a:off x="691515" y="2042795"/>
            <a:ext cx="7460615" cy="4133215"/>
          </a:xfrm>
          <a:prstGeom prst="rect">
            <a:avLst/>
          </a:prstGeom>
          <a:noFill/>
          <a:ln>
            <a:solidFill>
              <a:schemeClr val="accent4">
                <a:lumMod val="20000"/>
                <a:lumOff val="80000"/>
              </a:schemeClr>
            </a:solidFill>
          </a:ln>
          <a:extLst>
            <a:ext uri="{909E8E84-426E-40DD-AFC4-6F175D3DCCD1}">
              <a14:hiddenFill xmlns:a14="http://schemas.microsoft.com/office/drawing/2010/main">
                <a:solidFill>
                  <a:schemeClr val="accent4">
                    <a:lumMod val="20000"/>
                    <a:lumOff val="80000"/>
                  </a:schemeClr>
                </a:solidFill>
              </a14:hiddenFill>
            </a:ext>
          </a:extLst>
        </p:spPr>
        <p:txBody>
          <a:bodyPr wrap="square" rtlCol="0">
            <a:spAutoFit/>
          </a:bodyPr>
          <a:p>
            <a:r>
              <a:rPr lang="zh-CN" altLang="en-US" b="1">
                <a:solidFill>
                  <a:srgbClr val="0000FF"/>
                </a:solidFill>
              </a:rPr>
              <a:t>难以显式刻画：</a:t>
            </a:r>
            <a:endParaRPr lang="zh-CN" altLang="en-US" b="1">
              <a:solidFill>
                <a:srgbClr val="0000FF"/>
              </a:solidFill>
            </a:endParaRPr>
          </a:p>
          <a:p>
            <a:pPr marL="285750" indent="-285750">
              <a:lnSpc>
                <a:spcPct val="120000"/>
              </a:lnSpc>
              <a:buFont typeface="Arial" panose="020B0604020202020204" pitchFamily="34" charset="0"/>
              <a:buChar char="•"/>
            </a:pPr>
            <a:r>
              <a:rPr lang="zh-CN" altLang="en-US"/>
              <a:t>社区结构</a:t>
            </a:r>
            <a:endParaRPr lang="en-US" altLang="zh-CN"/>
          </a:p>
          <a:p>
            <a:pPr marL="285750" indent="-285750">
              <a:lnSpc>
                <a:spcPct val="120000"/>
              </a:lnSpc>
              <a:buFont typeface="Arial" panose="020B0604020202020204" pitchFamily="34" charset="0"/>
              <a:buChar char="•"/>
            </a:pPr>
            <a:r>
              <a:rPr lang="zh-CN" altLang="en-US"/>
              <a:t>高阶语义区域</a:t>
            </a:r>
            <a:endParaRPr lang="en-US" altLang="zh-CN"/>
          </a:p>
          <a:p>
            <a:pPr marL="285750" indent="-285750">
              <a:lnSpc>
                <a:spcPct val="120000"/>
              </a:lnSpc>
              <a:buFont typeface="Arial" panose="020B0604020202020204" pitchFamily="34" charset="0"/>
              <a:buChar char="•"/>
            </a:pPr>
            <a:r>
              <a:rPr lang="zh-CN" altLang="en-US"/>
              <a:t>图的宏观组织形态</a:t>
            </a:r>
            <a:endParaRPr lang="zh-CN" altLang="en-US"/>
          </a:p>
          <a:p>
            <a:endParaRPr lang="en-US" altLang="zh-CN"/>
          </a:p>
          <a:p>
            <a:r>
              <a:rPr lang="zh-CN" altLang="en-US" b="1">
                <a:solidFill>
                  <a:srgbClr val="0000FF"/>
                </a:solidFill>
              </a:rPr>
              <a:t>无增强方法虽然减少噪声，但：</a:t>
            </a:r>
            <a:endParaRPr lang="en-US" altLang="zh-CN" b="1">
              <a:solidFill>
                <a:srgbClr val="0000FF"/>
              </a:solidFill>
            </a:endParaRPr>
          </a:p>
          <a:p>
            <a:pPr marL="285750" indent="-285750">
              <a:lnSpc>
                <a:spcPct val="120000"/>
              </a:lnSpc>
              <a:buFont typeface="Arial" panose="020B0604020202020204" pitchFamily="34" charset="0"/>
              <a:buChar char="•"/>
            </a:pPr>
            <a:r>
              <a:rPr lang="zh-CN" altLang="en-US"/>
              <a:t>视图差异往往是隐式的</a:t>
            </a:r>
            <a:endParaRPr lang="en-US" altLang="zh-CN"/>
          </a:p>
          <a:p>
            <a:pPr marL="285750" indent="-285750">
              <a:lnSpc>
                <a:spcPct val="120000"/>
              </a:lnSpc>
              <a:buFont typeface="Arial" panose="020B0604020202020204" pitchFamily="34" charset="0"/>
              <a:buChar char="•"/>
            </a:pPr>
            <a:r>
              <a:rPr lang="zh-CN" altLang="en-US"/>
              <a:t>缺乏中层结构组织</a:t>
            </a:r>
            <a:endParaRPr lang="en-US" altLang="zh-CN"/>
          </a:p>
          <a:p>
            <a:pPr marL="285750" indent="-285750">
              <a:lnSpc>
                <a:spcPct val="120000"/>
              </a:lnSpc>
              <a:buFont typeface="Arial" panose="020B0604020202020204" pitchFamily="34" charset="0"/>
              <a:buChar char="•"/>
            </a:pPr>
            <a:r>
              <a:rPr lang="zh-CN" altLang="en-US"/>
              <a:t>可解释性不足</a:t>
            </a:r>
            <a:endParaRPr lang="zh-CN" altLang="en-US"/>
          </a:p>
          <a:p>
            <a:endParaRPr lang="en-US" altLang="zh-CN"/>
          </a:p>
          <a:p>
            <a:pPr algn="l">
              <a:buClrTx/>
              <a:buSzTx/>
              <a:buFontTx/>
            </a:pPr>
            <a:r>
              <a:rPr lang="zh-CN" altLang="en-US" b="1">
                <a:solidFill>
                  <a:srgbClr val="0000FF"/>
                </a:solidFill>
              </a:rPr>
              <a:t>图结构天然具有多尺度特性，但现有方法：</a:t>
            </a:r>
            <a:endParaRPr lang="zh-CN" altLang="en-US" b="1">
              <a:solidFill>
                <a:srgbClr val="0000FF"/>
              </a:solidFill>
            </a:endParaRPr>
          </a:p>
          <a:p>
            <a:pPr marL="285750" indent="-285750">
              <a:lnSpc>
                <a:spcPct val="120000"/>
              </a:lnSpc>
              <a:buFont typeface="Arial" panose="020B0604020202020204" pitchFamily="34" charset="0"/>
              <a:buChar char="•"/>
            </a:pPr>
            <a:r>
              <a:rPr lang="zh-CN" altLang="en-US"/>
              <a:t>多在单一尺度建模</a:t>
            </a:r>
            <a:endParaRPr lang="en-US" altLang="zh-CN"/>
          </a:p>
          <a:p>
            <a:pPr marL="285750" indent="-285750">
              <a:lnSpc>
                <a:spcPct val="120000"/>
              </a:lnSpc>
              <a:buFont typeface="Arial" panose="020B0604020202020204" pitchFamily="34" charset="0"/>
              <a:buChar char="•"/>
            </a:pPr>
            <a:r>
              <a:rPr lang="zh-CN" altLang="en-US"/>
              <a:t>难以兼顾局部与全局</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单圆角矩形 7"/>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三、研究思路</a:t>
            </a:r>
            <a:r>
              <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rPr>
              <a:t>及方法</a:t>
            </a: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：粒球扩散的引入动机</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345440" y="1066800"/>
            <a:ext cx="8045450" cy="3438525"/>
          </a:xfrm>
          <a:prstGeom prst="rect">
            <a:avLst/>
          </a:prstGeom>
          <a:noFill/>
        </p:spPr>
        <p:txBody>
          <a:bodyPr wrap="square" rtlCol="0">
            <a:spAutoFit/>
          </a:bodyPr>
          <a:p>
            <a:r>
              <a:rPr lang="zh-CN" altLang="en-US" sz="1600"/>
              <a:t>现有无增强对比学习（如</a:t>
            </a:r>
            <a:r>
              <a:rPr lang="en-US" altLang="zh-CN" sz="1600"/>
              <a:t>SGRL,GRAND</a:t>
            </a:r>
            <a:r>
              <a:rPr lang="zh-CN" altLang="en-US" sz="1600"/>
              <a:t>）均通过</a:t>
            </a:r>
            <a:r>
              <a:rPr lang="zh-CN" altLang="en-US" sz="1600" b="1"/>
              <a:t>扩散或平滑</a:t>
            </a:r>
            <a:r>
              <a:rPr lang="zh-CN" altLang="en-US" sz="1600"/>
              <a:t>过程，在不引入随即增强的情况下构造多视图，但由于其限制在</a:t>
            </a:r>
            <a:r>
              <a:rPr lang="zh-CN" altLang="en-US" sz="1600" b="1"/>
              <a:t>节点级表示空间</a:t>
            </a:r>
            <a:r>
              <a:rPr lang="zh-CN" altLang="en-US" sz="1600"/>
              <a:t>，这带来了三个</a:t>
            </a:r>
            <a:r>
              <a:rPr lang="zh-CN" altLang="en-US" sz="1600"/>
              <a:t>问题：</a:t>
            </a:r>
            <a:endParaRPr lang="zh-CN" altLang="en-US" sz="1600"/>
          </a:p>
          <a:p>
            <a:pPr marL="342900" indent="-342900">
              <a:lnSpc>
                <a:spcPct val="120000"/>
              </a:lnSpc>
              <a:buAutoNum type="arabicPeriod"/>
            </a:pPr>
            <a:r>
              <a:rPr lang="zh-CN" altLang="en-US" sz="1600"/>
              <a:t>节点扩散是</a:t>
            </a:r>
            <a:r>
              <a:rPr lang="en-US" altLang="zh-CN" sz="1600"/>
              <a:t>“</a:t>
            </a:r>
            <a:r>
              <a:rPr lang="zh-CN" altLang="en-US" sz="1600"/>
              <a:t>局部连续</a:t>
            </a:r>
            <a:r>
              <a:rPr lang="en-US" altLang="zh-CN" sz="1600"/>
              <a:t>”</a:t>
            </a:r>
            <a:r>
              <a:rPr lang="zh-CN" altLang="en-US" sz="1600"/>
              <a:t>的，缺乏结构重组能力</a:t>
            </a:r>
            <a:endParaRPr lang="zh-CN" altLang="en-US" sz="1600"/>
          </a:p>
          <a:p>
            <a:pPr marL="342900" indent="-342900">
              <a:lnSpc>
                <a:spcPct val="120000"/>
              </a:lnSpc>
              <a:buAutoNum type="arabicPeriod"/>
            </a:pPr>
            <a:r>
              <a:rPr lang="zh-CN" altLang="en-US" sz="1600"/>
              <a:t>散射现象存在，但缺乏</a:t>
            </a:r>
            <a:r>
              <a:rPr lang="en-US" altLang="zh-CN" sz="1600"/>
              <a:t>“</a:t>
            </a:r>
            <a:r>
              <a:rPr lang="zh-CN" altLang="en-US" sz="1600"/>
              <a:t>结构容器</a:t>
            </a:r>
            <a:r>
              <a:rPr lang="en-US" altLang="zh-CN" sz="1600"/>
              <a:t>”</a:t>
            </a:r>
            <a:endParaRPr lang="en-US" altLang="zh-CN" sz="1600"/>
          </a:p>
          <a:p>
            <a:pPr marL="342900" indent="-342900">
              <a:lnSpc>
                <a:spcPct val="120000"/>
              </a:lnSpc>
              <a:buAutoNum type="arabicPeriod"/>
            </a:pPr>
            <a:r>
              <a:rPr lang="zh-CN" altLang="en-US" sz="1600"/>
              <a:t>节点级扩散难以表达高阶语义区域</a:t>
            </a:r>
            <a:endParaRPr lang="zh-CN" altLang="en-US" sz="1600"/>
          </a:p>
          <a:p>
            <a:pPr indent="0">
              <a:buNone/>
            </a:pPr>
            <a:endParaRPr lang="zh-CN" altLang="en-US" sz="1600"/>
          </a:p>
          <a:p>
            <a:pPr indent="0">
              <a:buNone/>
            </a:pPr>
            <a:r>
              <a:rPr lang="zh-CN" altLang="en-US" sz="1600" b="1"/>
              <a:t>粒球扩散具备三个关键属性：</a:t>
            </a:r>
            <a:endParaRPr lang="zh-CN" altLang="en-US" sz="1600"/>
          </a:p>
          <a:p>
            <a:pPr marL="285750" indent="-285750">
              <a:buFont typeface="Arial" panose="020B0604020202020204" pitchFamily="34" charset="0"/>
              <a:buChar char="•"/>
            </a:pPr>
            <a:r>
              <a:rPr lang="zh-CN" altLang="en-US" sz="1600"/>
              <a:t>不依赖随机扰动</a:t>
            </a:r>
            <a:endParaRPr lang="zh-CN" altLang="en-US" sz="1600"/>
          </a:p>
          <a:p>
            <a:pPr marL="285750" indent="-285750">
              <a:buFont typeface="Arial" panose="020B0604020202020204" pitchFamily="34" charset="0"/>
              <a:buChar char="•"/>
            </a:pPr>
            <a:r>
              <a:rPr lang="zh-CN" altLang="en-US" sz="1600"/>
              <a:t>视图来源于结构演化过程</a:t>
            </a:r>
            <a:endParaRPr lang="zh-CN" altLang="en-US" sz="1600"/>
          </a:p>
          <a:p>
            <a:pPr marL="285750" indent="-285750">
              <a:buFont typeface="Arial" panose="020B0604020202020204" pitchFamily="34" charset="0"/>
              <a:buChar char="•"/>
            </a:pPr>
            <a:r>
              <a:rPr lang="zh-CN" altLang="en-US" sz="1600"/>
              <a:t>多尺度由扩散步数与粒球层级自然形成</a:t>
            </a:r>
            <a:endParaRPr lang="zh-CN" altLang="en-US" sz="1600"/>
          </a:p>
          <a:p>
            <a:pPr marL="285750" indent="-285750">
              <a:buFont typeface="Arial" panose="020B0604020202020204" pitchFamily="34" charset="0"/>
              <a:buChar char="•"/>
            </a:pPr>
            <a:endParaRPr lang="zh-CN" altLang="en-US" sz="1600"/>
          </a:p>
          <a:p>
            <a:pPr indent="0">
              <a:buNone/>
            </a:pPr>
            <a:r>
              <a:rPr lang="zh-CN" altLang="en-US" sz="1600" b="1"/>
              <a:t>粒球扩散的引入</a:t>
            </a:r>
            <a:r>
              <a:rPr lang="zh-CN" altLang="en-US" sz="1600"/>
              <a:t>为无增强图对比学习提供一种</a:t>
            </a:r>
            <a:r>
              <a:rPr lang="en-US" altLang="zh-CN" sz="1600"/>
              <a:t>“</a:t>
            </a:r>
            <a:r>
              <a:rPr lang="zh-CN" altLang="en-US" sz="1600" i="1" u="sng"/>
              <a:t>显式的、多粒度的结构扩散载体</a:t>
            </a:r>
            <a:r>
              <a:rPr lang="en-US" altLang="zh-CN" sz="1600"/>
              <a:t>”</a:t>
            </a:r>
            <a:r>
              <a:rPr lang="zh-CN" altLang="en-US" sz="1600"/>
              <a:t>，</a:t>
            </a:r>
            <a:endParaRPr lang="zh-CN" altLang="en-US" sz="1600"/>
          </a:p>
          <a:p>
            <a:pPr indent="0">
              <a:buNone/>
            </a:pPr>
            <a:r>
              <a:rPr lang="zh-CN" altLang="en-US" sz="1600"/>
              <a:t>从而弥补节点级扩散在结构组织与语义表达上的不足</a:t>
            </a:r>
            <a:endParaRPr lang="zh-CN" altLang="en-US" sz="1600"/>
          </a:p>
        </p:txBody>
      </p:sp>
      <p:sp>
        <p:nvSpPr>
          <p:cNvPr id="12" name="椭圆 11"/>
          <p:cNvSpPr/>
          <p:nvPr/>
        </p:nvSpPr>
        <p:spPr>
          <a:xfrm>
            <a:off x="662940" y="5368925"/>
            <a:ext cx="1504950" cy="1358900"/>
          </a:xfrm>
          <a:prstGeom prst="ellipse">
            <a:avLst/>
          </a:prstGeom>
        </p:spPr>
        <p:style>
          <a:lnRef idx="1">
            <a:schemeClr val="accent1"/>
          </a:lnRef>
          <a:fillRef idx="3">
            <a:schemeClr val="accent1"/>
          </a:fillRef>
          <a:effectRef idx="2">
            <a:schemeClr val="accent1"/>
          </a:effectRef>
          <a:fontRef idx="minor">
            <a:schemeClr val="lt1"/>
          </a:fontRef>
        </p:style>
        <p:txBody>
          <a:bodyPr/>
          <a:p>
            <a:pPr algn="ctr"/>
            <a:r>
              <a:rPr lang="zh-CN" altLang="en-US" sz="1400">
                <a:solidFill>
                  <a:schemeClr val="tx1"/>
                </a:solidFill>
              </a:rPr>
              <a:t>粒球天然是</a:t>
            </a:r>
            <a:r>
              <a:rPr lang="en-US" altLang="zh-CN" sz="1400">
                <a:solidFill>
                  <a:schemeClr val="tx1"/>
                </a:solidFill>
              </a:rPr>
              <a:t>“</a:t>
            </a:r>
            <a:r>
              <a:rPr lang="zh-CN" altLang="en-US" sz="1400">
                <a:solidFill>
                  <a:schemeClr val="tx1"/>
                </a:solidFill>
              </a:rPr>
              <a:t>语义区域</a:t>
            </a:r>
            <a:r>
              <a:rPr lang="en-US" altLang="zh-CN" sz="1400">
                <a:solidFill>
                  <a:schemeClr val="tx1"/>
                </a:solidFill>
              </a:rPr>
              <a:t>”</a:t>
            </a:r>
            <a:r>
              <a:rPr lang="zh-CN" altLang="en-US" sz="1400">
                <a:solidFill>
                  <a:schemeClr val="tx1"/>
                </a:solidFill>
              </a:rPr>
              <a:t>的建模方式</a:t>
            </a:r>
            <a:endParaRPr lang="zh-CN" altLang="en-US" sz="1400">
              <a:solidFill>
                <a:schemeClr val="tx1"/>
              </a:solidFill>
            </a:endParaRPr>
          </a:p>
        </p:txBody>
      </p:sp>
      <p:sp>
        <p:nvSpPr>
          <p:cNvPr id="13" name="椭圆 12"/>
          <p:cNvSpPr/>
          <p:nvPr/>
        </p:nvSpPr>
        <p:spPr>
          <a:xfrm>
            <a:off x="3666490" y="5368925"/>
            <a:ext cx="1504950" cy="1358900"/>
          </a:xfrm>
          <a:prstGeom prst="ellipse">
            <a:avLst/>
          </a:prstGeom>
        </p:spPr>
        <p:style>
          <a:lnRef idx="1">
            <a:schemeClr val="accent1"/>
          </a:lnRef>
          <a:fillRef idx="3">
            <a:schemeClr val="accent1"/>
          </a:fillRef>
          <a:effectRef idx="2">
            <a:schemeClr val="accent1"/>
          </a:effectRef>
          <a:fontRef idx="minor">
            <a:schemeClr val="lt1"/>
          </a:fontRef>
        </p:style>
        <p:txBody>
          <a:bodyPr/>
          <a:p>
            <a:pPr algn="ctr"/>
            <a:r>
              <a:rPr lang="zh-CN" altLang="en-US" sz="1400">
                <a:solidFill>
                  <a:schemeClr val="tx1"/>
                </a:solidFill>
              </a:rPr>
              <a:t>粒球为</a:t>
            </a:r>
            <a:r>
              <a:rPr lang="en-US" altLang="zh-CN" sz="1400">
                <a:solidFill>
                  <a:schemeClr val="tx1"/>
                </a:solidFill>
              </a:rPr>
              <a:t>“</a:t>
            </a:r>
            <a:r>
              <a:rPr lang="zh-CN" altLang="en-US" sz="1400">
                <a:solidFill>
                  <a:schemeClr val="tx1"/>
                </a:solidFill>
              </a:rPr>
              <a:t>散射现象</a:t>
            </a:r>
            <a:r>
              <a:rPr lang="en-US" altLang="zh-CN" sz="1400">
                <a:solidFill>
                  <a:schemeClr val="tx1"/>
                </a:solidFill>
              </a:rPr>
              <a:t>”</a:t>
            </a:r>
            <a:r>
              <a:rPr lang="zh-CN" altLang="en-US" sz="1400">
                <a:solidFill>
                  <a:schemeClr val="tx1"/>
                </a:solidFill>
              </a:rPr>
              <a:t>提供结构承载体</a:t>
            </a:r>
            <a:endParaRPr lang="zh-CN" altLang="en-US" sz="1400">
              <a:solidFill>
                <a:schemeClr val="tx1"/>
              </a:solidFill>
            </a:endParaRPr>
          </a:p>
        </p:txBody>
      </p:sp>
      <p:sp>
        <p:nvSpPr>
          <p:cNvPr id="15" name="椭圆 14"/>
          <p:cNvSpPr/>
          <p:nvPr/>
        </p:nvSpPr>
        <p:spPr>
          <a:xfrm>
            <a:off x="6435090" y="5368925"/>
            <a:ext cx="1504950" cy="1358900"/>
          </a:xfrm>
          <a:prstGeom prst="ellipse">
            <a:avLst/>
          </a:prstGeom>
        </p:spPr>
        <p:style>
          <a:lnRef idx="1">
            <a:schemeClr val="accent1"/>
          </a:lnRef>
          <a:fillRef idx="3">
            <a:schemeClr val="accent1"/>
          </a:fillRef>
          <a:effectRef idx="2">
            <a:schemeClr val="accent1"/>
          </a:effectRef>
          <a:fontRef idx="minor">
            <a:schemeClr val="lt1"/>
          </a:fontRef>
        </p:style>
        <p:txBody>
          <a:bodyPr/>
          <a:p>
            <a:pPr algn="ctr"/>
            <a:r>
              <a:rPr lang="zh-CN" altLang="en-US" sz="1400">
                <a:solidFill>
                  <a:schemeClr val="tx1"/>
                </a:solidFill>
                <a:sym typeface="+mn-ea"/>
              </a:rPr>
              <a:t>粒球</a:t>
            </a:r>
            <a:r>
              <a:rPr lang="zh-CN" altLang="en-US" sz="1400">
                <a:solidFill>
                  <a:schemeClr val="tx1"/>
                </a:solidFill>
              </a:rPr>
              <a:t>增强了</a:t>
            </a:r>
            <a:r>
              <a:rPr lang="en-US" altLang="zh-CN" sz="1400">
                <a:solidFill>
                  <a:schemeClr val="tx1"/>
                </a:solidFill>
              </a:rPr>
              <a:t>GCL</a:t>
            </a:r>
            <a:r>
              <a:rPr lang="zh-CN" altLang="en-US" sz="1400">
                <a:solidFill>
                  <a:schemeClr val="tx1"/>
                </a:solidFill>
              </a:rPr>
              <a:t>的稳定性与鲁棒性</a:t>
            </a:r>
            <a:endParaRPr lang="zh-CN" altLang="en-US" sz="1400">
              <a:solidFill>
                <a:schemeClr val="tx1"/>
              </a:solidFill>
            </a:endParaRPr>
          </a:p>
        </p:txBody>
      </p:sp>
      <p:cxnSp>
        <p:nvCxnSpPr>
          <p:cNvPr id="16" name="曲线连接符 15"/>
          <p:cNvCxnSpPr>
            <a:stCxn id="10" idx="2"/>
          </p:cNvCxnSpPr>
          <p:nvPr/>
        </p:nvCxnSpPr>
        <p:spPr>
          <a:xfrm rot="5400000">
            <a:off x="2480310" y="3481070"/>
            <a:ext cx="863600" cy="2911475"/>
          </a:xfrm>
          <a:prstGeom prst="curved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曲线连接符 16"/>
          <p:cNvCxnSpPr>
            <a:stCxn id="10" idx="2"/>
          </p:cNvCxnSpPr>
          <p:nvPr/>
        </p:nvCxnSpPr>
        <p:spPr>
          <a:xfrm rot="5400000">
            <a:off x="3874135" y="4874895"/>
            <a:ext cx="863600" cy="123825"/>
          </a:xfrm>
          <a:prstGeom prst="curvedConnector3">
            <a:avLst>
              <a:gd name="adj1" fmla="val 4996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曲线连接符 17"/>
          <p:cNvCxnSpPr/>
          <p:nvPr/>
        </p:nvCxnSpPr>
        <p:spPr>
          <a:xfrm>
            <a:off x="4368165" y="4505325"/>
            <a:ext cx="2657475" cy="863600"/>
          </a:xfrm>
          <a:prstGeom prst="curvedConnector3">
            <a:avLst>
              <a:gd name="adj1" fmla="val 50012"/>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单圆角矩形 7"/>
          <p:cNvSpPr/>
          <p:nvPr/>
        </p:nvSpPr>
        <p:spPr>
          <a:xfrm>
            <a:off x="0" y="314960"/>
            <a:ext cx="6941185"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三、研究思路及</a:t>
            </a: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方法：基于粒球扩散的</a:t>
            </a:r>
            <a:r>
              <a:rPr lang="en-US" altLang="zh-CN" sz="2400" b="1">
                <a:solidFill>
                  <a:srgbClr val="1F40B8"/>
                </a:solidFill>
                <a:latin typeface="微软雅黑" panose="020B0503020204020204" charset="-122"/>
                <a:ea typeface="微软雅黑" panose="020B0503020204020204" charset="-122"/>
                <a:cs typeface="微软雅黑" panose="020B0503020204020204" charset="-122"/>
              </a:rPr>
              <a:t>GCL</a:t>
            </a: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框架</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345440" y="1066800"/>
            <a:ext cx="8045450" cy="1322070"/>
          </a:xfrm>
          <a:prstGeom prst="rect">
            <a:avLst/>
          </a:prstGeom>
          <a:noFill/>
        </p:spPr>
        <p:txBody>
          <a:bodyPr wrap="square" rtlCol="0">
            <a:spAutoFit/>
          </a:bodyPr>
          <a:p>
            <a:r>
              <a:rPr lang="zh-CN" altLang="en-US" sz="1600"/>
              <a:t>本课题的核心研究思路是：在传统图对比学习的</a:t>
            </a:r>
            <a:r>
              <a:rPr lang="en-US" altLang="zh-CN" sz="1600"/>
              <a:t>“</a:t>
            </a:r>
            <a:r>
              <a:rPr lang="zh-CN" altLang="en-US" sz="1600" b="1"/>
              <a:t>节点</a:t>
            </a:r>
            <a:r>
              <a:rPr lang="en-US" altLang="zh-CN" sz="1600" b="1"/>
              <a:t>—</a:t>
            </a:r>
            <a:r>
              <a:rPr lang="zh-CN" altLang="en-US" sz="1600" b="1"/>
              <a:t>图</a:t>
            </a:r>
            <a:r>
              <a:rPr lang="en-US" altLang="zh-CN" sz="1600"/>
              <a:t>”</a:t>
            </a:r>
            <a:r>
              <a:rPr lang="zh-CN" altLang="en-US" sz="1600"/>
              <a:t>两层结构之间，引入粒球这一中层结构单元，以构建一种</a:t>
            </a:r>
            <a:r>
              <a:rPr lang="zh-CN" altLang="en-US" sz="1600" b="1"/>
              <a:t>多粒度、结构感知</a:t>
            </a:r>
            <a:r>
              <a:rPr lang="zh-CN" altLang="en-US" sz="1600"/>
              <a:t>的图对比学习框架。</a:t>
            </a:r>
            <a:endParaRPr lang="zh-CN" altLang="en-US" sz="1600"/>
          </a:p>
          <a:p>
            <a:endParaRPr lang="zh-CN" altLang="en-US" sz="1600"/>
          </a:p>
          <a:p>
            <a:pPr indent="0">
              <a:buNone/>
            </a:pPr>
            <a:r>
              <a:rPr lang="zh-CN" altLang="en-US" sz="1600"/>
              <a:t>粒球计算通过构建覆盖数据空间的球形区域，并利用分裂与扩散机制形成由粗到细的多尺度结构表达，具有天然的</a:t>
            </a:r>
            <a:r>
              <a:rPr lang="zh-CN" altLang="en-US" sz="1600" b="1"/>
              <a:t>区域建模与多粒度表达能力。</a:t>
            </a:r>
            <a:endParaRPr lang="zh-CN" altLang="en-US" sz="1600" b="1"/>
          </a:p>
        </p:txBody>
      </p:sp>
      <p:sp>
        <p:nvSpPr>
          <p:cNvPr id="2" name="文本框 1"/>
          <p:cNvSpPr txBox="1"/>
          <p:nvPr/>
        </p:nvSpPr>
        <p:spPr>
          <a:xfrm>
            <a:off x="345440" y="2597150"/>
            <a:ext cx="7639050" cy="2830195"/>
          </a:xfrm>
          <a:prstGeom prst="rect">
            <a:avLst/>
          </a:prstGeom>
          <a:noFill/>
        </p:spPr>
        <p:txBody>
          <a:bodyPr wrap="square" rtlCol="0">
            <a:spAutoFit/>
          </a:bodyPr>
          <a:p>
            <a:r>
              <a:rPr lang="zh-CN" altLang="en-US" sz="1600"/>
              <a:t>本课题将粒球从传统向量空间扩展至图结构场景，具体思路包括：</a:t>
            </a:r>
            <a:endParaRPr lang="zh-CN" altLang="en-US" sz="1600"/>
          </a:p>
          <a:p>
            <a:endParaRPr lang="en-US" altLang="zh-CN"/>
          </a:p>
          <a:p>
            <a:pPr marL="285750" indent="-285750">
              <a:buFont typeface="Arial" panose="020B0604020202020204" pitchFamily="34" charset="0"/>
              <a:buChar char="•"/>
            </a:pPr>
            <a:r>
              <a:rPr lang="zh-CN" altLang="en-US" sz="1400" i="1"/>
              <a:t>以节点嵌入为基础，在图中构建一组图粒球（</a:t>
            </a:r>
            <a:r>
              <a:rPr lang="en-US" altLang="zh-CN" sz="1400" i="1"/>
              <a:t>Graph Granular-Balls</a:t>
            </a:r>
            <a:r>
              <a:rPr lang="zh-CN" altLang="en-US" sz="1400" i="1"/>
              <a:t>），每个粒球表示一类结构与语义相对一致的节点集合；</a:t>
            </a:r>
            <a:endParaRPr lang="zh-CN" altLang="en-US" sz="1400" i="1"/>
          </a:p>
          <a:p>
            <a:pPr indent="0">
              <a:buFont typeface="Arial" panose="020B0604020202020204" pitchFamily="34" charset="0"/>
              <a:buNone/>
            </a:pPr>
            <a:endParaRPr lang="en-US" altLang="zh-CN" sz="1400" i="1"/>
          </a:p>
          <a:p>
            <a:pPr marL="285750" indent="-285750">
              <a:buFont typeface="Arial" panose="020B0604020202020204" pitchFamily="34" charset="0"/>
              <a:buChar char="•"/>
            </a:pPr>
            <a:r>
              <a:rPr lang="zh-CN" altLang="en-US" sz="1400" i="1"/>
              <a:t>将粒球视为图中的中层语义单元，使其成为节点与全图之间的桥梁；</a:t>
            </a:r>
            <a:endParaRPr lang="zh-CN" altLang="en-US" sz="1400" i="1"/>
          </a:p>
          <a:p>
            <a:pPr marL="285750" indent="-285750">
              <a:buFont typeface="Arial" panose="020B0604020202020204" pitchFamily="34" charset="0"/>
              <a:buChar char="•"/>
            </a:pPr>
            <a:endParaRPr lang="en-US" altLang="zh-CN" sz="1400" i="1"/>
          </a:p>
          <a:p>
            <a:pPr marL="285750" indent="-285750">
              <a:buFont typeface="Arial" panose="020B0604020202020204" pitchFamily="34" charset="0"/>
              <a:buChar char="•"/>
            </a:pPr>
            <a:r>
              <a:rPr lang="zh-CN" altLang="en-US" sz="1400" i="1"/>
              <a:t>通过粒球之间的关系建模与扩散过程，刻画图结构在更高层次上的语义演化。</a:t>
            </a:r>
            <a:endParaRPr lang="zh-CN" altLang="en-US" sz="1400" i="1"/>
          </a:p>
          <a:p>
            <a:pPr indent="0">
              <a:buFont typeface="Arial" panose="020B0604020202020204" pitchFamily="34" charset="0"/>
              <a:buNone/>
            </a:pPr>
            <a:endParaRPr lang="zh-CN" altLang="en-US" sz="1400" i="1"/>
          </a:p>
          <a:p>
            <a:pPr indent="0">
              <a:buFont typeface="Arial" panose="020B0604020202020204" pitchFamily="34" charset="0"/>
              <a:buNone/>
            </a:pPr>
            <a:endParaRPr lang="zh-CN" altLang="en-US" sz="1400" i="1"/>
          </a:p>
          <a:p>
            <a:pPr indent="0">
              <a:buFont typeface="Arial" panose="020B0604020202020204" pitchFamily="34" charset="0"/>
              <a:buNone/>
            </a:pPr>
            <a:r>
              <a:rPr lang="zh-CN" altLang="en-US" sz="1600"/>
              <a:t>在此基础上，图对比学习不再仅依赖节点级表示差异，而是能够在</a:t>
            </a:r>
            <a:r>
              <a:rPr lang="zh-CN" altLang="en-US" sz="1600" b="1"/>
              <a:t>粒球级、节点级以及多尺度结构级</a:t>
            </a:r>
            <a:r>
              <a:rPr lang="zh-CN" altLang="en-US" sz="1600"/>
              <a:t>进行联合对比，从而提升表示的稳定性与语义一致性。</a:t>
            </a:r>
            <a:endParaRPr lang="zh-CN" altLang="en-US" sz="1600"/>
          </a:p>
        </p:txBody>
      </p:sp>
      <p:pic>
        <p:nvPicPr>
          <p:cNvPr id="6" name="图片 3"/>
          <p:cNvPicPr>
            <a:picLocks noChangeAspect="1"/>
          </p:cNvPicPr>
          <p:nvPr/>
        </p:nvPicPr>
        <p:blipFill>
          <a:blip r:embed="rId2"/>
          <a:stretch>
            <a:fillRect/>
          </a:stretch>
        </p:blipFill>
        <p:spPr>
          <a:xfrm>
            <a:off x="1979613" y="5427028"/>
            <a:ext cx="4981575" cy="110299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单圆角矩形 7"/>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三、</a:t>
            </a:r>
            <a:r>
              <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rPr>
              <a:t>研究思路及方法：主要</a:t>
            </a:r>
            <a:r>
              <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rPr>
              <a:t>研究内容</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406400" y="964565"/>
            <a:ext cx="7838440" cy="5415915"/>
          </a:xfrm>
          <a:prstGeom prst="rect">
            <a:avLst/>
          </a:prstGeom>
          <a:solidFill>
            <a:srgbClr val="F9FBF8">
              <a:alpha val="50000"/>
            </a:srgbClr>
          </a:solidFill>
          <a:ln>
            <a:solidFill>
              <a:schemeClr val="accent3">
                <a:lumMod val="20000"/>
                <a:lumOff val="80000"/>
              </a:schemeClr>
            </a:solidFill>
          </a:ln>
        </p:spPr>
        <p:txBody>
          <a:bodyPr wrap="square" rtlCol="0">
            <a:spAutoFit/>
          </a:bodyPr>
          <a:p>
            <a:r>
              <a:rPr lang="zh-CN" altLang="en-US" sz="1600" b="1"/>
              <a:t>主要研究内容：</a:t>
            </a:r>
            <a:endParaRPr lang="zh-CN" altLang="en-US" sz="1600" b="1"/>
          </a:p>
          <a:p>
            <a:endParaRPr lang="en-US" altLang="zh-CN"/>
          </a:p>
          <a:p>
            <a:pPr indent="0">
              <a:buNone/>
            </a:pPr>
            <a:r>
              <a:rPr lang="zh-CN" altLang="en-US" sz="1200" b="1"/>
              <a:t>（</a:t>
            </a:r>
            <a:r>
              <a:rPr lang="en-US" altLang="zh-CN" sz="1200" b="1"/>
              <a:t>1</a:t>
            </a:r>
            <a:r>
              <a:rPr lang="zh-CN" altLang="en-US" sz="1200" b="1"/>
              <a:t>）面向图结构的粒球构建机制研究</a:t>
            </a:r>
            <a:endParaRPr lang="zh-CN" altLang="en-US" sz="1200" b="1"/>
          </a:p>
          <a:p>
            <a:pPr indent="0">
              <a:buNone/>
            </a:pPr>
            <a:endParaRPr lang="en-US" altLang="zh-CN" sz="1200"/>
          </a:p>
          <a:p>
            <a:pPr indent="0">
              <a:buNone/>
            </a:pPr>
            <a:r>
              <a:rPr lang="zh-CN" altLang="en-US" sz="1200"/>
              <a:t>研究如何在图嵌入空间中定义</a:t>
            </a:r>
            <a:r>
              <a:rPr lang="en-US" altLang="zh-CN" sz="1200"/>
              <a:t>“</a:t>
            </a:r>
            <a:r>
              <a:rPr lang="zh-CN" altLang="en-US" sz="1200"/>
              <a:t>图粒球</a:t>
            </a:r>
            <a:r>
              <a:rPr lang="en-US" altLang="zh-CN" sz="1200"/>
              <a:t>”</a:t>
            </a:r>
            <a:r>
              <a:rPr lang="zh-CN" altLang="en-US" sz="1200"/>
              <a:t>，并设计适合图数据的粒球生成、分裂与更新规则；</a:t>
            </a:r>
            <a:endParaRPr lang="zh-CN" altLang="en-US" sz="1200"/>
          </a:p>
          <a:p>
            <a:pPr indent="0">
              <a:buNone/>
            </a:pPr>
            <a:endParaRPr lang="en-US" altLang="zh-CN" sz="1200"/>
          </a:p>
          <a:p>
            <a:pPr indent="0">
              <a:buNone/>
            </a:pPr>
            <a:r>
              <a:rPr lang="zh-CN" altLang="en-US" sz="1200"/>
              <a:t>探索粒球与图拓扑结构之间的关系，使粒球能够反映节点间的结构相似性与语义一致性。</a:t>
            </a:r>
            <a:endParaRPr lang="zh-CN" altLang="en-US" sz="1200"/>
          </a:p>
          <a:p>
            <a:pPr indent="0">
              <a:buNone/>
            </a:pPr>
            <a:endParaRPr lang="zh-CN" altLang="en-US" sz="1200"/>
          </a:p>
          <a:p>
            <a:pPr indent="0">
              <a:buNone/>
            </a:pPr>
            <a:endParaRPr lang="en-US" altLang="zh-CN" sz="1200" b="1"/>
          </a:p>
          <a:p>
            <a:pPr indent="0">
              <a:buNone/>
            </a:pPr>
            <a:r>
              <a:rPr lang="zh-CN" altLang="en-US" sz="1200" b="1"/>
              <a:t>（</a:t>
            </a:r>
            <a:r>
              <a:rPr lang="en-US" altLang="zh-CN" sz="1200" b="1"/>
              <a:t>2</a:t>
            </a:r>
            <a:r>
              <a:rPr lang="zh-CN" altLang="en-US" sz="1200" b="1"/>
              <a:t>）基于粒球扩散的多尺度结构建模方法</a:t>
            </a:r>
            <a:endParaRPr lang="zh-CN" altLang="en-US" sz="1200" b="1"/>
          </a:p>
          <a:p>
            <a:pPr indent="0">
              <a:buNone/>
            </a:pPr>
            <a:endParaRPr lang="en-US" altLang="zh-CN" sz="1200"/>
          </a:p>
          <a:p>
            <a:pPr indent="0">
              <a:buNone/>
            </a:pPr>
            <a:r>
              <a:rPr lang="zh-CN" altLang="en-US" sz="1200"/>
              <a:t>在粒球层面构建粒球</a:t>
            </a:r>
            <a:r>
              <a:rPr lang="en-US" altLang="zh-CN" sz="1200"/>
              <a:t>–</a:t>
            </a:r>
            <a:r>
              <a:rPr lang="zh-CN" altLang="en-US" sz="1200"/>
              <a:t>粒球关系图，并引入扩散机制刻画粒球之间的语义传播过程；</a:t>
            </a:r>
            <a:endParaRPr lang="zh-CN" altLang="en-US" sz="1200"/>
          </a:p>
          <a:p>
            <a:pPr indent="0">
              <a:buNone/>
            </a:pPr>
            <a:endParaRPr lang="en-US" altLang="zh-CN" sz="1200"/>
          </a:p>
          <a:p>
            <a:pPr indent="0">
              <a:buNone/>
            </a:pPr>
            <a:r>
              <a:rPr lang="zh-CN" altLang="en-US" sz="1200"/>
              <a:t>通过不同扩散尺度自然形成多视图结构，为无增强图对比学习提供新的视图来源。</a:t>
            </a:r>
            <a:endParaRPr lang="zh-CN" altLang="en-US" sz="1200"/>
          </a:p>
          <a:p>
            <a:pPr indent="0">
              <a:buNone/>
            </a:pPr>
            <a:endParaRPr lang="zh-CN" altLang="en-US" sz="1200"/>
          </a:p>
          <a:p>
            <a:pPr indent="0">
              <a:buNone/>
            </a:pPr>
            <a:endParaRPr lang="en-US" altLang="zh-CN" sz="1200"/>
          </a:p>
          <a:p>
            <a:pPr indent="0">
              <a:buNone/>
            </a:pPr>
            <a:r>
              <a:rPr lang="zh-CN" altLang="en-US" sz="1200" b="1"/>
              <a:t>（</a:t>
            </a:r>
            <a:r>
              <a:rPr lang="en-US" altLang="zh-CN" sz="1200" b="1"/>
              <a:t>3</a:t>
            </a:r>
            <a:r>
              <a:rPr lang="zh-CN" altLang="en-US" sz="1200" b="1"/>
              <a:t>）粒球级与节点级协同的图对比学习目标设计</a:t>
            </a:r>
            <a:endParaRPr lang="zh-CN" altLang="en-US" sz="1200" b="1"/>
          </a:p>
          <a:p>
            <a:pPr indent="0">
              <a:buNone/>
            </a:pPr>
            <a:endParaRPr lang="en-US" altLang="zh-CN" sz="1200"/>
          </a:p>
          <a:p>
            <a:pPr indent="0">
              <a:buNone/>
            </a:pPr>
            <a:r>
              <a:rPr lang="zh-CN" altLang="en-US" sz="1200"/>
              <a:t>设计结合节点级对比与粒球级对比的联合优化目标；</a:t>
            </a:r>
            <a:endParaRPr lang="zh-CN" altLang="en-US" sz="1200"/>
          </a:p>
          <a:p>
            <a:pPr indent="0">
              <a:buNone/>
            </a:pPr>
            <a:endParaRPr lang="en-US" altLang="zh-CN" sz="1200"/>
          </a:p>
          <a:p>
            <a:pPr indent="0">
              <a:buNone/>
            </a:pPr>
            <a:r>
              <a:rPr lang="zh-CN" altLang="en-US" sz="1200"/>
              <a:t>通过粒球级对比引导节点表示向更稳定的结构语义区域收敛，提升整体表示质量。</a:t>
            </a:r>
            <a:endParaRPr lang="zh-CN" altLang="en-US" sz="1200"/>
          </a:p>
          <a:p>
            <a:pPr indent="0">
              <a:buNone/>
            </a:pPr>
            <a:endParaRPr lang="zh-CN" altLang="en-US" sz="1200"/>
          </a:p>
          <a:p>
            <a:pPr indent="0">
              <a:buNone/>
            </a:pPr>
            <a:endParaRPr lang="en-US" altLang="zh-CN" sz="1200"/>
          </a:p>
          <a:p>
            <a:pPr indent="0">
              <a:buNone/>
            </a:pPr>
            <a:r>
              <a:rPr lang="zh-CN" altLang="en-US" sz="1200" b="1"/>
              <a:t>（</a:t>
            </a:r>
            <a:r>
              <a:rPr lang="en-US" altLang="zh-CN" sz="1200" b="1"/>
              <a:t>4</a:t>
            </a:r>
            <a:r>
              <a:rPr lang="zh-CN" altLang="en-US" sz="1200" b="1"/>
              <a:t>）模型性能与结构可解释性分析</a:t>
            </a:r>
            <a:endParaRPr lang="zh-CN" altLang="en-US" sz="1200" b="1"/>
          </a:p>
          <a:p>
            <a:pPr indent="0">
              <a:buNone/>
            </a:pPr>
            <a:endParaRPr lang="en-US" altLang="zh-CN" sz="1200"/>
          </a:p>
          <a:p>
            <a:pPr indent="0">
              <a:buNone/>
            </a:pPr>
            <a:r>
              <a:rPr lang="zh-CN" altLang="en-US" sz="1200"/>
              <a:t>系统分析粒球粒度、扩散步数等因素对模型性能的影响；</a:t>
            </a:r>
            <a:endParaRPr lang="zh-CN" altLang="en-US" sz="1200"/>
          </a:p>
          <a:p>
            <a:pPr indent="0">
              <a:buNone/>
            </a:pPr>
            <a:endParaRPr lang="en-US" altLang="zh-CN" sz="1200"/>
          </a:p>
          <a:p>
            <a:pPr indent="0">
              <a:buNone/>
            </a:pPr>
            <a:r>
              <a:rPr lang="zh-CN" altLang="en-US" sz="1200"/>
              <a:t>探讨粒球在图对比学习中的语义解释能力及其对鲁棒性的提升作用。</a:t>
            </a:r>
            <a:endParaRPr lang="zh-CN" alt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3"/>
          <p:cNvSpPr/>
          <p:nvPr>
            <p:custDataLst>
              <p:tags r:id="rId1"/>
            </p:custDataLst>
          </p:nvPr>
        </p:nvSpPr>
        <p:spPr>
          <a:xfrm>
            <a:off x="586105" y="2164080"/>
            <a:ext cx="2494915" cy="3549650"/>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42887" tIns="161925" rIns="134778" bIns="523875" numCol="1" spcCol="0" rtlCol="0" fromWordArt="0" anchor="t" anchorCtr="0" forceAA="0" compatLnSpc="1">
            <a:noAutofit/>
          </a:bodyPr>
          <a:lstStyle/>
          <a:p>
            <a:pPr lvl="0" algn="l">
              <a:lnSpc>
                <a:spcPct val="140000"/>
              </a:lnSpc>
              <a:buClrTx/>
              <a:buSzTx/>
              <a:buFontTx/>
            </a:pPr>
            <a:endParaRPr lang="zh-CN" altLang="zh-CN" sz="1050" dirty="0">
              <a:solidFill>
                <a:srgbClr val="262626"/>
              </a:solidFill>
              <a:latin typeface="+mn-ea"/>
              <a:cs typeface="+mn-ea"/>
              <a:sym typeface="+mn-ea"/>
            </a:endParaRPr>
          </a:p>
        </p:txBody>
      </p:sp>
      <p:sp>
        <p:nvSpPr>
          <p:cNvPr id="15" name="圆角矩形 3"/>
          <p:cNvSpPr/>
          <p:nvPr>
            <p:custDataLst>
              <p:tags r:id="rId2"/>
            </p:custDataLst>
          </p:nvPr>
        </p:nvSpPr>
        <p:spPr>
          <a:xfrm>
            <a:off x="488950" y="2077720"/>
            <a:ext cx="2515870" cy="3640455"/>
          </a:xfrm>
          <a:prstGeom prst="roundRect">
            <a:avLst>
              <a:gd name="adj" fmla="val 6621"/>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6217" tIns="189071" rIns="216217" bIns="523875" numCol="1" spcCol="0" rtlCol="0" fromWordArt="0" anchor="t" anchorCtr="0" forceAA="0" compatLnSpc="1">
            <a:noAutofit/>
          </a:bodyPr>
          <a:lstStyle/>
          <a:p>
            <a:pPr lvl="0" algn="l">
              <a:lnSpc>
                <a:spcPct val="140000"/>
              </a:lnSpc>
              <a:buClrTx/>
              <a:buSzTx/>
              <a:buFontTx/>
            </a:pPr>
            <a:r>
              <a:rPr lang="en-US" altLang="zh-CN" sz="1200" dirty="0">
                <a:solidFill>
                  <a:schemeClr val="tx1">
                    <a:lumMod val="85000"/>
                    <a:lumOff val="15000"/>
                  </a:schemeClr>
                </a:solidFill>
                <a:latin typeface="+mn-ea"/>
                <a:cs typeface="+mn-ea"/>
                <a:sym typeface="+mn-ea"/>
              </a:rPr>
              <a:t> </a:t>
            </a:r>
            <a:endParaRPr lang="en-US" altLang="zh-CN" sz="1200" dirty="0">
              <a:solidFill>
                <a:schemeClr val="tx1">
                  <a:lumMod val="85000"/>
                  <a:lumOff val="15000"/>
                </a:schemeClr>
              </a:solidFill>
              <a:latin typeface="+mn-ea"/>
              <a:cs typeface="+mn-ea"/>
              <a:sym typeface="+mn-ea"/>
            </a:endParaRPr>
          </a:p>
        </p:txBody>
      </p:sp>
      <p:sp>
        <p:nvSpPr>
          <p:cNvPr id="11" name="圆角矩形 16"/>
          <p:cNvSpPr/>
          <p:nvPr>
            <p:custDataLst>
              <p:tags r:id="rId3"/>
            </p:custDataLst>
          </p:nvPr>
        </p:nvSpPr>
        <p:spPr>
          <a:xfrm>
            <a:off x="586105" y="5255895"/>
            <a:ext cx="368300" cy="333375"/>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050" b="1">
                <a:solidFill>
                  <a:srgbClr val="FFFFFF"/>
                </a:solidFill>
                <a:latin typeface="+mn-ea"/>
                <a:cs typeface="+mn-ea"/>
                <a:sym typeface="+mn-ea"/>
              </a:rPr>
              <a:t>01</a:t>
            </a:r>
            <a:endParaRPr lang="en-US" altLang="zh-CN" sz="1050" b="1">
              <a:solidFill>
                <a:srgbClr val="FFFFFF"/>
              </a:solidFill>
              <a:latin typeface="+mn-ea"/>
              <a:cs typeface="+mn-ea"/>
              <a:sym typeface="+mn-ea"/>
            </a:endParaRPr>
          </a:p>
        </p:txBody>
      </p:sp>
      <p:sp>
        <p:nvSpPr>
          <p:cNvPr id="48" name="圆角矩形 3"/>
          <p:cNvSpPr/>
          <p:nvPr>
            <p:custDataLst>
              <p:tags r:id="rId4"/>
            </p:custDataLst>
          </p:nvPr>
        </p:nvSpPr>
        <p:spPr>
          <a:xfrm>
            <a:off x="3358515" y="2164080"/>
            <a:ext cx="2494915" cy="3549650"/>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42887" tIns="161925" rIns="134778" bIns="523875" numCol="1" spcCol="0" rtlCol="0" fromWordArt="0" anchor="t" anchorCtr="0" forceAA="0" compatLnSpc="1">
            <a:noAutofit/>
          </a:bodyPr>
          <a:lstStyle/>
          <a:p>
            <a:pPr lvl="0" algn="l">
              <a:lnSpc>
                <a:spcPct val="140000"/>
              </a:lnSpc>
              <a:buClrTx/>
              <a:buSzTx/>
              <a:buFontTx/>
            </a:pPr>
            <a:endParaRPr lang="zh-CN" altLang="zh-CN" sz="1050" dirty="0">
              <a:solidFill>
                <a:srgbClr val="262626"/>
              </a:solidFill>
              <a:latin typeface="+mn-ea"/>
              <a:cs typeface="+mn-ea"/>
              <a:sym typeface="+mn-ea"/>
            </a:endParaRPr>
          </a:p>
        </p:txBody>
      </p:sp>
      <p:sp useBgFill="1">
        <p:nvSpPr>
          <p:cNvPr id="49" name="圆角矩形 3"/>
          <p:cNvSpPr/>
          <p:nvPr>
            <p:custDataLst>
              <p:tags r:id="rId5"/>
            </p:custDataLst>
          </p:nvPr>
        </p:nvSpPr>
        <p:spPr>
          <a:xfrm>
            <a:off x="3261360" y="2077720"/>
            <a:ext cx="2515870" cy="3640455"/>
          </a:xfrm>
          <a:prstGeom prst="roundRect">
            <a:avLst>
              <a:gd name="adj" fmla="val 6621"/>
            </a:avLst>
          </a:prstGeom>
          <a:solidFill>
            <a:schemeClr val="lt1">
              <a:lumMod val="100000"/>
              <a:alpha val="10000"/>
            </a:schemeClr>
          </a:solidFill>
          <a:ln>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6217" tIns="189071" rIns="216217" bIns="523875" numCol="1" spcCol="0" rtlCol="0" fromWordArt="0" anchor="t" anchorCtr="0" forceAA="0" compatLnSpc="1">
            <a:noAutofit/>
          </a:bodyPr>
          <a:lstStyle/>
          <a:p>
            <a:pPr lvl="0" algn="l">
              <a:lnSpc>
                <a:spcPct val="140000"/>
              </a:lnSpc>
              <a:buClrTx/>
              <a:buSzTx/>
              <a:buFontTx/>
            </a:pPr>
            <a:r>
              <a:rPr lang="en-US" altLang="zh-CN" sz="1200" dirty="0">
                <a:solidFill>
                  <a:schemeClr val="tx1">
                    <a:lumMod val="85000"/>
                    <a:lumOff val="15000"/>
                  </a:schemeClr>
                </a:solidFill>
                <a:sym typeface="+mn-ea"/>
              </a:rPr>
              <a:t> </a:t>
            </a:r>
            <a:endParaRPr lang="en-US" altLang="zh-CN" sz="1200" dirty="0">
              <a:solidFill>
                <a:schemeClr val="tx1">
                  <a:lumMod val="85000"/>
                  <a:lumOff val="15000"/>
                </a:schemeClr>
              </a:solidFill>
              <a:sym typeface="+mn-ea"/>
            </a:endParaRPr>
          </a:p>
        </p:txBody>
      </p:sp>
      <p:sp>
        <p:nvSpPr>
          <p:cNvPr id="50" name="圆角矩形 16"/>
          <p:cNvSpPr/>
          <p:nvPr>
            <p:custDataLst>
              <p:tags r:id="rId6"/>
            </p:custDataLst>
          </p:nvPr>
        </p:nvSpPr>
        <p:spPr>
          <a:xfrm>
            <a:off x="3359150" y="5255895"/>
            <a:ext cx="368300" cy="333375"/>
          </a:xfrm>
          <a:prstGeom prst="roundRect">
            <a:avLst>
              <a:gd name="adj" fmla="val 2376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050" b="1">
                <a:solidFill>
                  <a:srgbClr val="FFFFFF"/>
                </a:solidFill>
                <a:latin typeface="+mn-ea"/>
                <a:cs typeface="+mn-ea"/>
                <a:sym typeface="+mn-ea"/>
              </a:rPr>
              <a:t>02</a:t>
            </a:r>
            <a:endParaRPr lang="en-US" altLang="zh-CN" sz="1050" b="1">
              <a:solidFill>
                <a:srgbClr val="FFFFFF"/>
              </a:solidFill>
              <a:latin typeface="+mn-ea"/>
              <a:cs typeface="+mn-ea"/>
              <a:sym typeface="+mn-ea"/>
            </a:endParaRPr>
          </a:p>
        </p:txBody>
      </p:sp>
      <p:sp>
        <p:nvSpPr>
          <p:cNvPr id="52" name="圆角矩形 3"/>
          <p:cNvSpPr/>
          <p:nvPr>
            <p:custDataLst>
              <p:tags r:id="rId7"/>
            </p:custDataLst>
          </p:nvPr>
        </p:nvSpPr>
        <p:spPr>
          <a:xfrm>
            <a:off x="6121400" y="2164080"/>
            <a:ext cx="2494915" cy="3549650"/>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42887" tIns="161925" rIns="134778" bIns="523875" numCol="1" spcCol="0" rtlCol="0" fromWordArt="0" anchor="t" anchorCtr="0" forceAA="0" compatLnSpc="1">
            <a:noAutofit/>
          </a:bodyPr>
          <a:lstStyle/>
          <a:p>
            <a:pPr lvl="0" algn="l">
              <a:lnSpc>
                <a:spcPct val="140000"/>
              </a:lnSpc>
              <a:buClrTx/>
              <a:buSzTx/>
              <a:buFontTx/>
            </a:pPr>
            <a:endParaRPr lang="zh-CN" altLang="zh-CN" sz="1050" dirty="0">
              <a:solidFill>
                <a:srgbClr val="262626"/>
              </a:solidFill>
              <a:latin typeface="+mn-ea"/>
              <a:cs typeface="+mn-ea"/>
              <a:sym typeface="+mn-ea"/>
            </a:endParaRPr>
          </a:p>
        </p:txBody>
      </p:sp>
      <p:sp useBgFill="1">
        <p:nvSpPr>
          <p:cNvPr id="53" name="圆角矩形 3"/>
          <p:cNvSpPr/>
          <p:nvPr>
            <p:custDataLst>
              <p:tags r:id="rId8"/>
            </p:custDataLst>
          </p:nvPr>
        </p:nvSpPr>
        <p:spPr>
          <a:xfrm>
            <a:off x="6024245" y="2077720"/>
            <a:ext cx="2515870" cy="3640455"/>
          </a:xfrm>
          <a:prstGeom prst="roundRect">
            <a:avLst>
              <a:gd name="adj" fmla="val 6621"/>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216217" tIns="189071" rIns="216217" bIns="523875" numCol="1" spcCol="0" rtlCol="0" fromWordArt="0" anchor="t" anchorCtr="0" forceAA="0" compatLnSpc="1">
            <a:noAutofit/>
          </a:bodyPr>
          <a:lstStyle/>
          <a:p>
            <a:pPr lvl="0" algn="l">
              <a:lnSpc>
                <a:spcPct val="140000"/>
              </a:lnSpc>
              <a:buClrTx/>
              <a:buSzTx/>
              <a:buFontTx/>
            </a:pPr>
            <a:r>
              <a:rPr lang="en-US" altLang="zh-CN" sz="1200" dirty="0">
                <a:solidFill>
                  <a:schemeClr val="tx1">
                    <a:lumMod val="85000"/>
                    <a:lumOff val="15000"/>
                  </a:schemeClr>
                </a:solidFill>
                <a:sym typeface="+mn-ea"/>
              </a:rPr>
              <a:t> </a:t>
            </a:r>
            <a:endParaRPr lang="en-US" altLang="zh-CN" sz="1200" dirty="0">
              <a:solidFill>
                <a:schemeClr val="tx1">
                  <a:lumMod val="85000"/>
                  <a:lumOff val="15000"/>
                </a:schemeClr>
              </a:solidFill>
              <a:sym typeface="+mn-ea"/>
            </a:endParaRPr>
          </a:p>
        </p:txBody>
      </p:sp>
      <p:sp>
        <p:nvSpPr>
          <p:cNvPr id="54" name="圆角矩形 16"/>
          <p:cNvSpPr/>
          <p:nvPr>
            <p:custDataLst>
              <p:tags r:id="rId9"/>
            </p:custDataLst>
          </p:nvPr>
        </p:nvSpPr>
        <p:spPr>
          <a:xfrm>
            <a:off x="6122035" y="5255895"/>
            <a:ext cx="368300" cy="333375"/>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050" b="1">
                <a:solidFill>
                  <a:srgbClr val="FFFFFF"/>
                </a:solidFill>
                <a:latin typeface="+mn-ea"/>
                <a:cs typeface="+mn-ea"/>
                <a:sym typeface="+mn-ea"/>
              </a:rPr>
              <a:t>03</a:t>
            </a:r>
            <a:endParaRPr lang="en-US" altLang="zh-CN" sz="1050" b="1">
              <a:solidFill>
                <a:srgbClr val="FFFFFF"/>
              </a:solidFill>
              <a:latin typeface="+mn-ea"/>
              <a:cs typeface="+mn-ea"/>
              <a:sym typeface="+mn-ea"/>
            </a:endParaRPr>
          </a:p>
        </p:txBody>
      </p:sp>
      <p:sp>
        <p:nvSpPr>
          <p:cNvPr id="3" name="文本框 2"/>
          <p:cNvSpPr txBox="1"/>
          <p:nvPr/>
        </p:nvSpPr>
        <p:spPr>
          <a:xfrm>
            <a:off x="534829" y="2245043"/>
            <a:ext cx="2440781" cy="3118485"/>
          </a:xfrm>
          <a:prstGeom prst="rect">
            <a:avLst/>
          </a:prstGeom>
          <a:noFill/>
        </p:spPr>
        <p:txBody>
          <a:bodyPr wrap="square" rtlCol="0">
            <a:spAutoFit/>
          </a:bodyPr>
          <a:p>
            <a:pPr lvl="0" algn="l">
              <a:lnSpc>
                <a:spcPct val="140000"/>
              </a:lnSpc>
              <a:buClrTx/>
              <a:buSzTx/>
              <a:buFontTx/>
            </a:pP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从</a:t>
            </a:r>
            <a:r>
              <a:rPr lang="en-US" altLang="zh-CN" sz="1200" b="1">
                <a:solidFill>
                  <a:schemeClr val="tx1"/>
                </a:solidFill>
                <a:latin typeface="微软雅黑" panose="020B0503020204020204" charset="-122"/>
                <a:ea typeface="微软雅黑" panose="020B0503020204020204" charset="-122"/>
                <a:cs typeface="微软雅黑" panose="020B0503020204020204" charset="-122"/>
                <a:sym typeface="+mn-ea"/>
              </a:rPr>
              <a:t>“</a:t>
            </a: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节点扩散</a:t>
            </a:r>
            <a:r>
              <a:rPr lang="en-US" altLang="zh-CN" sz="1200" b="1">
                <a:solidFill>
                  <a:schemeClr val="tx1"/>
                </a:solidFill>
                <a:latin typeface="微软雅黑" panose="020B0503020204020204" charset="-122"/>
                <a:ea typeface="微软雅黑" panose="020B0503020204020204" charset="-122"/>
                <a:cs typeface="微软雅黑" panose="020B0503020204020204" charset="-122"/>
                <a:sym typeface="+mn-ea"/>
              </a:rPr>
              <a:t>”</a:t>
            </a: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到</a:t>
            </a:r>
            <a:r>
              <a:rPr lang="en-US" altLang="zh-CN" sz="1200" b="1">
                <a:solidFill>
                  <a:schemeClr val="tx1"/>
                </a:solidFill>
                <a:latin typeface="微软雅黑" panose="020B0503020204020204" charset="-122"/>
                <a:ea typeface="微软雅黑" panose="020B0503020204020204" charset="-122"/>
                <a:cs typeface="微软雅黑" panose="020B0503020204020204" charset="-122"/>
                <a:sym typeface="+mn-ea"/>
              </a:rPr>
              <a:t>“</a:t>
            </a: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结构扩散</a:t>
            </a:r>
            <a:r>
              <a:rPr lang="en-US" altLang="zh-CN" sz="1200" b="1">
                <a:solidFill>
                  <a:schemeClr val="tx1"/>
                </a:solidFill>
                <a:latin typeface="微软雅黑" panose="020B0503020204020204" charset="-122"/>
                <a:ea typeface="微软雅黑" panose="020B0503020204020204" charset="-122"/>
                <a:cs typeface="微软雅黑" panose="020B0503020204020204" charset="-122"/>
                <a:sym typeface="+mn-ea"/>
              </a:rPr>
              <a:t>”</a:t>
            </a: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的图对比学习范式转变</a:t>
            </a:r>
            <a:endPar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l">
              <a:lnSpc>
                <a:spcPct val="140000"/>
              </a:lnSpc>
              <a:buClrTx/>
              <a:buSzTx/>
              <a:buFontTx/>
            </a:pPr>
            <a:endParaRPr lang="zh-CN" altLang="en-US" sz="1200">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l">
              <a:lnSpc>
                <a:spcPct val="140000"/>
              </a:lnSpc>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针对现有无增强图对比学习方法仅在节点级进行扩散、缺乏高阶结构组织的问题，本研究引入粒球作为显式结构单元，在粒球层面构建并扩散表示，实现由节点级扩散向结构级扩散的转变，从而提升多尺度语义建模能力与结构表达稳定性。</a:t>
            </a:r>
            <a:endParaRPr lang="zh-CN" altLang="en-US" sz="1200">
              <a:latin typeface="微软雅黑" panose="020B0503020204020204" charset="-122"/>
              <a:ea typeface="微软雅黑" panose="020B0503020204020204" charset="-122"/>
              <a:cs typeface="微软雅黑" panose="020B0503020204020204" charset="-122"/>
              <a:sym typeface="+mn-ea"/>
            </a:endParaRPr>
          </a:p>
          <a:p>
            <a:endParaRPr lang="zh-CN" altLang="zh-CN" sz="1200" dirty="0">
              <a:solidFill>
                <a:schemeClr val="tx1">
                  <a:lumMod val="85000"/>
                  <a:lumOff val="15000"/>
                </a:schemeClr>
              </a:solidFill>
              <a:latin typeface="+mn-ea"/>
              <a:cs typeface="+mn-ea"/>
              <a:sym typeface="+mn-ea"/>
            </a:endParaRPr>
          </a:p>
        </p:txBody>
      </p:sp>
      <p:sp>
        <p:nvSpPr>
          <p:cNvPr id="4" name="文本框 3"/>
          <p:cNvSpPr txBox="1"/>
          <p:nvPr/>
        </p:nvSpPr>
        <p:spPr>
          <a:xfrm>
            <a:off x="3331845" y="2245043"/>
            <a:ext cx="2440781" cy="2933700"/>
          </a:xfrm>
          <a:prstGeom prst="rect">
            <a:avLst/>
          </a:prstGeom>
          <a:noFill/>
        </p:spPr>
        <p:txBody>
          <a:bodyPr wrap="square" rtlCol="0">
            <a:spAutoFit/>
          </a:bodyPr>
          <a:p>
            <a:pPr lvl="0" algn="l">
              <a:lnSpc>
                <a:spcPct val="140000"/>
              </a:lnSpc>
              <a:buClrTx/>
              <a:buSzTx/>
              <a:buFontTx/>
            </a:pP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一种自适应、多粒度的无增强视图构造机制</a:t>
            </a:r>
            <a:endPar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l">
              <a:lnSpc>
                <a:spcPct val="140000"/>
              </a:lnSpc>
              <a:buClrTx/>
              <a:buSzTx/>
              <a:buFontTx/>
            </a:pPr>
            <a:endPar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endParaRPr>
          </a:p>
          <a:p>
            <a:pPr algn="l">
              <a:lnSpc>
                <a:spcPct val="140000"/>
              </a:lnSpc>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针对传统图对比学习依赖随机增强、易引入语义偏移的问题，本研究利用粒球的自适应分裂与扩散机制，在不引入任何人工扰动的前提下自动生成多粒度结构视图，为无增强图对比学习提供一种稳定、结构感知的视图构造方式。</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6062663" y="2245043"/>
            <a:ext cx="2440781" cy="2933700"/>
          </a:xfrm>
          <a:prstGeom prst="rect">
            <a:avLst/>
          </a:prstGeom>
          <a:noFill/>
        </p:spPr>
        <p:txBody>
          <a:bodyPr wrap="square" rtlCol="0">
            <a:spAutoFit/>
          </a:bodyPr>
          <a:p>
            <a:pPr lvl="0" algn="l">
              <a:lnSpc>
                <a:spcPct val="140000"/>
              </a:lnSpc>
              <a:buClrTx/>
              <a:buSzTx/>
              <a:buFontTx/>
            </a:pP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面向</a:t>
            </a:r>
            <a:r>
              <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rPr>
              <a:t>结构区域的结构级对比学习建模方式</a:t>
            </a:r>
            <a:endPar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l">
              <a:lnSpc>
                <a:spcPct val="140000"/>
              </a:lnSpc>
              <a:buClrTx/>
              <a:buSzTx/>
              <a:buFontTx/>
            </a:pPr>
            <a:endParaRPr lang="zh-CN" altLang="en-US" sz="1200" b="1">
              <a:solidFill>
                <a:schemeClr val="tx1"/>
              </a:solidFill>
              <a:latin typeface="微软雅黑" panose="020B0503020204020204" charset="-122"/>
              <a:ea typeface="微软雅黑" panose="020B0503020204020204" charset="-122"/>
              <a:cs typeface="微软雅黑" panose="020B0503020204020204" charset="-122"/>
              <a:sym typeface="+mn-ea"/>
            </a:endParaRPr>
          </a:p>
          <a:p>
            <a:pPr lvl="0" algn="l">
              <a:lnSpc>
                <a:spcPct val="140000"/>
              </a:lnSpc>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针对节点级对比学习难以刻画社区与功能模块等多尺度结构区域的问题，本研究以粒球作为中层</a:t>
            </a:r>
            <a:r>
              <a:rPr lang="zh-CN" altLang="en-US" sz="1200">
                <a:latin typeface="微软雅黑" panose="020B0503020204020204" charset="-122"/>
                <a:ea typeface="微软雅黑" panose="020B0503020204020204" charset="-122"/>
                <a:cs typeface="微软雅黑" panose="020B0503020204020204" charset="-122"/>
                <a:sym typeface="+mn-ea"/>
              </a:rPr>
              <a:t>结构单元，将对比学习对象由节点提升至结构区域层面，使模型能够显式学习不同</a:t>
            </a:r>
            <a:r>
              <a:rPr lang="zh-CN" altLang="en-US" sz="1200">
                <a:latin typeface="微软雅黑" panose="020B0503020204020204" charset="-122"/>
                <a:ea typeface="微软雅黑" panose="020B0503020204020204" charset="-122"/>
                <a:cs typeface="微软雅黑" panose="020B0503020204020204" charset="-122"/>
                <a:sym typeface="+mn-ea"/>
              </a:rPr>
              <a:t>结构区域之间的区分性与一致性，增强表示的判别性与可解释性。</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9" name="单圆角矩形 8"/>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四、</a:t>
            </a:r>
            <a:r>
              <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rPr>
              <a:t>创新点</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endParaRPr>
          </a:p>
        </p:txBody>
      </p:sp>
      <p:pic>
        <p:nvPicPr>
          <p:cNvPr id="12" name="图片 11" descr="图片2.emf"/>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单圆角矩形 8"/>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五、</a:t>
            </a:r>
            <a:r>
              <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rPr>
              <a:t>进度</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sym typeface="+mn-ea"/>
            </a:endParaRPr>
          </a:p>
        </p:txBody>
      </p:sp>
      <p:pic>
        <p:nvPicPr>
          <p:cNvPr id="12" name="图片 11"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a:blip r:embed="rId2"/>
          <a:stretch>
            <a:fillRect/>
          </a:stretch>
        </p:blipFill>
        <p:spPr>
          <a:xfrm>
            <a:off x="448945" y="4070985"/>
            <a:ext cx="7573010" cy="1196975"/>
          </a:xfrm>
          <a:prstGeom prst="rect">
            <a:avLst/>
          </a:prstGeom>
        </p:spPr>
      </p:pic>
      <p:sp>
        <p:nvSpPr>
          <p:cNvPr id="8" name="文本框 7"/>
          <p:cNvSpPr txBox="1"/>
          <p:nvPr/>
        </p:nvSpPr>
        <p:spPr>
          <a:xfrm>
            <a:off x="3551555" y="5535295"/>
            <a:ext cx="3048000" cy="398780"/>
          </a:xfrm>
          <a:prstGeom prst="rect">
            <a:avLst/>
          </a:prstGeom>
          <a:noFill/>
        </p:spPr>
        <p:txBody>
          <a:bodyPr wrap="square" rtlCol="0">
            <a:spAutoFit/>
          </a:bodyPr>
          <a:p>
            <a:r>
              <a:rPr lang="zh-CN" altLang="en-US" sz="2000" b="1"/>
              <a:t>目前实验结果</a:t>
            </a:r>
            <a:endParaRPr lang="zh-CN" altLang="en-US" sz="2000" b="1"/>
          </a:p>
        </p:txBody>
      </p:sp>
      <p:pic>
        <p:nvPicPr>
          <p:cNvPr id="3" name="图片 2"/>
          <p:cNvPicPr>
            <a:picLocks noChangeAspect="1"/>
          </p:cNvPicPr>
          <p:nvPr/>
        </p:nvPicPr>
        <p:blipFill>
          <a:blip r:embed="rId3"/>
          <a:stretch>
            <a:fillRect/>
          </a:stretch>
        </p:blipFill>
        <p:spPr>
          <a:xfrm>
            <a:off x="920750" y="952500"/>
            <a:ext cx="6629400" cy="2628900"/>
          </a:xfrm>
          <a:prstGeom prst="rect">
            <a:avLst/>
          </a:prstGeom>
        </p:spPr>
      </p:pic>
      <p:sp>
        <p:nvSpPr>
          <p:cNvPr id="4" name="文本框 3"/>
          <p:cNvSpPr txBox="1"/>
          <p:nvPr/>
        </p:nvSpPr>
        <p:spPr>
          <a:xfrm>
            <a:off x="3551555" y="3581400"/>
            <a:ext cx="3048000" cy="398780"/>
          </a:xfrm>
          <a:prstGeom prst="rect">
            <a:avLst/>
          </a:prstGeom>
          <a:noFill/>
        </p:spPr>
        <p:txBody>
          <a:bodyPr wrap="square" rtlCol="0">
            <a:spAutoFit/>
          </a:bodyPr>
          <a:p>
            <a:r>
              <a:rPr lang="en-US" altLang="zh-CN" sz="2000" b="1">
                <a:latin typeface="Times New Roman" panose="02020603050405020304" charset="0"/>
                <a:cs typeface="Times New Roman" panose="02020603050405020304" charset="0"/>
              </a:rPr>
              <a:t>baseline</a:t>
            </a:r>
            <a:r>
              <a:rPr lang="zh-CN" altLang="en-US" sz="2000" b="1"/>
              <a:t>情况</a:t>
            </a:r>
            <a:endParaRPr lang="zh-CN" altLang="en-US" sz="2000" b="1"/>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47955" y="1112520"/>
            <a:ext cx="8416290" cy="528955"/>
          </a:xfrm>
        </p:spPr>
        <p:txBody>
          <a:bodyPr>
            <a:normAutofit fontScale="90000"/>
          </a:bodyPr>
          <a:p>
            <a:pPr algn="l"/>
            <a:r>
              <a:rPr lang="zh-CN" altLang="en-US" sz="1780" b="1"/>
              <a:t>（</a:t>
            </a:r>
            <a:r>
              <a:rPr lang="en-US" altLang="zh-CN" sz="1780" b="1"/>
              <a:t>1</a:t>
            </a:r>
            <a:r>
              <a:rPr lang="zh-CN" altLang="en-US" sz="1780" b="1"/>
              <a:t>）粒球构建机制的有效性实验</a:t>
            </a:r>
            <a:br>
              <a:rPr lang="zh-CN" altLang="en-US" sz="1780" b="1"/>
            </a:br>
            <a:r>
              <a:rPr lang="zh-CN" altLang="en-US" sz="1555"/>
              <a:t>在多个公开图数据集上系统实验验证面向图嵌入空间的粒球构建方法。通过调节粒球生成与分裂相关参数，分析粒球数量、规模分布以及粒球内部一致性随参数变化的规律，评估粒球是否能够稳定刻画节点之间的结构相似关系，从实验层面验证粒球作为图中高阶结构单元的合理性。</a:t>
            </a:r>
            <a:endParaRPr lang="zh-CN" altLang="en-US" sz="1555"/>
          </a:p>
        </p:txBody>
      </p:sp>
      <p:sp>
        <p:nvSpPr>
          <p:cNvPr id="9" name="单圆角矩形 8"/>
          <p:cNvSpPr/>
          <p:nvPr/>
        </p:nvSpPr>
        <p:spPr>
          <a:xfrm>
            <a:off x="0" y="314960"/>
            <a:ext cx="6316980" cy="530860"/>
          </a:xfrm>
          <a:prstGeom prst="round1Rect">
            <a:avLst/>
          </a:prstGeom>
          <a:noFill/>
          <a:ln>
            <a:noFill/>
          </a:ln>
          <a:extLst>
            <a:ext uri="{909E8E84-426E-40DD-AFC4-6F175D3DCCD1}">
              <a14:hiddenFill xmlns:a14="http://schemas.microsoft.com/office/drawing/2010/main">
                <a:solidFill>
                  <a:srgbClr val="4864FC"/>
                </a:solidFill>
              </a14:hiddenFill>
            </a:ext>
          </a:extLst>
        </p:spPr>
        <p:style>
          <a:lnRef idx="3">
            <a:schemeClr val="accent1"/>
          </a:lnRef>
          <a:fillRef idx="0">
            <a:srgbClr val="FFFFFF"/>
          </a:fillRef>
          <a:effectRef idx="0">
            <a:srgbClr val="FFFFFF"/>
          </a:effectRef>
          <a:fontRef idx="minor">
            <a:schemeClr val="tx1"/>
          </a:fontRef>
        </p:style>
        <p:txBody>
          <a:bodyPr/>
          <a:p>
            <a:pPr algn="l" defTabSz="914400">
              <a:lnSpc>
                <a:spcPct val="100000"/>
              </a:lnSpc>
              <a:buClrTx/>
              <a:buSzTx/>
              <a:buFontTx/>
            </a:pP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六、下一步</a:t>
            </a:r>
            <a:r>
              <a:rPr lang="zh-CN" altLang="en-US" sz="2400" b="1">
                <a:solidFill>
                  <a:srgbClr val="1F40B8"/>
                </a:solidFill>
                <a:latin typeface="微软雅黑" panose="020B0503020204020204" charset="-122"/>
                <a:ea typeface="微软雅黑" panose="020B0503020204020204" charset="-122"/>
                <a:cs typeface="微软雅黑" panose="020B0503020204020204" charset="-122"/>
              </a:rPr>
              <a:t>安排</a:t>
            </a:r>
            <a:endParaRPr lang="zh-CN" altLang="en-US" sz="2400" b="1">
              <a:solidFill>
                <a:srgbClr val="1F40B8"/>
              </a:solidFill>
              <a:latin typeface="微软雅黑" panose="020B0503020204020204" charset="-122"/>
              <a:ea typeface="微软雅黑" panose="020B0503020204020204" charset="-122"/>
              <a:cs typeface="微软雅黑" panose="020B0503020204020204" charset="-122"/>
            </a:endParaRPr>
          </a:p>
        </p:txBody>
      </p:sp>
      <p:pic>
        <p:nvPicPr>
          <p:cNvPr id="12" name="图片 11" descr="图片2.e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9696" y="315142"/>
            <a:ext cx="2308084" cy="543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47955" y="2183130"/>
            <a:ext cx="8416290" cy="983615"/>
          </a:xfrm>
          <a:prstGeom prst="rect">
            <a:avLst/>
          </a:prstGeom>
          <a:noFill/>
        </p:spPr>
        <p:txBody>
          <a:bodyPr wrap="square" rtlCol="0">
            <a:spAutoFit/>
          </a:bodyPr>
          <a:p>
            <a:r>
              <a:rPr lang="zh-CN" altLang="en-US" sz="1600" b="1">
                <a:latin typeface="+mj-ea"/>
                <a:ea typeface="+mj-ea"/>
                <a:cs typeface="+mj-cs"/>
              </a:rPr>
              <a:t>（2）基于粒球扩散的多尺度结构建模实验</a:t>
            </a:r>
            <a:endParaRPr lang="zh-CN" altLang="en-US" sz="1600" b="1">
              <a:latin typeface="+mj-ea"/>
              <a:ea typeface="+mj-ea"/>
              <a:cs typeface="+mj-cs"/>
            </a:endParaRPr>
          </a:p>
          <a:p>
            <a:r>
              <a:rPr lang="zh-CN" altLang="en-US" sz="1400">
                <a:latin typeface="+mj-ea"/>
                <a:ea typeface="+mj-ea"/>
                <a:cs typeface="+mj-cs"/>
              </a:rPr>
              <a:t>在完成粒球构建后，将在粒球层面构建粒球—粒球关系图，并引入多步扩散机制，对不同扩散步数和扩散权重设置进行实验对比。通过分析不同扩散尺度下模型在节点分类和链路预测任务中的性能变化，验证粒球扩散是否能够有效形成多尺度结构视图，并提升模型对全局结构信息的建模能力。</a:t>
            </a:r>
            <a:endParaRPr lang="zh-CN" altLang="en-US" sz="1400">
              <a:latin typeface="+mj-ea"/>
              <a:ea typeface="+mj-ea"/>
              <a:cs typeface="+mj-cs"/>
            </a:endParaRPr>
          </a:p>
        </p:txBody>
      </p:sp>
      <p:sp>
        <p:nvSpPr>
          <p:cNvPr id="4" name="文本框 3"/>
          <p:cNvSpPr txBox="1"/>
          <p:nvPr/>
        </p:nvSpPr>
        <p:spPr>
          <a:xfrm>
            <a:off x="147955" y="3587750"/>
            <a:ext cx="8416290" cy="983615"/>
          </a:xfrm>
          <a:prstGeom prst="rect">
            <a:avLst/>
          </a:prstGeom>
          <a:noFill/>
        </p:spPr>
        <p:txBody>
          <a:bodyPr wrap="square" rtlCol="0">
            <a:spAutoFit/>
          </a:bodyPr>
          <a:p>
            <a:r>
              <a:rPr lang="zh-CN" altLang="en-US" sz="1600" b="1">
                <a:latin typeface="+mj-ea"/>
                <a:ea typeface="+mj-ea"/>
                <a:cs typeface="+mj-cs"/>
              </a:rPr>
              <a:t>（</a:t>
            </a:r>
            <a:r>
              <a:rPr lang="en-US" altLang="zh-CN" sz="1600" b="1">
                <a:latin typeface="+mj-ea"/>
                <a:ea typeface="+mj-ea"/>
                <a:cs typeface="+mj-cs"/>
              </a:rPr>
              <a:t>3</a:t>
            </a:r>
            <a:r>
              <a:rPr lang="zh-CN" altLang="en-US" sz="1600" b="1">
                <a:latin typeface="+mj-ea"/>
                <a:ea typeface="+mj-ea"/>
                <a:cs typeface="+mj-cs"/>
              </a:rPr>
              <a:t>）粒球级与节点级协同对比学习实验</a:t>
            </a:r>
            <a:endParaRPr lang="zh-CN" altLang="en-US" sz="1600" b="1">
              <a:latin typeface="+mj-ea"/>
              <a:ea typeface="+mj-ea"/>
              <a:cs typeface="+mj-cs"/>
            </a:endParaRPr>
          </a:p>
          <a:p>
            <a:r>
              <a:rPr lang="zh-CN" altLang="en-US" sz="1400">
                <a:latin typeface="+mj-ea"/>
                <a:ea typeface="+mj-ea"/>
                <a:cs typeface="+mj-cs"/>
              </a:rPr>
              <a:t>进一步设计粒球级与节点级协同的图对比学习目标，通过对比</a:t>
            </a:r>
            <a:r>
              <a:rPr lang="en-US" altLang="zh-CN" sz="1400">
                <a:latin typeface="+mj-ea"/>
                <a:ea typeface="+mj-ea"/>
                <a:cs typeface="+mj-cs"/>
              </a:rPr>
              <a:t>“</a:t>
            </a:r>
            <a:r>
              <a:rPr lang="zh-CN" altLang="en-US" sz="1400">
                <a:latin typeface="+mj-ea"/>
                <a:ea typeface="+mj-ea"/>
                <a:cs typeface="+mj-cs"/>
              </a:rPr>
              <a:t>仅节点级对比</a:t>
            </a:r>
            <a:r>
              <a:rPr lang="en-US" altLang="zh-CN" sz="1400">
                <a:latin typeface="+mj-ea"/>
                <a:ea typeface="+mj-ea"/>
                <a:cs typeface="+mj-cs"/>
              </a:rPr>
              <a:t>”“</a:t>
            </a:r>
            <a:r>
              <a:rPr lang="zh-CN" altLang="en-US" sz="1400">
                <a:latin typeface="+mj-ea"/>
                <a:ea typeface="+mj-ea"/>
                <a:cs typeface="+mj-cs"/>
              </a:rPr>
              <a:t>仅粒球级对比</a:t>
            </a:r>
            <a:r>
              <a:rPr lang="en-US" altLang="zh-CN" sz="1400">
                <a:latin typeface="+mj-ea"/>
                <a:ea typeface="+mj-ea"/>
                <a:cs typeface="+mj-cs"/>
              </a:rPr>
              <a:t>”</a:t>
            </a:r>
            <a:r>
              <a:rPr lang="zh-CN" altLang="en-US" sz="1400">
                <a:latin typeface="+mj-ea"/>
                <a:ea typeface="+mj-ea"/>
                <a:cs typeface="+mj-cs"/>
              </a:rPr>
              <a:t>和</a:t>
            </a:r>
            <a:r>
              <a:rPr lang="en-US" altLang="zh-CN" sz="1400">
                <a:latin typeface="+mj-ea"/>
                <a:ea typeface="+mj-ea"/>
                <a:cs typeface="+mj-cs"/>
              </a:rPr>
              <a:t>“</a:t>
            </a:r>
            <a:r>
              <a:rPr lang="zh-CN" altLang="en-US" sz="1400">
                <a:latin typeface="+mj-ea"/>
                <a:ea typeface="+mj-ea"/>
                <a:cs typeface="+mj-cs"/>
              </a:rPr>
              <a:t>节点</a:t>
            </a:r>
            <a:r>
              <a:rPr lang="en-US" altLang="zh-CN" sz="1400">
                <a:latin typeface="+mj-ea"/>
                <a:ea typeface="+mj-ea"/>
                <a:cs typeface="+mj-cs"/>
              </a:rPr>
              <a:t>—</a:t>
            </a:r>
            <a:r>
              <a:rPr lang="zh-CN" altLang="en-US" sz="1400">
                <a:latin typeface="+mj-ea"/>
                <a:ea typeface="+mj-ea"/>
                <a:cs typeface="+mj-cs"/>
              </a:rPr>
              <a:t>粒球联合对比</a:t>
            </a:r>
            <a:r>
              <a:rPr lang="en-US" altLang="zh-CN" sz="1400">
                <a:latin typeface="+mj-ea"/>
                <a:ea typeface="+mj-ea"/>
                <a:cs typeface="+mj-cs"/>
              </a:rPr>
              <a:t>”</a:t>
            </a:r>
            <a:r>
              <a:rPr lang="zh-CN" altLang="en-US" sz="1400">
                <a:latin typeface="+mj-ea"/>
                <a:ea typeface="+mj-ea"/>
                <a:cs typeface="+mj-cs"/>
              </a:rPr>
              <a:t>三种设置，系统评估粒球级对比约束对节点表示学习的引导作用，分析其在提升表示稳定性和鲁棒性方面的效果。</a:t>
            </a:r>
            <a:endParaRPr lang="zh-CN" altLang="en-US" sz="1400">
              <a:latin typeface="+mj-ea"/>
              <a:ea typeface="+mj-ea"/>
              <a:cs typeface="+mj-cs"/>
            </a:endParaRPr>
          </a:p>
        </p:txBody>
      </p:sp>
      <p:sp>
        <p:nvSpPr>
          <p:cNvPr id="6" name="文本框 5"/>
          <p:cNvSpPr txBox="1"/>
          <p:nvPr/>
        </p:nvSpPr>
        <p:spPr>
          <a:xfrm>
            <a:off x="147955" y="4992370"/>
            <a:ext cx="8416290" cy="768350"/>
          </a:xfrm>
          <a:prstGeom prst="rect">
            <a:avLst/>
          </a:prstGeom>
          <a:noFill/>
        </p:spPr>
        <p:txBody>
          <a:bodyPr wrap="square" rtlCol="0">
            <a:spAutoFit/>
          </a:bodyPr>
          <a:p>
            <a:r>
              <a:rPr lang="zh-CN" altLang="en-US" sz="1600" b="1">
                <a:latin typeface="+mj-ea"/>
                <a:ea typeface="+mj-ea"/>
                <a:cs typeface="+mj-cs"/>
              </a:rPr>
              <a:t>（</a:t>
            </a:r>
            <a:r>
              <a:rPr lang="en-US" altLang="zh-CN" sz="1600" b="1">
                <a:latin typeface="+mj-ea"/>
                <a:ea typeface="+mj-ea"/>
                <a:cs typeface="+mj-cs"/>
              </a:rPr>
              <a:t>4</a:t>
            </a:r>
            <a:r>
              <a:rPr lang="zh-CN" altLang="en-US" sz="1600" b="1">
                <a:latin typeface="+mj-ea"/>
                <a:ea typeface="+mj-ea"/>
                <a:cs typeface="+mj-cs"/>
              </a:rPr>
              <a:t>）消融实验与参数敏感性分析</a:t>
            </a:r>
            <a:endParaRPr lang="zh-CN" altLang="en-US" sz="1600" b="1">
              <a:latin typeface="+mj-ea"/>
              <a:ea typeface="+mj-ea"/>
              <a:cs typeface="+mj-cs"/>
            </a:endParaRPr>
          </a:p>
          <a:p>
            <a:r>
              <a:rPr lang="zh-CN" altLang="en-US" sz="1400">
                <a:latin typeface="+mj-ea"/>
                <a:ea typeface="+mj-ea"/>
                <a:cs typeface="+mj-cs"/>
              </a:rPr>
              <a:t>针对模型中的关键因素（如粒球粒度、扩散步数、对比损失权重等），开展系统的消融实验与参数敏感性分析</a:t>
            </a:r>
            <a:endParaRPr lang="zh-CN" altLang="en-US" sz="1400">
              <a:latin typeface="+mj-ea"/>
              <a:ea typeface="+mj-ea"/>
              <a:cs typeface="+mj-cs"/>
            </a:endParaRPr>
          </a:p>
        </p:txBody>
      </p:sp>
      <p:sp>
        <p:nvSpPr>
          <p:cNvPr id="7" name="文本框 6"/>
          <p:cNvSpPr txBox="1"/>
          <p:nvPr/>
        </p:nvSpPr>
        <p:spPr>
          <a:xfrm>
            <a:off x="147955" y="6026150"/>
            <a:ext cx="8416290" cy="768350"/>
          </a:xfrm>
          <a:prstGeom prst="rect">
            <a:avLst/>
          </a:prstGeom>
          <a:noFill/>
        </p:spPr>
        <p:txBody>
          <a:bodyPr wrap="square" rtlCol="0">
            <a:spAutoFit/>
          </a:bodyPr>
          <a:p>
            <a:r>
              <a:rPr lang="zh-CN" altLang="en-US" sz="1600" b="1">
                <a:latin typeface="+mj-ea"/>
                <a:ea typeface="+mj-ea"/>
                <a:cs typeface="+mj-cs"/>
              </a:rPr>
              <a:t>（</a:t>
            </a:r>
            <a:r>
              <a:rPr lang="en-US" altLang="zh-CN" sz="1600" b="1">
                <a:latin typeface="+mj-ea"/>
                <a:ea typeface="+mj-ea"/>
                <a:cs typeface="+mj-cs"/>
              </a:rPr>
              <a:t>5</a:t>
            </a:r>
            <a:r>
              <a:rPr lang="zh-CN" altLang="en-US" sz="1600" b="1">
                <a:latin typeface="+mj-ea"/>
                <a:ea typeface="+mj-ea"/>
                <a:cs typeface="+mj-cs"/>
              </a:rPr>
              <a:t>）可视化与结构解释性分析实验</a:t>
            </a:r>
            <a:endParaRPr lang="zh-CN" altLang="en-US" sz="1600" b="1">
              <a:latin typeface="+mj-ea"/>
              <a:ea typeface="+mj-ea"/>
              <a:cs typeface="+mj-cs"/>
            </a:endParaRPr>
          </a:p>
          <a:p>
            <a:r>
              <a:rPr lang="zh-CN" altLang="en-US" sz="1400">
                <a:latin typeface="+mj-ea"/>
                <a:ea typeface="+mj-ea"/>
                <a:cs typeface="+mj-cs"/>
              </a:rPr>
              <a:t>通过对粒球结构及其扩散过程进行可视化分析，观察粒球在不同尺度下的结构演化特征，定性分析粒球在图对比学习中的结构组织作用，为模型的可解释性提供直观支持。</a:t>
            </a:r>
            <a:endParaRPr lang="zh-CN" altLang="en-US" sz="1400">
              <a:latin typeface="+mj-ea"/>
              <a:ea typeface="+mj-ea"/>
              <a:cs typeface="+mj-cs"/>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BEAUTIFY_FLAG" val="#wm#"/>
  <p:tag name="KSO_WM_UNIT_TYPE" val="i"/>
  <p:tag name="KSO_WM_UNIT_INDEX" val="3"/>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 name="KSO_WM_UNIT_TEXT_LAYER_COUNT" val="1"/>
</p:tagLst>
</file>

<file path=ppt/tags/tag1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2*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35.82499389648437,&quot;top&quot;:128.09999389648436,&quot;width&quot;:869.3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14.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2*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的观点。"/>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0"/>
</p:tagLst>
</file>

<file path=ppt/tags/tag15.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2*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1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2*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35.82499389648437,&quot;top&quot;:128.09999389648436,&quot;width&quot;:869.350012207031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0"/>
</p:tagLst>
</file>

<file path=ppt/tags/tag17.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2*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以便观者准确地理解您传达的思想单击此处添加文本具体内容。"/>
  <p:tag name="KSO_WM_UNIT_LINE_FORE_SCHEMECOLOR_INDEX" val="8"/>
  <p:tag name="KSO_WM_UNIT_LINE_FILL_TYPE" val="2"/>
  <p:tag name="KSO_WM_UNIT_TEXT_FILL_FORE_SCHEMECOLOR_INDEX" val="13"/>
  <p:tag name="KSO_WM_UNIT_TEXT_FILL_TYPE" val="1"/>
  <p:tag name="KSO_WM_UNIT_USESOURCEFORMAT_APPLY" val="0"/>
</p:tagLst>
</file>

<file path=ppt/tags/tag18.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2*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0"/>
</p:tagLst>
</file>

<file path=ppt/tags/tag1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307_2*l_h_i*1_3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35.82499389648437,&quot;top&quot;:128.09999389648436,&quot;width&quot;:869.3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20.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307_2*l_h_f*1_3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LINE_FORE_SCHEMECOLOR_INDEX" val="5"/>
  <p:tag name="KSO_WM_UNIT_LINE_FILL_TYPE" val="2"/>
  <p:tag name="KSO_WM_UNIT_TEXT_FILL_FORE_SCHEMECOLOR_INDEX" val="13"/>
  <p:tag name="KSO_WM_UNIT_TEXT_FILL_TYPE" val="1"/>
  <p:tag name="KSO_WM_UNIT_USESOURCEFORMAT_APPLY" val="0"/>
</p:tagLst>
</file>

<file path=ppt/tags/tag21.xml><?xml version="1.0" encoding="utf-8"?>
<p:tagLst xmlns:p="http://schemas.openxmlformats.org/presentationml/2006/main">
  <p:tag name="KSO_WM_DIAGRAM_VIRTUALLY_FRAME" val="{&quot;height&quot;:343.45001220703125,&quot;left&quot;:35.82499389648437,&quot;top&quot;:128.09999389648436,&quot;width&quot;:869.3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307_2*l_h_i*1_3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22.xml><?xml version="1.0" encoding="utf-8"?>
<p:tagLst xmlns:p="http://schemas.openxmlformats.org/presentationml/2006/main">
  <p:tag name="KSO_WM_SLIDE_ID" val="diagram20231307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SLIDE_SIZE" val="853.3*343.45"/>
  <p:tag name="KSO_WM_SLIDE_POSITION" val="51.3*128.1"/>
  <p:tag name="KSO_WM_DIAGRAM_GROUP_CODE" val="l1-1"/>
  <p:tag name="KSO_WM_SLIDE_DIAGTYPE" val="l"/>
  <p:tag name="KSO_WM_TAG_VERSION" val="3.0"/>
  <p:tag name="KSO_WM_BEAUTIFY_FLAG" val="#wm#"/>
  <p:tag name="KSO_WM_TEMPLATE_CATEGORY" val="custom"/>
  <p:tag name="KSO_WM_TEMPLATE_INDEX" val="20233311"/>
  <p:tag name="KSO_WM_SLIDE_LAYOUT" val="a_l"/>
  <p:tag name="KSO_WM_SLIDE_LAYOUT_CNT" val="1_1"/>
</p:tagLst>
</file>

<file path=ppt/tags/tag23.xml><?xml version="1.0" encoding="utf-8"?>
<p:tagLst xmlns:p="http://schemas.openxmlformats.org/presentationml/2006/main">
  <p:tag name="KSO_WM_BEAUTIFY_FLAG" val="#wm#"/>
  <p:tag name="KSO_WM_TEMPLATE_CATEGORY" val="custom"/>
  <p:tag name="KSO_WM_TEMPLATE_INDEX" val="20233311"/>
  <p:tag name="KSO_WM_SLIDE_TYPE" val="text"/>
  <p:tag name="KSO_WM_SLIDE_ID" val="custom20233311_8"/>
  <p:tag name="KSO_WM_TEMPLATE_SUBCATEGORY" val="29"/>
  <p:tag name="KSO_WM_TEMPLATE_MASTER_TYPE" val="0"/>
  <p:tag name="KSO_WM_TEMPLATE_COLOR_TYPE" val="0"/>
  <p:tag name="KSO_WM_SLIDE_ITEM_CNT" val="0"/>
  <p:tag name="KSO_WM_SLIDE_INDEX" val="8"/>
  <p:tag name="KSO_WM_TAG_VERSION" val="3.0"/>
  <p:tag name="KSO_WM_SLIDE_SUBTYPE" val="pureTxt"/>
  <p:tag name="KSO_WM_SLIDE_SIZE" val="850*457"/>
  <p:tag name="KSO_WM_SLIDE_POSITION" val="54*28"/>
  <p:tag name="KSO_WM_SLIDE_LAYOUT" val="a_f"/>
  <p:tag name="KSO_WM_SLIDE_LAYOUT_CNT" val="1_1"/>
</p:tagLst>
</file>

<file path=ppt/tags/tag24.xml><?xml version="1.0" encoding="utf-8"?>
<p:tagLst xmlns:p="http://schemas.openxmlformats.org/presentationml/2006/main">
  <p:tag name="KSO_WM_BEAUTIFY_FLAG" val="#wm#"/>
  <p:tag name="KSO_WM_TEMPLATE_CATEGORY" val="custom"/>
  <p:tag name="KSO_WM_TEMPLATE_INDEX" val="20233311"/>
</p:tagLst>
</file>

<file path=ppt/tags/tag25.xml><?xml version="1.0" encoding="utf-8"?>
<p:tagLst xmlns:p="http://schemas.openxmlformats.org/presentationml/2006/main">
  <p:tag name="COMMONDATA" val="eyJoZGlkIjoiN2E0Njg1OTk4YmNmMWMxNTJhZjVjZDBmODUzN2VmOWU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2647</Words>
  <Application>WPS 演示</Application>
  <PresentationFormat>On-screen Show (4:3)</PresentationFormat>
  <Paragraphs>191</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宋体</vt:lpstr>
      <vt:lpstr>Wingdings</vt:lpstr>
      <vt:lpstr>Arial</vt:lpstr>
      <vt:lpstr>微软雅黑</vt:lpstr>
      <vt:lpstr>黑体</vt:lpstr>
      <vt:lpstr>Calibri</vt:lpstr>
      <vt:lpstr>Arial Unicode MS</vt:lpstr>
      <vt:lpstr>Times New Roman</vt:lpstr>
      <vt:lpstr>Office Theme</vt:lpstr>
      <vt:lpstr>基于粒球扩散机制的图对比学习研究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Fü</cp:lastModifiedBy>
  <cp:revision>19</cp:revision>
  <dcterms:created xsi:type="dcterms:W3CDTF">2013-01-27T09:14:00Z</dcterms:created>
  <dcterms:modified xsi:type="dcterms:W3CDTF">2026-01-09T01:36:39Z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747C7BA0336B45318F57CC6EE79903A7_13</vt:lpwstr>
  </property>
  <property fmtid="{D5CDD505-2E9C-101B-9397-08002B2CF9AE}" pid="3" name="KSOProductBuildVer">
    <vt:lpwstr>2052-12.1.0.19302</vt:lpwstr>
  </property>
</Properties>
</file>